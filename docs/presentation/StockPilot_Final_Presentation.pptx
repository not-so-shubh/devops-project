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final project is StockPilot, an original inventory operations platform for small businesses. The aim is to show not only a working application, but a complete DevOps lifecycle: development, tests, containerization, secure CI, Kubernetes deployment, AWS infrastructure, monitoring, and cleanup. This slide deck uses verified project results; the real EKS environment was later cleaned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intentionally not a clone of the reference TaskBoard project. StockPilot solves inventory operations problems. Unique SKUs identify products, while products can be created, edited, searched, filtered, and removed. Stock adjustment is guarded in the database to prevent negative balances. Historical ledger snapshots survive product deletion. Dashboard numbers come from the database, not hardcoded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editable view is an illustrative overview, not a copied screenshot or actual screenshot data. Open the linked verified real EKS desktop and mobile screenshots during the presentation. Create a product, give it a unique SKU, edit it, adjust the balance, and show the history. The real app is responsive and has actual browser test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real local demo if available: create a product with opening stock six. Edit the name or price, then remove four units with a reason and observe the balance of two and the history record. Then attempt to remove 99 units; the API returns HTTP 409 and the ledger does not create a false event. PostgreSQL conditionally updates the balance within a transaction. This is a strong demonstration of correctness, not just UI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layers to isolate concerns: Nginx serves the React interface on port 8080, Traefik routes root traffic to frontend and /api to FastAPI on port 8000, PostgreSQL stores products and stock movement history, and Prometheus scrapes HTTP metrics for Grafana. On the verified EKS deployment there were two ready frontend and backend replicas, with a PostgreSQL PVC. The diagram summarizes the observed system architecture. The database is a single-replica capstone choice, not a production HA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provides validated REST APIs and automatic Swagger documentation. Alembic owns the schema rather than silently creating tables at startup. The database stores products and a separate stock movement ledger. A nullable reference and snapshots retain movement history even when a product is removed. Atomic SQL conditions and transaction boundaries ensure overselling attempts fail with 409 and do not write phantom movements.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latest successful run contains 44 passing backend tests against PostgreSQL and 97.67% Python coverage. The browser acceptance suite includes four scenarios, including mobile/desktop interactions. Docker Compose brings up frontend, backend, database and a one-time migration. Both runtime images use non-root users, frontend 101 and backend 10001. Security and builds are checked before image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source commit triggers quality checks, PostgreSQL tests, frontend checks, Docker Compose acceptance, immutable builds, Trivy security scans, and GHCR publication of images tagged with the exact commit SHA. A disposable kind cluster runs Helm, ingress, monitoring and Flux validation. Importantly, the optional GitHub Actions deployment job to AWS was skipped due to organization OIDC policy; the actual AWS EKS installation was manual Helm deployment. I should never claim the AWS CI job succeeded. The latest main CI run 39696800574 completed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examines OS and application dependencies for known vulnerabilities. On 21 October an actual build found HIGH CVE-2026-88806 in libx11 1.8.13-r0. The build-security frontend job failed and image publication was blocked. I required the fixed package version 1.8.14-r0 in the supported Alpine release; the 22 October run then passed the unchanged HIGH and CRITICAL gate and both images were published. A clean scan does not mean the app is immune from future vulnerabilities or logic flaws. Also mention the previous libexpat remediation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created an AWS VPC in Sydney with public and private subnets in two availability zones, Internet and NAT routing, EKS 1.35, IAM roles, node group and add-ons. The real authenticated plan initially showed 33 additions. Actual AWS captures verified two Ready managed workers, on m7i-flex.large instances rather than the originally proposed t3.large. The EKS system was deployed and later destroyed; do not present a historical environment as still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AWS EKS runtime was verified: two managed worker nodes Ready; Helm release deployed; two Ready frontend and two Ready backend replicas; PostgreSQL had a bound 5-gibibyte gp3 claim; HPA used metrics-server with minimum two and maximum six replicas; the Ingress CRUD smoke and four browser scenarios passed. Use the linked evidence to show source-pinned historical images. All this preceded approved AWS cleanup on 22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scraped two of two EKS application targets successfully. The refreshed real capture reported about 2.13 requests per second. Grafana had four populated panels for request rate, p95 latency, error ratio and targets. A later correction fixed the error ratio display to 0–100 percent. HPA does not read the Prometheus application dashboard: it uses metrics-server to assess CPU utilization. Original EKS monitoring screenshots remain private; the linked public audit documents their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full infrastructure lifecycle, not just configuration files. AWS deployment and working EKS were recorded on 18 October. Before teardown a PostgreSQL custom-format dump was downloaded and checksum-verified. On 22 October separately approved cleanup removed 33 Terraform-managed resources, the load balancer, three EBS disks and project networking. Terraform state was empty and residual checks passed. The exact command was terraform apply of a saved destroy plan, which implements the reviewed deletion plan; do not inaccurately claim that terraform destroy was typed. Actual account charges and credits have not been checked, and the project environment is no longer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grading checklist audited 43 of 46 criteria as verified: 94 technical rubric points. Four points require my personal security explanation and a live or accepted recorded demo, and two points belong to the separate form submission. These numbers are coverage of criteria, not marks awarded by the instructor. The CI result, real AWS lifecycle, monitoring and tests are the core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personal presentation plan. Start with a real product workflow and show overselling prevention. Introduce the tests and the local Dockerized stack. Demonstrate a meaningful commit and its actual green pipeline; image tags must match the source SHA. The CI kind deployment and Flux reconciliation can be used to demonstrate automated Kubernetes release updates, but the GitHub Actions EKS job was skipped. The AWS deployment and monitoring slides show historical evidence captured before the environment was deleted. Speak about the real Trivy vulnerability and fix. I must present personally or produce a recording the instructor accepts.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technical evidence, follow the repository, source-specific Actions run, EKS capture review, cleanup verification and rubric checklist. I can explain why Postgres transactions prevent overselling, what the Trivy gate detects, how SHA-tagged images keep release provenance, why Prometheus is distinct from metrics-server for HPA, and what prevented automatic AWS OIDC deployment. End with accurate caveats rather than exaggerated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not-so-shubh/devops-project/blob/main/docs/evidence/eks-frontend-desktop.png"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not-so-shubh/devops-project/blob/main/docs/evidence/eks-frontend-desktop.png" TargetMode="External"/><Relationship Id="rId2" Type="http://schemas.openxmlformats.org/officeDocument/2006/relationships/hyperlink" Target="https://github.com/not-so-shubh/devops-project/blob/main/docs/evidence/eks-frontend-mobile.png"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not-so-shubh/devops-project/actions/runs/39696800574"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not-so-shubh/devops-project/actions/runs/39696800574"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not-so-shubh/devops-project/blob/main/docs/TRIVY-EXPLANATION.md"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not-so-shubh/devops-project/blob/main/docs/AWS-EKS-CAPTURE-REVIEW.md"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not-so-shubh/devops-project/blob/main/docs/AWS-EKS-CAPTURE-REVIEW.md"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not-so-shubh/devops-project/blob/main/docs/AWS-CLEANUP-VERIFICATION.md"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not-so-shubh/devops-project/blob/main/docs/RUBRIC-CHECKLIST.md"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not-so-shubh/devops-project/blob/main/docs/FINAL-DEMO-SCRIPT.md"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not-so-shubh/devops-project" TargetMode="External"/><Relationship Id="rId2" Type="http://schemas.openxmlformats.org/officeDocument/2006/relationships/hyperlink" Target="https://github.com/not-so-shubh/devops-project/blob/main/docs/EVIDENCE.md"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D71928"/>
          </a:solidFill>
          <a:ln w="12700">
            <a:solidFill>
              <a:srgbClr val="D71928">
                <a:alpha val="0"/>
              </a:srgbClr>
            </a:solidFill>
            <a:prstDash val="solid"/>
          </a:ln>
        </p:spPr>
      </p:sp>
      <p:sp>
        <p:nvSpPr>
          <p:cNvPr id="3" name="Shape 1"/>
          <p:cNvSpPr/>
          <p:nvPr/>
        </p:nvSpPr>
        <p:spPr>
          <a:xfrm>
            <a:off x="8366760" y="0"/>
            <a:ext cx="3822192" cy="6858000"/>
          </a:xfrm>
          <a:prstGeom prst="rect">
            <a:avLst/>
          </a:prstGeom>
          <a:solidFill>
            <a:srgbClr val="E8E8E4"/>
          </a:solidFill>
          <a:ln w="12700">
            <a:solidFill>
              <a:srgbClr val="E8E8E4">
                <a:alpha val="0"/>
              </a:srgbClr>
            </a:solidFill>
            <a:prstDash val="solid"/>
          </a:ln>
        </p:spPr>
      </p:sp>
      <p:sp>
        <p:nvSpPr>
          <p:cNvPr id="4" name="Shape 2"/>
          <p:cNvSpPr/>
          <p:nvPr/>
        </p:nvSpPr>
        <p:spPr>
          <a:xfrm>
            <a:off x="9125712" y="384048"/>
            <a:ext cx="2816352" cy="6044184"/>
          </a:xfrm>
          <a:prstGeom prst="roundRect">
            <a:avLst>
              <a:gd name="adj" fmla="val 1948"/>
            </a:avLst>
          </a:prstGeom>
          <a:solidFill>
            <a:srgbClr val="F7F7F3"/>
          </a:solidFill>
          <a:ln w="10160">
            <a:solidFill>
              <a:srgbClr val="D6D6D3"/>
            </a:solidFill>
            <a:prstDash val="solid"/>
          </a:ln>
        </p:spPr>
      </p:sp>
      <p:sp>
        <p:nvSpPr>
          <p:cNvPr id="5" name="Shape 3"/>
          <p:cNvSpPr/>
          <p:nvPr/>
        </p:nvSpPr>
        <p:spPr>
          <a:xfrm>
            <a:off x="8540496" y="576072"/>
            <a:ext cx="44806" cy="44806"/>
          </a:xfrm>
          <a:prstGeom prst="ellipse">
            <a:avLst/>
          </a:prstGeom>
          <a:solidFill>
            <a:srgbClr val="C2C2BD"/>
          </a:solidFill>
          <a:ln w="12700">
            <a:solidFill>
              <a:srgbClr val="C2C2BD">
                <a:alpha val="0"/>
              </a:srgbClr>
            </a:solidFill>
            <a:prstDash val="solid"/>
          </a:ln>
        </p:spPr>
      </p:sp>
      <p:sp>
        <p:nvSpPr>
          <p:cNvPr id="6" name="Shape 4"/>
          <p:cNvSpPr/>
          <p:nvPr/>
        </p:nvSpPr>
        <p:spPr>
          <a:xfrm>
            <a:off x="8668512" y="576072"/>
            <a:ext cx="44806" cy="44806"/>
          </a:xfrm>
          <a:prstGeom prst="ellipse">
            <a:avLst/>
          </a:prstGeom>
          <a:solidFill>
            <a:srgbClr val="C2C2BD"/>
          </a:solidFill>
          <a:ln w="12700">
            <a:solidFill>
              <a:srgbClr val="C2C2BD">
                <a:alpha val="0"/>
              </a:srgbClr>
            </a:solidFill>
            <a:prstDash val="solid"/>
          </a:ln>
        </p:spPr>
      </p:sp>
      <p:sp>
        <p:nvSpPr>
          <p:cNvPr id="7" name="Shape 5"/>
          <p:cNvSpPr/>
          <p:nvPr/>
        </p:nvSpPr>
        <p:spPr>
          <a:xfrm>
            <a:off x="8796528" y="576072"/>
            <a:ext cx="44806" cy="44806"/>
          </a:xfrm>
          <a:prstGeom prst="ellipse">
            <a:avLst/>
          </a:prstGeom>
          <a:solidFill>
            <a:srgbClr val="C2C2BD"/>
          </a:solidFill>
          <a:ln w="12700">
            <a:solidFill>
              <a:srgbClr val="C2C2BD">
                <a:alpha val="0"/>
              </a:srgbClr>
            </a:solidFill>
            <a:prstDash val="solid"/>
          </a:ln>
        </p:spPr>
      </p:sp>
      <p:sp>
        <p:nvSpPr>
          <p:cNvPr id="8" name="Shape 6"/>
          <p:cNvSpPr/>
          <p:nvPr/>
        </p:nvSpPr>
        <p:spPr>
          <a:xfrm>
            <a:off x="8924544" y="576072"/>
            <a:ext cx="44806" cy="44806"/>
          </a:xfrm>
          <a:prstGeom prst="ellipse">
            <a:avLst/>
          </a:prstGeom>
          <a:solidFill>
            <a:srgbClr val="C2C2BD"/>
          </a:solidFill>
          <a:ln w="12700">
            <a:solidFill>
              <a:srgbClr val="C2C2BD">
                <a:alpha val="0"/>
              </a:srgbClr>
            </a:solidFill>
            <a:prstDash val="solid"/>
          </a:ln>
        </p:spPr>
      </p:sp>
      <p:sp>
        <p:nvSpPr>
          <p:cNvPr id="9" name="Shape 7"/>
          <p:cNvSpPr/>
          <p:nvPr/>
        </p:nvSpPr>
        <p:spPr>
          <a:xfrm>
            <a:off x="9052560" y="576072"/>
            <a:ext cx="44806" cy="44806"/>
          </a:xfrm>
          <a:prstGeom prst="ellipse">
            <a:avLst/>
          </a:prstGeom>
          <a:solidFill>
            <a:srgbClr val="C2C2BD"/>
          </a:solidFill>
          <a:ln w="12700">
            <a:solidFill>
              <a:srgbClr val="C2C2BD">
                <a:alpha val="0"/>
              </a:srgbClr>
            </a:solidFill>
            <a:prstDash val="solid"/>
          </a:ln>
        </p:spPr>
      </p:sp>
      <p:sp>
        <p:nvSpPr>
          <p:cNvPr id="10" name="Shape 8"/>
          <p:cNvSpPr/>
          <p:nvPr/>
        </p:nvSpPr>
        <p:spPr>
          <a:xfrm>
            <a:off x="9308592" y="576072"/>
            <a:ext cx="44806" cy="44806"/>
          </a:xfrm>
          <a:prstGeom prst="ellipse">
            <a:avLst/>
          </a:prstGeom>
          <a:solidFill>
            <a:srgbClr val="C2C2BD"/>
          </a:solidFill>
          <a:ln w="12700">
            <a:solidFill>
              <a:srgbClr val="C2C2BD">
                <a:alpha val="0"/>
              </a:srgbClr>
            </a:solidFill>
            <a:prstDash val="solid"/>
          </a:ln>
        </p:spPr>
      </p:sp>
      <p:sp>
        <p:nvSpPr>
          <p:cNvPr id="11" name="Shape 9"/>
          <p:cNvSpPr/>
          <p:nvPr/>
        </p:nvSpPr>
        <p:spPr>
          <a:xfrm>
            <a:off x="9436608" y="576072"/>
            <a:ext cx="44806" cy="44806"/>
          </a:xfrm>
          <a:prstGeom prst="ellipse">
            <a:avLst/>
          </a:prstGeom>
          <a:solidFill>
            <a:srgbClr val="C2C2BD"/>
          </a:solidFill>
          <a:ln w="12700">
            <a:solidFill>
              <a:srgbClr val="C2C2BD">
                <a:alpha val="0"/>
              </a:srgbClr>
            </a:solidFill>
            <a:prstDash val="solid"/>
          </a:ln>
        </p:spPr>
      </p:sp>
      <p:sp>
        <p:nvSpPr>
          <p:cNvPr id="12" name="Shape 10"/>
          <p:cNvSpPr/>
          <p:nvPr/>
        </p:nvSpPr>
        <p:spPr>
          <a:xfrm>
            <a:off x="9564624" y="576072"/>
            <a:ext cx="44806" cy="44806"/>
          </a:xfrm>
          <a:prstGeom prst="ellipse">
            <a:avLst/>
          </a:prstGeom>
          <a:solidFill>
            <a:srgbClr val="C2C2BD"/>
          </a:solidFill>
          <a:ln w="12700">
            <a:solidFill>
              <a:srgbClr val="C2C2BD">
                <a:alpha val="0"/>
              </a:srgbClr>
            </a:solidFill>
            <a:prstDash val="solid"/>
          </a:ln>
        </p:spPr>
      </p:sp>
      <p:sp>
        <p:nvSpPr>
          <p:cNvPr id="13" name="Shape 11"/>
          <p:cNvSpPr/>
          <p:nvPr/>
        </p:nvSpPr>
        <p:spPr>
          <a:xfrm>
            <a:off x="8540496" y="704088"/>
            <a:ext cx="44806" cy="44806"/>
          </a:xfrm>
          <a:prstGeom prst="ellipse">
            <a:avLst/>
          </a:prstGeom>
          <a:solidFill>
            <a:srgbClr val="C2C2BD"/>
          </a:solidFill>
          <a:ln w="12700">
            <a:solidFill>
              <a:srgbClr val="C2C2BD">
                <a:alpha val="0"/>
              </a:srgbClr>
            </a:solidFill>
            <a:prstDash val="solid"/>
          </a:ln>
        </p:spPr>
      </p:sp>
      <p:sp>
        <p:nvSpPr>
          <p:cNvPr id="14" name="Shape 12"/>
          <p:cNvSpPr/>
          <p:nvPr/>
        </p:nvSpPr>
        <p:spPr>
          <a:xfrm>
            <a:off x="8796528" y="704088"/>
            <a:ext cx="44806" cy="44806"/>
          </a:xfrm>
          <a:prstGeom prst="ellipse">
            <a:avLst/>
          </a:prstGeom>
          <a:solidFill>
            <a:srgbClr val="C2C2BD"/>
          </a:solidFill>
          <a:ln w="12700">
            <a:solidFill>
              <a:srgbClr val="C2C2BD">
                <a:alpha val="0"/>
              </a:srgbClr>
            </a:solidFill>
            <a:prstDash val="solid"/>
          </a:ln>
        </p:spPr>
      </p:sp>
      <p:sp>
        <p:nvSpPr>
          <p:cNvPr id="15" name="Shape 13"/>
          <p:cNvSpPr/>
          <p:nvPr/>
        </p:nvSpPr>
        <p:spPr>
          <a:xfrm>
            <a:off x="8924544" y="704088"/>
            <a:ext cx="44806" cy="44806"/>
          </a:xfrm>
          <a:prstGeom prst="ellipse">
            <a:avLst/>
          </a:prstGeom>
          <a:solidFill>
            <a:srgbClr val="C2C2BD"/>
          </a:solidFill>
          <a:ln w="12700">
            <a:solidFill>
              <a:srgbClr val="C2C2BD">
                <a:alpha val="0"/>
              </a:srgbClr>
            </a:solidFill>
            <a:prstDash val="solid"/>
          </a:ln>
        </p:spPr>
      </p:sp>
      <p:sp>
        <p:nvSpPr>
          <p:cNvPr id="16" name="Shape 14"/>
          <p:cNvSpPr/>
          <p:nvPr/>
        </p:nvSpPr>
        <p:spPr>
          <a:xfrm>
            <a:off x="9052560" y="704088"/>
            <a:ext cx="44806" cy="44806"/>
          </a:xfrm>
          <a:prstGeom prst="ellipse">
            <a:avLst/>
          </a:prstGeom>
          <a:solidFill>
            <a:srgbClr val="C2C2BD"/>
          </a:solidFill>
          <a:ln w="12700">
            <a:solidFill>
              <a:srgbClr val="C2C2BD">
                <a:alpha val="0"/>
              </a:srgbClr>
            </a:solidFill>
            <a:prstDash val="solid"/>
          </a:ln>
        </p:spPr>
      </p:sp>
      <p:sp>
        <p:nvSpPr>
          <p:cNvPr id="17" name="Shape 15"/>
          <p:cNvSpPr/>
          <p:nvPr/>
        </p:nvSpPr>
        <p:spPr>
          <a:xfrm>
            <a:off x="9180576" y="704088"/>
            <a:ext cx="44806" cy="44806"/>
          </a:xfrm>
          <a:prstGeom prst="ellipse">
            <a:avLst/>
          </a:prstGeom>
          <a:solidFill>
            <a:srgbClr val="C2C2BD"/>
          </a:solidFill>
          <a:ln w="12700">
            <a:solidFill>
              <a:srgbClr val="C2C2BD">
                <a:alpha val="0"/>
              </a:srgbClr>
            </a:solidFill>
            <a:prstDash val="solid"/>
          </a:ln>
        </p:spPr>
      </p:sp>
      <p:sp>
        <p:nvSpPr>
          <p:cNvPr id="18" name="Shape 16"/>
          <p:cNvSpPr/>
          <p:nvPr/>
        </p:nvSpPr>
        <p:spPr>
          <a:xfrm>
            <a:off x="9308592" y="704088"/>
            <a:ext cx="44806" cy="44806"/>
          </a:xfrm>
          <a:prstGeom prst="ellipse">
            <a:avLst/>
          </a:prstGeom>
          <a:solidFill>
            <a:srgbClr val="C2C2BD"/>
          </a:solidFill>
          <a:ln w="12700">
            <a:solidFill>
              <a:srgbClr val="C2C2BD">
                <a:alpha val="0"/>
              </a:srgbClr>
            </a:solidFill>
            <a:prstDash val="solid"/>
          </a:ln>
        </p:spPr>
      </p:sp>
      <p:sp>
        <p:nvSpPr>
          <p:cNvPr id="19" name="Shape 17"/>
          <p:cNvSpPr/>
          <p:nvPr/>
        </p:nvSpPr>
        <p:spPr>
          <a:xfrm>
            <a:off x="9436608" y="704088"/>
            <a:ext cx="44806" cy="44806"/>
          </a:xfrm>
          <a:prstGeom prst="ellipse">
            <a:avLst/>
          </a:prstGeom>
          <a:solidFill>
            <a:srgbClr val="C2C2BD"/>
          </a:solidFill>
          <a:ln w="12700">
            <a:solidFill>
              <a:srgbClr val="C2C2BD">
                <a:alpha val="0"/>
              </a:srgbClr>
            </a:solidFill>
            <a:prstDash val="solid"/>
          </a:ln>
        </p:spPr>
      </p:sp>
      <p:sp>
        <p:nvSpPr>
          <p:cNvPr id="20" name="Shape 18"/>
          <p:cNvSpPr/>
          <p:nvPr/>
        </p:nvSpPr>
        <p:spPr>
          <a:xfrm>
            <a:off x="8540496" y="832104"/>
            <a:ext cx="44806" cy="44806"/>
          </a:xfrm>
          <a:prstGeom prst="ellipse">
            <a:avLst/>
          </a:prstGeom>
          <a:solidFill>
            <a:srgbClr val="C2C2BD"/>
          </a:solidFill>
          <a:ln w="12700">
            <a:solidFill>
              <a:srgbClr val="C2C2BD">
                <a:alpha val="0"/>
              </a:srgbClr>
            </a:solidFill>
            <a:prstDash val="solid"/>
          </a:ln>
        </p:spPr>
      </p:sp>
      <p:sp>
        <p:nvSpPr>
          <p:cNvPr id="21" name="Shape 19"/>
          <p:cNvSpPr/>
          <p:nvPr/>
        </p:nvSpPr>
        <p:spPr>
          <a:xfrm>
            <a:off x="8668512" y="832104"/>
            <a:ext cx="44806" cy="44806"/>
          </a:xfrm>
          <a:prstGeom prst="ellipse">
            <a:avLst/>
          </a:prstGeom>
          <a:solidFill>
            <a:srgbClr val="C2C2BD"/>
          </a:solidFill>
          <a:ln w="12700">
            <a:solidFill>
              <a:srgbClr val="C2C2BD">
                <a:alpha val="0"/>
              </a:srgbClr>
            </a:solidFill>
            <a:prstDash val="solid"/>
          </a:ln>
        </p:spPr>
      </p:sp>
      <p:sp>
        <p:nvSpPr>
          <p:cNvPr id="22" name="Shape 20"/>
          <p:cNvSpPr/>
          <p:nvPr/>
        </p:nvSpPr>
        <p:spPr>
          <a:xfrm>
            <a:off x="8796528" y="832104"/>
            <a:ext cx="44806" cy="44806"/>
          </a:xfrm>
          <a:prstGeom prst="ellipse">
            <a:avLst/>
          </a:prstGeom>
          <a:solidFill>
            <a:srgbClr val="C2C2BD"/>
          </a:solidFill>
          <a:ln w="12700">
            <a:solidFill>
              <a:srgbClr val="C2C2BD">
                <a:alpha val="0"/>
              </a:srgbClr>
            </a:solidFill>
            <a:prstDash val="solid"/>
          </a:ln>
        </p:spPr>
      </p:sp>
      <p:sp>
        <p:nvSpPr>
          <p:cNvPr id="23" name="Shape 21"/>
          <p:cNvSpPr/>
          <p:nvPr/>
        </p:nvSpPr>
        <p:spPr>
          <a:xfrm>
            <a:off x="8924544" y="832104"/>
            <a:ext cx="44806" cy="44806"/>
          </a:xfrm>
          <a:prstGeom prst="ellipse">
            <a:avLst/>
          </a:prstGeom>
          <a:solidFill>
            <a:srgbClr val="C2C2BD"/>
          </a:solidFill>
          <a:ln w="12700">
            <a:solidFill>
              <a:srgbClr val="C2C2BD">
                <a:alpha val="0"/>
              </a:srgbClr>
            </a:solidFill>
            <a:prstDash val="solid"/>
          </a:ln>
        </p:spPr>
      </p:sp>
      <p:sp>
        <p:nvSpPr>
          <p:cNvPr id="24" name="Shape 22"/>
          <p:cNvSpPr/>
          <p:nvPr/>
        </p:nvSpPr>
        <p:spPr>
          <a:xfrm>
            <a:off x="9180576" y="832104"/>
            <a:ext cx="44806" cy="44806"/>
          </a:xfrm>
          <a:prstGeom prst="ellipse">
            <a:avLst/>
          </a:prstGeom>
          <a:solidFill>
            <a:srgbClr val="C2C2BD"/>
          </a:solidFill>
          <a:ln w="12700">
            <a:solidFill>
              <a:srgbClr val="C2C2BD">
                <a:alpha val="0"/>
              </a:srgbClr>
            </a:solidFill>
            <a:prstDash val="solid"/>
          </a:ln>
        </p:spPr>
      </p:sp>
      <p:sp>
        <p:nvSpPr>
          <p:cNvPr id="25" name="Shape 23"/>
          <p:cNvSpPr/>
          <p:nvPr/>
        </p:nvSpPr>
        <p:spPr>
          <a:xfrm>
            <a:off x="9308592" y="832104"/>
            <a:ext cx="44806" cy="44806"/>
          </a:xfrm>
          <a:prstGeom prst="ellipse">
            <a:avLst/>
          </a:prstGeom>
          <a:solidFill>
            <a:srgbClr val="C2C2BD"/>
          </a:solidFill>
          <a:ln w="12700">
            <a:solidFill>
              <a:srgbClr val="C2C2BD">
                <a:alpha val="0"/>
              </a:srgbClr>
            </a:solidFill>
            <a:prstDash val="solid"/>
          </a:ln>
        </p:spPr>
      </p:sp>
      <p:sp>
        <p:nvSpPr>
          <p:cNvPr id="26" name="Shape 24"/>
          <p:cNvSpPr/>
          <p:nvPr/>
        </p:nvSpPr>
        <p:spPr>
          <a:xfrm>
            <a:off x="9436608" y="832104"/>
            <a:ext cx="44806" cy="44806"/>
          </a:xfrm>
          <a:prstGeom prst="ellipse">
            <a:avLst/>
          </a:prstGeom>
          <a:solidFill>
            <a:srgbClr val="C2C2BD"/>
          </a:solidFill>
          <a:ln w="12700">
            <a:solidFill>
              <a:srgbClr val="C2C2BD">
                <a:alpha val="0"/>
              </a:srgbClr>
            </a:solidFill>
            <a:prstDash val="solid"/>
          </a:ln>
        </p:spPr>
      </p:sp>
      <p:sp>
        <p:nvSpPr>
          <p:cNvPr id="27" name="Shape 25"/>
          <p:cNvSpPr/>
          <p:nvPr/>
        </p:nvSpPr>
        <p:spPr>
          <a:xfrm>
            <a:off x="9564624" y="832104"/>
            <a:ext cx="44806" cy="44806"/>
          </a:xfrm>
          <a:prstGeom prst="ellipse">
            <a:avLst/>
          </a:prstGeom>
          <a:solidFill>
            <a:srgbClr val="C2C2BD"/>
          </a:solidFill>
          <a:ln w="12700">
            <a:solidFill>
              <a:srgbClr val="C2C2BD">
                <a:alpha val="0"/>
              </a:srgbClr>
            </a:solidFill>
            <a:prstDash val="solid"/>
          </a:ln>
        </p:spPr>
      </p:sp>
      <p:sp>
        <p:nvSpPr>
          <p:cNvPr id="28" name="Shape 26"/>
          <p:cNvSpPr/>
          <p:nvPr/>
        </p:nvSpPr>
        <p:spPr>
          <a:xfrm>
            <a:off x="8668512" y="960120"/>
            <a:ext cx="44806" cy="44806"/>
          </a:xfrm>
          <a:prstGeom prst="ellipse">
            <a:avLst/>
          </a:prstGeom>
          <a:solidFill>
            <a:srgbClr val="C2C2BD"/>
          </a:solidFill>
          <a:ln w="12700">
            <a:solidFill>
              <a:srgbClr val="C2C2BD">
                <a:alpha val="0"/>
              </a:srgbClr>
            </a:solidFill>
            <a:prstDash val="solid"/>
          </a:ln>
        </p:spPr>
      </p:sp>
      <p:sp>
        <p:nvSpPr>
          <p:cNvPr id="29" name="Shape 27"/>
          <p:cNvSpPr/>
          <p:nvPr/>
        </p:nvSpPr>
        <p:spPr>
          <a:xfrm>
            <a:off x="8796528" y="960120"/>
            <a:ext cx="44806" cy="44806"/>
          </a:xfrm>
          <a:prstGeom prst="ellipse">
            <a:avLst/>
          </a:prstGeom>
          <a:solidFill>
            <a:srgbClr val="C2C2BD"/>
          </a:solidFill>
          <a:ln w="12700">
            <a:solidFill>
              <a:srgbClr val="C2C2BD">
                <a:alpha val="0"/>
              </a:srgbClr>
            </a:solidFill>
            <a:prstDash val="solid"/>
          </a:ln>
        </p:spPr>
      </p:sp>
      <p:sp>
        <p:nvSpPr>
          <p:cNvPr id="30" name="Shape 28"/>
          <p:cNvSpPr/>
          <p:nvPr/>
        </p:nvSpPr>
        <p:spPr>
          <a:xfrm>
            <a:off x="8924544" y="960120"/>
            <a:ext cx="44806" cy="44806"/>
          </a:xfrm>
          <a:prstGeom prst="ellipse">
            <a:avLst/>
          </a:prstGeom>
          <a:solidFill>
            <a:srgbClr val="C2C2BD"/>
          </a:solidFill>
          <a:ln w="12700">
            <a:solidFill>
              <a:srgbClr val="C2C2BD">
                <a:alpha val="0"/>
              </a:srgbClr>
            </a:solidFill>
            <a:prstDash val="solid"/>
          </a:ln>
        </p:spPr>
      </p:sp>
      <p:sp>
        <p:nvSpPr>
          <p:cNvPr id="31" name="Shape 29"/>
          <p:cNvSpPr/>
          <p:nvPr/>
        </p:nvSpPr>
        <p:spPr>
          <a:xfrm>
            <a:off x="9052560" y="960120"/>
            <a:ext cx="44806" cy="44806"/>
          </a:xfrm>
          <a:prstGeom prst="ellipse">
            <a:avLst/>
          </a:prstGeom>
          <a:solidFill>
            <a:srgbClr val="C2C2BD"/>
          </a:solidFill>
          <a:ln w="12700">
            <a:solidFill>
              <a:srgbClr val="C2C2BD">
                <a:alpha val="0"/>
              </a:srgbClr>
            </a:solidFill>
            <a:prstDash val="solid"/>
          </a:ln>
        </p:spPr>
      </p:sp>
      <p:sp>
        <p:nvSpPr>
          <p:cNvPr id="32" name="Shape 30"/>
          <p:cNvSpPr/>
          <p:nvPr/>
        </p:nvSpPr>
        <p:spPr>
          <a:xfrm>
            <a:off x="9180576" y="960120"/>
            <a:ext cx="44806" cy="44806"/>
          </a:xfrm>
          <a:prstGeom prst="ellipse">
            <a:avLst/>
          </a:prstGeom>
          <a:solidFill>
            <a:srgbClr val="C2C2BD"/>
          </a:solidFill>
          <a:ln w="12700">
            <a:solidFill>
              <a:srgbClr val="C2C2BD">
                <a:alpha val="0"/>
              </a:srgbClr>
            </a:solidFill>
            <a:prstDash val="solid"/>
          </a:ln>
        </p:spPr>
      </p:sp>
      <p:sp>
        <p:nvSpPr>
          <p:cNvPr id="33" name="Shape 31"/>
          <p:cNvSpPr/>
          <p:nvPr/>
        </p:nvSpPr>
        <p:spPr>
          <a:xfrm>
            <a:off x="9308592" y="960120"/>
            <a:ext cx="44806" cy="44806"/>
          </a:xfrm>
          <a:prstGeom prst="ellipse">
            <a:avLst/>
          </a:prstGeom>
          <a:solidFill>
            <a:srgbClr val="C2C2BD"/>
          </a:solidFill>
          <a:ln w="12700">
            <a:solidFill>
              <a:srgbClr val="C2C2BD">
                <a:alpha val="0"/>
              </a:srgbClr>
            </a:solidFill>
            <a:prstDash val="solid"/>
          </a:ln>
        </p:spPr>
      </p:sp>
      <p:sp>
        <p:nvSpPr>
          <p:cNvPr id="34" name="Shape 32"/>
          <p:cNvSpPr/>
          <p:nvPr/>
        </p:nvSpPr>
        <p:spPr>
          <a:xfrm>
            <a:off x="9564624" y="960120"/>
            <a:ext cx="44806" cy="44806"/>
          </a:xfrm>
          <a:prstGeom prst="ellipse">
            <a:avLst/>
          </a:prstGeom>
          <a:solidFill>
            <a:srgbClr val="C2C2BD"/>
          </a:solidFill>
          <a:ln w="12700">
            <a:solidFill>
              <a:srgbClr val="C2C2BD">
                <a:alpha val="0"/>
              </a:srgbClr>
            </a:solidFill>
            <a:prstDash val="solid"/>
          </a:ln>
        </p:spPr>
      </p:sp>
      <p:sp>
        <p:nvSpPr>
          <p:cNvPr id="35" name="Shape 33"/>
          <p:cNvSpPr/>
          <p:nvPr/>
        </p:nvSpPr>
        <p:spPr>
          <a:xfrm>
            <a:off x="8540496" y="1088136"/>
            <a:ext cx="44806" cy="44806"/>
          </a:xfrm>
          <a:prstGeom prst="ellipse">
            <a:avLst/>
          </a:prstGeom>
          <a:solidFill>
            <a:srgbClr val="C2C2BD"/>
          </a:solidFill>
          <a:ln w="12700">
            <a:solidFill>
              <a:srgbClr val="C2C2BD">
                <a:alpha val="0"/>
              </a:srgbClr>
            </a:solidFill>
            <a:prstDash val="solid"/>
          </a:ln>
        </p:spPr>
      </p:sp>
      <p:sp>
        <p:nvSpPr>
          <p:cNvPr id="36" name="Shape 34"/>
          <p:cNvSpPr/>
          <p:nvPr/>
        </p:nvSpPr>
        <p:spPr>
          <a:xfrm>
            <a:off x="8668512" y="1088136"/>
            <a:ext cx="44806" cy="44806"/>
          </a:xfrm>
          <a:prstGeom prst="ellipse">
            <a:avLst/>
          </a:prstGeom>
          <a:solidFill>
            <a:srgbClr val="C2C2BD"/>
          </a:solidFill>
          <a:ln w="12700">
            <a:solidFill>
              <a:srgbClr val="C2C2BD">
                <a:alpha val="0"/>
              </a:srgbClr>
            </a:solidFill>
            <a:prstDash val="solid"/>
          </a:ln>
        </p:spPr>
      </p:sp>
      <p:sp>
        <p:nvSpPr>
          <p:cNvPr id="37" name="Shape 35"/>
          <p:cNvSpPr/>
          <p:nvPr/>
        </p:nvSpPr>
        <p:spPr>
          <a:xfrm>
            <a:off x="8796528" y="1088136"/>
            <a:ext cx="44806" cy="44806"/>
          </a:xfrm>
          <a:prstGeom prst="ellipse">
            <a:avLst/>
          </a:prstGeom>
          <a:solidFill>
            <a:srgbClr val="C2C2BD"/>
          </a:solidFill>
          <a:ln w="12700">
            <a:solidFill>
              <a:srgbClr val="C2C2BD">
                <a:alpha val="0"/>
              </a:srgbClr>
            </a:solidFill>
            <a:prstDash val="solid"/>
          </a:ln>
        </p:spPr>
      </p:sp>
      <p:sp>
        <p:nvSpPr>
          <p:cNvPr id="38" name="Shape 36"/>
          <p:cNvSpPr/>
          <p:nvPr/>
        </p:nvSpPr>
        <p:spPr>
          <a:xfrm>
            <a:off x="9052560" y="1088136"/>
            <a:ext cx="44806" cy="44806"/>
          </a:xfrm>
          <a:prstGeom prst="ellipse">
            <a:avLst/>
          </a:prstGeom>
          <a:solidFill>
            <a:srgbClr val="C2C2BD"/>
          </a:solidFill>
          <a:ln w="12700">
            <a:solidFill>
              <a:srgbClr val="C2C2BD">
                <a:alpha val="0"/>
              </a:srgbClr>
            </a:solidFill>
            <a:prstDash val="solid"/>
          </a:ln>
        </p:spPr>
      </p:sp>
      <p:sp>
        <p:nvSpPr>
          <p:cNvPr id="39" name="Shape 37"/>
          <p:cNvSpPr/>
          <p:nvPr/>
        </p:nvSpPr>
        <p:spPr>
          <a:xfrm>
            <a:off x="9180576" y="1088136"/>
            <a:ext cx="44806" cy="44806"/>
          </a:xfrm>
          <a:prstGeom prst="ellipse">
            <a:avLst/>
          </a:prstGeom>
          <a:solidFill>
            <a:srgbClr val="C2C2BD"/>
          </a:solidFill>
          <a:ln w="12700">
            <a:solidFill>
              <a:srgbClr val="C2C2BD">
                <a:alpha val="0"/>
              </a:srgbClr>
            </a:solidFill>
            <a:prstDash val="solid"/>
          </a:ln>
        </p:spPr>
      </p:sp>
      <p:sp>
        <p:nvSpPr>
          <p:cNvPr id="40" name="Shape 38"/>
          <p:cNvSpPr/>
          <p:nvPr/>
        </p:nvSpPr>
        <p:spPr>
          <a:xfrm>
            <a:off x="9308592" y="1088136"/>
            <a:ext cx="44806" cy="44806"/>
          </a:xfrm>
          <a:prstGeom prst="ellipse">
            <a:avLst/>
          </a:prstGeom>
          <a:solidFill>
            <a:srgbClr val="C2C2BD"/>
          </a:solidFill>
          <a:ln w="12700">
            <a:solidFill>
              <a:srgbClr val="C2C2BD">
                <a:alpha val="0"/>
              </a:srgbClr>
            </a:solidFill>
            <a:prstDash val="solid"/>
          </a:ln>
        </p:spPr>
      </p:sp>
      <p:sp>
        <p:nvSpPr>
          <p:cNvPr id="41" name="Shape 39"/>
          <p:cNvSpPr/>
          <p:nvPr/>
        </p:nvSpPr>
        <p:spPr>
          <a:xfrm>
            <a:off x="9436608" y="1088136"/>
            <a:ext cx="44806" cy="44806"/>
          </a:xfrm>
          <a:prstGeom prst="ellipse">
            <a:avLst/>
          </a:prstGeom>
          <a:solidFill>
            <a:srgbClr val="C2C2BD"/>
          </a:solidFill>
          <a:ln w="12700">
            <a:solidFill>
              <a:srgbClr val="C2C2BD">
                <a:alpha val="0"/>
              </a:srgbClr>
            </a:solidFill>
            <a:prstDash val="solid"/>
          </a:ln>
        </p:spPr>
      </p:sp>
      <p:sp>
        <p:nvSpPr>
          <p:cNvPr id="42" name="Shape 40"/>
          <p:cNvSpPr/>
          <p:nvPr/>
        </p:nvSpPr>
        <p:spPr>
          <a:xfrm>
            <a:off x="9564624" y="1088136"/>
            <a:ext cx="44806" cy="44806"/>
          </a:xfrm>
          <a:prstGeom prst="ellipse">
            <a:avLst/>
          </a:prstGeom>
          <a:solidFill>
            <a:srgbClr val="C2C2BD"/>
          </a:solidFill>
          <a:ln w="12700">
            <a:solidFill>
              <a:srgbClr val="C2C2BD">
                <a:alpha val="0"/>
              </a:srgbClr>
            </a:solidFill>
            <a:prstDash val="solid"/>
          </a:ln>
        </p:spPr>
      </p:sp>
      <p:sp>
        <p:nvSpPr>
          <p:cNvPr id="43" name="Shape 41"/>
          <p:cNvSpPr/>
          <p:nvPr/>
        </p:nvSpPr>
        <p:spPr>
          <a:xfrm>
            <a:off x="8540496" y="1216152"/>
            <a:ext cx="44806" cy="44806"/>
          </a:xfrm>
          <a:prstGeom prst="ellipse">
            <a:avLst/>
          </a:prstGeom>
          <a:solidFill>
            <a:srgbClr val="C2C2BD"/>
          </a:solidFill>
          <a:ln w="12700">
            <a:solidFill>
              <a:srgbClr val="C2C2BD">
                <a:alpha val="0"/>
              </a:srgbClr>
            </a:solidFill>
            <a:prstDash val="solid"/>
          </a:ln>
        </p:spPr>
      </p:sp>
      <p:sp>
        <p:nvSpPr>
          <p:cNvPr id="44" name="Shape 42"/>
          <p:cNvSpPr/>
          <p:nvPr/>
        </p:nvSpPr>
        <p:spPr>
          <a:xfrm>
            <a:off x="8668512" y="1216152"/>
            <a:ext cx="44806" cy="44806"/>
          </a:xfrm>
          <a:prstGeom prst="ellipse">
            <a:avLst/>
          </a:prstGeom>
          <a:solidFill>
            <a:srgbClr val="C2C2BD"/>
          </a:solidFill>
          <a:ln w="12700">
            <a:solidFill>
              <a:srgbClr val="C2C2BD">
                <a:alpha val="0"/>
              </a:srgbClr>
            </a:solidFill>
            <a:prstDash val="solid"/>
          </a:ln>
        </p:spPr>
      </p:sp>
      <p:sp>
        <p:nvSpPr>
          <p:cNvPr id="45" name="Shape 43"/>
          <p:cNvSpPr/>
          <p:nvPr/>
        </p:nvSpPr>
        <p:spPr>
          <a:xfrm>
            <a:off x="8796528" y="1216152"/>
            <a:ext cx="44806" cy="44806"/>
          </a:xfrm>
          <a:prstGeom prst="ellipse">
            <a:avLst/>
          </a:prstGeom>
          <a:solidFill>
            <a:srgbClr val="C2C2BD"/>
          </a:solidFill>
          <a:ln w="12700">
            <a:solidFill>
              <a:srgbClr val="C2C2BD">
                <a:alpha val="0"/>
              </a:srgbClr>
            </a:solidFill>
            <a:prstDash val="solid"/>
          </a:ln>
        </p:spPr>
      </p:sp>
      <p:sp>
        <p:nvSpPr>
          <p:cNvPr id="46" name="Shape 44"/>
          <p:cNvSpPr/>
          <p:nvPr/>
        </p:nvSpPr>
        <p:spPr>
          <a:xfrm>
            <a:off x="8924544" y="1216152"/>
            <a:ext cx="44806" cy="44806"/>
          </a:xfrm>
          <a:prstGeom prst="ellipse">
            <a:avLst/>
          </a:prstGeom>
          <a:solidFill>
            <a:srgbClr val="C2C2BD"/>
          </a:solidFill>
          <a:ln w="12700">
            <a:solidFill>
              <a:srgbClr val="C2C2BD">
                <a:alpha val="0"/>
              </a:srgbClr>
            </a:solidFill>
            <a:prstDash val="solid"/>
          </a:ln>
        </p:spPr>
      </p:sp>
      <p:sp>
        <p:nvSpPr>
          <p:cNvPr id="47" name="Shape 45"/>
          <p:cNvSpPr/>
          <p:nvPr/>
        </p:nvSpPr>
        <p:spPr>
          <a:xfrm>
            <a:off x="9052560" y="1216152"/>
            <a:ext cx="44806" cy="44806"/>
          </a:xfrm>
          <a:prstGeom prst="ellipse">
            <a:avLst/>
          </a:prstGeom>
          <a:solidFill>
            <a:srgbClr val="C2C2BD"/>
          </a:solidFill>
          <a:ln w="12700">
            <a:solidFill>
              <a:srgbClr val="C2C2BD">
                <a:alpha val="0"/>
              </a:srgbClr>
            </a:solidFill>
            <a:prstDash val="solid"/>
          </a:ln>
        </p:spPr>
      </p:sp>
      <p:sp>
        <p:nvSpPr>
          <p:cNvPr id="48" name="Shape 46"/>
          <p:cNvSpPr/>
          <p:nvPr/>
        </p:nvSpPr>
        <p:spPr>
          <a:xfrm>
            <a:off x="9180576" y="1216152"/>
            <a:ext cx="44806" cy="44806"/>
          </a:xfrm>
          <a:prstGeom prst="ellipse">
            <a:avLst/>
          </a:prstGeom>
          <a:solidFill>
            <a:srgbClr val="C2C2BD"/>
          </a:solidFill>
          <a:ln w="12700">
            <a:solidFill>
              <a:srgbClr val="C2C2BD">
                <a:alpha val="0"/>
              </a:srgbClr>
            </a:solidFill>
            <a:prstDash val="solid"/>
          </a:ln>
        </p:spPr>
      </p:sp>
      <p:sp>
        <p:nvSpPr>
          <p:cNvPr id="49" name="Shape 47"/>
          <p:cNvSpPr/>
          <p:nvPr/>
        </p:nvSpPr>
        <p:spPr>
          <a:xfrm>
            <a:off x="9436608" y="1216152"/>
            <a:ext cx="44806" cy="44806"/>
          </a:xfrm>
          <a:prstGeom prst="ellipse">
            <a:avLst/>
          </a:prstGeom>
          <a:solidFill>
            <a:srgbClr val="C2C2BD"/>
          </a:solidFill>
          <a:ln w="12700">
            <a:solidFill>
              <a:srgbClr val="C2C2BD">
                <a:alpha val="0"/>
              </a:srgbClr>
            </a:solidFill>
            <a:prstDash val="solid"/>
          </a:ln>
        </p:spPr>
      </p:sp>
      <p:sp>
        <p:nvSpPr>
          <p:cNvPr id="50" name="Shape 48"/>
          <p:cNvSpPr/>
          <p:nvPr/>
        </p:nvSpPr>
        <p:spPr>
          <a:xfrm>
            <a:off x="9564624" y="1216152"/>
            <a:ext cx="44806" cy="44806"/>
          </a:xfrm>
          <a:prstGeom prst="ellipse">
            <a:avLst/>
          </a:prstGeom>
          <a:solidFill>
            <a:srgbClr val="C2C2BD"/>
          </a:solidFill>
          <a:ln w="12700">
            <a:solidFill>
              <a:srgbClr val="C2C2BD">
                <a:alpha val="0"/>
              </a:srgbClr>
            </a:solidFill>
            <a:prstDash val="solid"/>
          </a:ln>
        </p:spPr>
      </p:sp>
      <p:sp>
        <p:nvSpPr>
          <p:cNvPr id="51" name="Shape 49"/>
          <p:cNvSpPr/>
          <p:nvPr/>
        </p:nvSpPr>
        <p:spPr>
          <a:xfrm>
            <a:off x="8540496" y="1344168"/>
            <a:ext cx="44806" cy="44806"/>
          </a:xfrm>
          <a:prstGeom prst="ellipse">
            <a:avLst/>
          </a:prstGeom>
          <a:solidFill>
            <a:srgbClr val="C2C2BD"/>
          </a:solidFill>
          <a:ln w="12700">
            <a:solidFill>
              <a:srgbClr val="C2C2BD">
                <a:alpha val="0"/>
              </a:srgbClr>
            </a:solidFill>
            <a:prstDash val="solid"/>
          </a:ln>
        </p:spPr>
      </p:sp>
      <p:sp>
        <p:nvSpPr>
          <p:cNvPr id="52" name="Shape 50"/>
          <p:cNvSpPr/>
          <p:nvPr/>
        </p:nvSpPr>
        <p:spPr>
          <a:xfrm>
            <a:off x="8668512" y="1344168"/>
            <a:ext cx="44806" cy="44806"/>
          </a:xfrm>
          <a:prstGeom prst="ellipse">
            <a:avLst/>
          </a:prstGeom>
          <a:solidFill>
            <a:srgbClr val="C2C2BD"/>
          </a:solidFill>
          <a:ln w="12700">
            <a:solidFill>
              <a:srgbClr val="C2C2BD">
                <a:alpha val="0"/>
              </a:srgbClr>
            </a:solidFill>
            <a:prstDash val="solid"/>
          </a:ln>
        </p:spPr>
      </p:sp>
      <p:sp>
        <p:nvSpPr>
          <p:cNvPr id="53" name="Shape 51"/>
          <p:cNvSpPr/>
          <p:nvPr/>
        </p:nvSpPr>
        <p:spPr>
          <a:xfrm>
            <a:off x="8924544" y="1344168"/>
            <a:ext cx="44806" cy="44806"/>
          </a:xfrm>
          <a:prstGeom prst="ellipse">
            <a:avLst/>
          </a:prstGeom>
          <a:solidFill>
            <a:srgbClr val="C2C2BD"/>
          </a:solidFill>
          <a:ln w="12700">
            <a:solidFill>
              <a:srgbClr val="C2C2BD">
                <a:alpha val="0"/>
              </a:srgbClr>
            </a:solidFill>
            <a:prstDash val="solid"/>
          </a:ln>
        </p:spPr>
      </p:sp>
      <p:sp>
        <p:nvSpPr>
          <p:cNvPr id="54" name="Shape 52"/>
          <p:cNvSpPr/>
          <p:nvPr/>
        </p:nvSpPr>
        <p:spPr>
          <a:xfrm>
            <a:off x="9052560" y="1344168"/>
            <a:ext cx="44806" cy="44806"/>
          </a:xfrm>
          <a:prstGeom prst="ellipse">
            <a:avLst/>
          </a:prstGeom>
          <a:solidFill>
            <a:srgbClr val="C2C2BD"/>
          </a:solidFill>
          <a:ln w="12700">
            <a:solidFill>
              <a:srgbClr val="C2C2BD">
                <a:alpha val="0"/>
              </a:srgbClr>
            </a:solidFill>
            <a:prstDash val="solid"/>
          </a:ln>
        </p:spPr>
      </p:sp>
      <p:sp>
        <p:nvSpPr>
          <p:cNvPr id="55" name="Shape 53"/>
          <p:cNvSpPr/>
          <p:nvPr/>
        </p:nvSpPr>
        <p:spPr>
          <a:xfrm>
            <a:off x="9180576" y="1344168"/>
            <a:ext cx="44806" cy="44806"/>
          </a:xfrm>
          <a:prstGeom prst="ellipse">
            <a:avLst/>
          </a:prstGeom>
          <a:solidFill>
            <a:srgbClr val="C2C2BD"/>
          </a:solidFill>
          <a:ln w="12700">
            <a:solidFill>
              <a:srgbClr val="C2C2BD">
                <a:alpha val="0"/>
              </a:srgbClr>
            </a:solidFill>
            <a:prstDash val="solid"/>
          </a:ln>
        </p:spPr>
      </p:sp>
      <p:sp>
        <p:nvSpPr>
          <p:cNvPr id="56" name="Shape 54"/>
          <p:cNvSpPr/>
          <p:nvPr/>
        </p:nvSpPr>
        <p:spPr>
          <a:xfrm>
            <a:off x="9308592" y="1344168"/>
            <a:ext cx="44806" cy="44806"/>
          </a:xfrm>
          <a:prstGeom prst="ellipse">
            <a:avLst/>
          </a:prstGeom>
          <a:solidFill>
            <a:srgbClr val="C2C2BD"/>
          </a:solidFill>
          <a:ln w="12700">
            <a:solidFill>
              <a:srgbClr val="C2C2BD">
                <a:alpha val="0"/>
              </a:srgbClr>
            </a:solidFill>
            <a:prstDash val="solid"/>
          </a:ln>
        </p:spPr>
      </p:sp>
      <p:sp>
        <p:nvSpPr>
          <p:cNvPr id="57" name="Shape 55"/>
          <p:cNvSpPr/>
          <p:nvPr/>
        </p:nvSpPr>
        <p:spPr>
          <a:xfrm>
            <a:off x="9436608" y="1344168"/>
            <a:ext cx="44806" cy="44806"/>
          </a:xfrm>
          <a:prstGeom prst="ellipse">
            <a:avLst/>
          </a:prstGeom>
          <a:solidFill>
            <a:srgbClr val="C2C2BD"/>
          </a:solidFill>
          <a:ln w="12700">
            <a:solidFill>
              <a:srgbClr val="C2C2BD">
                <a:alpha val="0"/>
              </a:srgbClr>
            </a:solidFill>
            <a:prstDash val="solid"/>
          </a:ln>
        </p:spPr>
      </p:sp>
      <p:sp>
        <p:nvSpPr>
          <p:cNvPr id="58" name="Shape 56"/>
          <p:cNvSpPr/>
          <p:nvPr/>
        </p:nvSpPr>
        <p:spPr>
          <a:xfrm>
            <a:off x="9564624" y="1344168"/>
            <a:ext cx="44806" cy="44806"/>
          </a:xfrm>
          <a:prstGeom prst="ellipse">
            <a:avLst/>
          </a:prstGeom>
          <a:solidFill>
            <a:srgbClr val="C2C2BD"/>
          </a:solidFill>
          <a:ln w="12700">
            <a:solidFill>
              <a:srgbClr val="C2C2BD">
                <a:alpha val="0"/>
              </a:srgbClr>
            </a:solidFill>
            <a:prstDash val="solid"/>
          </a:ln>
        </p:spPr>
      </p:sp>
      <p:sp>
        <p:nvSpPr>
          <p:cNvPr id="59" name="Shape 57"/>
          <p:cNvSpPr/>
          <p:nvPr/>
        </p:nvSpPr>
        <p:spPr>
          <a:xfrm>
            <a:off x="8540496" y="1472184"/>
            <a:ext cx="44806" cy="44806"/>
          </a:xfrm>
          <a:prstGeom prst="ellipse">
            <a:avLst/>
          </a:prstGeom>
          <a:solidFill>
            <a:srgbClr val="C2C2BD"/>
          </a:solidFill>
          <a:ln w="12700">
            <a:solidFill>
              <a:srgbClr val="C2C2BD">
                <a:alpha val="0"/>
              </a:srgbClr>
            </a:solidFill>
            <a:prstDash val="solid"/>
          </a:ln>
        </p:spPr>
      </p:sp>
      <p:sp>
        <p:nvSpPr>
          <p:cNvPr id="60" name="Shape 58"/>
          <p:cNvSpPr/>
          <p:nvPr/>
        </p:nvSpPr>
        <p:spPr>
          <a:xfrm>
            <a:off x="8668512" y="1472184"/>
            <a:ext cx="44806" cy="44806"/>
          </a:xfrm>
          <a:prstGeom prst="ellipse">
            <a:avLst/>
          </a:prstGeom>
          <a:solidFill>
            <a:srgbClr val="C2C2BD"/>
          </a:solidFill>
          <a:ln w="12700">
            <a:solidFill>
              <a:srgbClr val="C2C2BD">
                <a:alpha val="0"/>
              </a:srgbClr>
            </a:solidFill>
            <a:prstDash val="solid"/>
          </a:ln>
        </p:spPr>
      </p:sp>
      <p:sp>
        <p:nvSpPr>
          <p:cNvPr id="61" name="Shape 59"/>
          <p:cNvSpPr/>
          <p:nvPr/>
        </p:nvSpPr>
        <p:spPr>
          <a:xfrm>
            <a:off x="8796528" y="1472184"/>
            <a:ext cx="44806" cy="44806"/>
          </a:xfrm>
          <a:prstGeom prst="ellipse">
            <a:avLst/>
          </a:prstGeom>
          <a:solidFill>
            <a:srgbClr val="C2C2BD"/>
          </a:solidFill>
          <a:ln w="12700">
            <a:solidFill>
              <a:srgbClr val="C2C2BD">
                <a:alpha val="0"/>
              </a:srgbClr>
            </a:solidFill>
            <a:prstDash val="solid"/>
          </a:ln>
        </p:spPr>
      </p:sp>
      <p:sp>
        <p:nvSpPr>
          <p:cNvPr id="62" name="Shape 60"/>
          <p:cNvSpPr/>
          <p:nvPr/>
        </p:nvSpPr>
        <p:spPr>
          <a:xfrm>
            <a:off x="8924544" y="1472184"/>
            <a:ext cx="44806" cy="44806"/>
          </a:xfrm>
          <a:prstGeom prst="ellipse">
            <a:avLst/>
          </a:prstGeom>
          <a:solidFill>
            <a:srgbClr val="C2C2BD"/>
          </a:solidFill>
          <a:ln w="12700">
            <a:solidFill>
              <a:srgbClr val="C2C2BD">
                <a:alpha val="0"/>
              </a:srgbClr>
            </a:solidFill>
            <a:prstDash val="solid"/>
          </a:ln>
        </p:spPr>
      </p:sp>
      <p:sp>
        <p:nvSpPr>
          <p:cNvPr id="63" name="Shape 61"/>
          <p:cNvSpPr/>
          <p:nvPr/>
        </p:nvSpPr>
        <p:spPr>
          <a:xfrm>
            <a:off x="9052560" y="1472184"/>
            <a:ext cx="44806" cy="44806"/>
          </a:xfrm>
          <a:prstGeom prst="ellipse">
            <a:avLst/>
          </a:prstGeom>
          <a:solidFill>
            <a:srgbClr val="C2C2BD"/>
          </a:solidFill>
          <a:ln w="12700">
            <a:solidFill>
              <a:srgbClr val="C2C2BD">
                <a:alpha val="0"/>
              </a:srgbClr>
            </a:solidFill>
            <a:prstDash val="solid"/>
          </a:ln>
        </p:spPr>
      </p:sp>
      <p:sp>
        <p:nvSpPr>
          <p:cNvPr id="64" name="Shape 62"/>
          <p:cNvSpPr/>
          <p:nvPr/>
        </p:nvSpPr>
        <p:spPr>
          <a:xfrm>
            <a:off x="9308592" y="1472184"/>
            <a:ext cx="44806" cy="44806"/>
          </a:xfrm>
          <a:prstGeom prst="ellipse">
            <a:avLst/>
          </a:prstGeom>
          <a:solidFill>
            <a:srgbClr val="C2C2BD"/>
          </a:solidFill>
          <a:ln w="12700">
            <a:solidFill>
              <a:srgbClr val="C2C2BD">
                <a:alpha val="0"/>
              </a:srgbClr>
            </a:solidFill>
            <a:prstDash val="solid"/>
          </a:ln>
        </p:spPr>
      </p:sp>
      <p:sp>
        <p:nvSpPr>
          <p:cNvPr id="65" name="Shape 63"/>
          <p:cNvSpPr/>
          <p:nvPr/>
        </p:nvSpPr>
        <p:spPr>
          <a:xfrm>
            <a:off x="9436608" y="1472184"/>
            <a:ext cx="44806" cy="44806"/>
          </a:xfrm>
          <a:prstGeom prst="ellipse">
            <a:avLst/>
          </a:prstGeom>
          <a:solidFill>
            <a:srgbClr val="C2C2BD"/>
          </a:solidFill>
          <a:ln w="12700">
            <a:solidFill>
              <a:srgbClr val="C2C2BD">
                <a:alpha val="0"/>
              </a:srgbClr>
            </a:solidFill>
            <a:prstDash val="solid"/>
          </a:ln>
        </p:spPr>
      </p:sp>
      <p:sp>
        <p:nvSpPr>
          <p:cNvPr id="66" name="Shape 64"/>
          <p:cNvSpPr/>
          <p:nvPr/>
        </p:nvSpPr>
        <p:spPr>
          <a:xfrm>
            <a:off x="9564624" y="1472184"/>
            <a:ext cx="44806" cy="44806"/>
          </a:xfrm>
          <a:prstGeom prst="ellipse">
            <a:avLst/>
          </a:prstGeom>
          <a:solidFill>
            <a:srgbClr val="C2C2BD"/>
          </a:solidFill>
          <a:ln w="12700">
            <a:solidFill>
              <a:srgbClr val="C2C2BD">
                <a:alpha val="0"/>
              </a:srgbClr>
            </a:solidFill>
            <a:prstDash val="solid"/>
          </a:ln>
        </p:spPr>
      </p:sp>
      <p:sp>
        <p:nvSpPr>
          <p:cNvPr id="67" name="Shape 65"/>
          <p:cNvSpPr/>
          <p:nvPr/>
        </p:nvSpPr>
        <p:spPr>
          <a:xfrm>
            <a:off x="8540496" y="1600200"/>
            <a:ext cx="44806" cy="44806"/>
          </a:xfrm>
          <a:prstGeom prst="ellipse">
            <a:avLst/>
          </a:prstGeom>
          <a:solidFill>
            <a:srgbClr val="C2C2BD"/>
          </a:solidFill>
          <a:ln w="12700">
            <a:solidFill>
              <a:srgbClr val="C2C2BD">
                <a:alpha val="0"/>
              </a:srgbClr>
            </a:solidFill>
            <a:prstDash val="solid"/>
          </a:ln>
        </p:spPr>
      </p:sp>
      <p:sp>
        <p:nvSpPr>
          <p:cNvPr id="68" name="Shape 66"/>
          <p:cNvSpPr/>
          <p:nvPr/>
        </p:nvSpPr>
        <p:spPr>
          <a:xfrm>
            <a:off x="8796528" y="1600200"/>
            <a:ext cx="44806" cy="44806"/>
          </a:xfrm>
          <a:prstGeom prst="ellipse">
            <a:avLst/>
          </a:prstGeom>
          <a:solidFill>
            <a:srgbClr val="C2C2BD"/>
          </a:solidFill>
          <a:ln w="12700">
            <a:solidFill>
              <a:srgbClr val="C2C2BD">
                <a:alpha val="0"/>
              </a:srgbClr>
            </a:solidFill>
            <a:prstDash val="solid"/>
          </a:ln>
        </p:spPr>
      </p:sp>
      <p:sp>
        <p:nvSpPr>
          <p:cNvPr id="69" name="Shape 67"/>
          <p:cNvSpPr/>
          <p:nvPr/>
        </p:nvSpPr>
        <p:spPr>
          <a:xfrm>
            <a:off x="8924544" y="1600200"/>
            <a:ext cx="44806" cy="44806"/>
          </a:xfrm>
          <a:prstGeom prst="ellipse">
            <a:avLst/>
          </a:prstGeom>
          <a:solidFill>
            <a:srgbClr val="C2C2BD"/>
          </a:solidFill>
          <a:ln w="12700">
            <a:solidFill>
              <a:srgbClr val="C2C2BD">
                <a:alpha val="0"/>
              </a:srgbClr>
            </a:solidFill>
            <a:prstDash val="solid"/>
          </a:ln>
        </p:spPr>
      </p:sp>
      <p:sp>
        <p:nvSpPr>
          <p:cNvPr id="70" name="Shape 68"/>
          <p:cNvSpPr/>
          <p:nvPr/>
        </p:nvSpPr>
        <p:spPr>
          <a:xfrm>
            <a:off x="9052560" y="1600200"/>
            <a:ext cx="44806" cy="44806"/>
          </a:xfrm>
          <a:prstGeom prst="ellipse">
            <a:avLst/>
          </a:prstGeom>
          <a:solidFill>
            <a:srgbClr val="C2C2BD"/>
          </a:solidFill>
          <a:ln w="12700">
            <a:solidFill>
              <a:srgbClr val="C2C2BD">
                <a:alpha val="0"/>
              </a:srgbClr>
            </a:solidFill>
            <a:prstDash val="solid"/>
          </a:ln>
        </p:spPr>
      </p:sp>
      <p:sp>
        <p:nvSpPr>
          <p:cNvPr id="71" name="Shape 69"/>
          <p:cNvSpPr/>
          <p:nvPr/>
        </p:nvSpPr>
        <p:spPr>
          <a:xfrm>
            <a:off x="9180576" y="1600200"/>
            <a:ext cx="44806" cy="44806"/>
          </a:xfrm>
          <a:prstGeom prst="ellipse">
            <a:avLst/>
          </a:prstGeom>
          <a:solidFill>
            <a:srgbClr val="C2C2BD"/>
          </a:solidFill>
          <a:ln w="12700">
            <a:solidFill>
              <a:srgbClr val="C2C2BD">
                <a:alpha val="0"/>
              </a:srgbClr>
            </a:solidFill>
            <a:prstDash val="solid"/>
          </a:ln>
        </p:spPr>
      </p:sp>
      <p:sp>
        <p:nvSpPr>
          <p:cNvPr id="72" name="Shape 70"/>
          <p:cNvSpPr/>
          <p:nvPr/>
        </p:nvSpPr>
        <p:spPr>
          <a:xfrm>
            <a:off x="9308592" y="1600200"/>
            <a:ext cx="44806" cy="44806"/>
          </a:xfrm>
          <a:prstGeom prst="ellipse">
            <a:avLst/>
          </a:prstGeom>
          <a:solidFill>
            <a:srgbClr val="C2C2BD"/>
          </a:solidFill>
          <a:ln w="12700">
            <a:solidFill>
              <a:srgbClr val="C2C2BD">
                <a:alpha val="0"/>
              </a:srgbClr>
            </a:solidFill>
            <a:prstDash val="solid"/>
          </a:ln>
        </p:spPr>
      </p:sp>
      <p:sp>
        <p:nvSpPr>
          <p:cNvPr id="73" name="Shape 71"/>
          <p:cNvSpPr/>
          <p:nvPr/>
        </p:nvSpPr>
        <p:spPr>
          <a:xfrm>
            <a:off x="9436608" y="1600200"/>
            <a:ext cx="44806" cy="44806"/>
          </a:xfrm>
          <a:prstGeom prst="ellipse">
            <a:avLst/>
          </a:prstGeom>
          <a:solidFill>
            <a:srgbClr val="C2C2BD"/>
          </a:solidFill>
          <a:ln w="12700">
            <a:solidFill>
              <a:srgbClr val="C2C2BD">
                <a:alpha val="0"/>
              </a:srgbClr>
            </a:solidFill>
            <a:prstDash val="solid"/>
          </a:ln>
        </p:spPr>
      </p:sp>
      <p:sp>
        <p:nvSpPr>
          <p:cNvPr id="74" name="Shape 72"/>
          <p:cNvSpPr/>
          <p:nvPr/>
        </p:nvSpPr>
        <p:spPr>
          <a:xfrm>
            <a:off x="8540496" y="1728216"/>
            <a:ext cx="44806" cy="44806"/>
          </a:xfrm>
          <a:prstGeom prst="ellipse">
            <a:avLst/>
          </a:prstGeom>
          <a:solidFill>
            <a:srgbClr val="C2C2BD"/>
          </a:solidFill>
          <a:ln w="12700">
            <a:solidFill>
              <a:srgbClr val="C2C2BD">
                <a:alpha val="0"/>
              </a:srgbClr>
            </a:solidFill>
            <a:prstDash val="solid"/>
          </a:ln>
        </p:spPr>
      </p:sp>
      <p:sp>
        <p:nvSpPr>
          <p:cNvPr id="75" name="Shape 73"/>
          <p:cNvSpPr/>
          <p:nvPr/>
        </p:nvSpPr>
        <p:spPr>
          <a:xfrm>
            <a:off x="8668512" y="1728216"/>
            <a:ext cx="44806" cy="44806"/>
          </a:xfrm>
          <a:prstGeom prst="ellipse">
            <a:avLst/>
          </a:prstGeom>
          <a:solidFill>
            <a:srgbClr val="C2C2BD"/>
          </a:solidFill>
          <a:ln w="12700">
            <a:solidFill>
              <a:srgbClr val="C2C2BD">
                <a:alpha val="0"/>
              </a:srgbClr>
            </a:solidFill>
            <a:prstDash val="solid"/>
          </a:ln>
        </p:spPr>
      </p:sp>
      <p:sp>
        <p:nvSpPr>
          <p:cNvPr id="76" name="Shape 74"/>
          <p:cNvSpPr/>
          <p:nvPr/>
        </p:nvSpPr>
        <p:spPr>
          <a:xfrm>
            <a:off x="8796528" y="1728216"/>
            <a:ext cx="44806" cy="44806"/>
          </a:xfrm>
          <a:prstGeom prst="ellipse">
            <a:avLst/>
          </a:prstGeom>
          <a:solidFill>
            <a:srgbClr val="C2C2BD"/>
          </a:solidFill>
          <a:ln w="12700">
            <a:solidFill>
              <a:srgbClr val="C2C2BD">
                <a:alpha val="0"/>
              </a:srgbClr>
            </a:solidFill>
            <a:prstDash val="solid"/>
          </a:ln>
        </p:spPr>
      </p:sp>
      <p:sp>
        <p:nvSpPr>
          <p:cNvPr id="77" name="Shape 75"/>
          <p:cNvSpPr/>
          <p:nvPr/>
        </p:nvSpPr>
        <p:spPr>
          <a:xfrm>
            <a:off x="8924544" y="1728216"/>
            <a:ext cx="44806" cy="44806"/>
          </a:xfrm>
          <a:prstGeom prst="ellipse">
            <a:avLst/>
          </a:prstGeom>
          <a:solidFill>
            <a:srgbClr val="C2C2BD"/>
          </a:solidFill>
          <a:ln w="12700">
            <a:solidFill>
              <a:srgbClr val="C2C2BD">
                <a:alpha val="0"/>
              </a:srgbClr>
            </a:solidFill>
            <a:prstDash val="solid"/>
          </a:ln>
        </p:spPr>
      </p:sp>
      <p:sp>
        <p:nvSpPr>
          <p:cNvPr id="78" name="Shape 76"/>
          <p:cNvSpPr/>
          <p:nvPr/>
        </p:nvSpPr>
        <p:spPr>
          <a:xfrm>
            <a:off x="9180576" y="1728216"/>
            <a:ext cx="44806" cy="44806"/>
          </a:xfrm>
          <a:prstGeom prst="ellipse">
            <a:avLst/>
          </a:prstGeom>
          <a:solidFill>
            <a:srgbClr val="C2C2BD"/>
          </a:solidFill>
          <a:ln w="12700">
            <a:solidFill>
              <a:srgbClr val="C2C2BD">
                <a:alpha val="0"/>
              </a:srgbClr>
            </a:solidFill>
            <a:prstDash val="solid"/>
          </a:ln>
        </p:spPr>
      </p:sp>
      <p:sp>
        <p:nvSpPr>
          <p:cNvPr id="79" name="Shape 77"/>
          <p:cNvSpPr/>
          <p:nvPr/>
        </p:nvSpPr>
        <p:spPr>
          <a:xfrm>
            <a:off x="9308592" y="1728216"/>
            <a:ext cx="44806" cy="44806"/>
          </a:xfrm>
          <a:prstGeom prst="ellipse">
            <a:avLst/>
          </a:prstGeom>
          <a:solidFill>
            <a:srgbClr val="C2C2BD"/>
          </a:solidFill>
          <a:ln w="12700">
            <a:solidFill>
              <a:srgbClr val="C2C2BD">
                <a:alpha val="0"/>
              </a:srgbClr>
            </a:solidFill>
            <a:prstDash val="solid"/>
          </a:ln>
        </p:spPr>
      </p:sp>
      <p:sp>
        <p:nvSpPr>
          <p:cNvPr id="80" name="Shape 78"/>
          <p:cNvSpPr/>
          <p:nvPr/>
        </p:nvSpPr>
        <p:spPr>
          <a:xfrm>
            <a:off x="9436608" y="1728216"/>
            <a:ext cx="44806" cy="44806"/>
          </a:xfrm>
          <a:prstGeom prst="ellipse">
            <a:avLst/>
          </a:prstGeom>
          <a:solidFill>
            <a:srgbClr val="C2C2BD"/>
          </a:solidFill>
          <a:ln w="12700">
            <a:solidFill>
              <a:srgbClr val="C2C2BD">
                <a:alpha val="0"/>
              </a:srgbClr>
            </a:solidFill>
            <a:prstDash val="solid"/>
          </a:ln>
        </p:spPr>
      </p:sp>
      <p:sp>
        <p:nvSpPr>
          <p:cNvPr id="81" name="Shape 79"/>
          <p:cNvSpPr/>
          <p:nvPr/>
        </p:nvSpPr>
        <p:spPr>
          <a:xfrm>
            <a:off x="9564624" y="1728216"/>
            <a:ext cx="44806" cy="44806"/>
          </a:xfrm>
          <a:prstGeom prst="ellipse">
            <a:avLst/>
          </a:prstGeom>
          <a:solidFill>
            <a:srgbClr val="C2C2BD"/>
          </a:solidFill>
          <a:ln w="12700">
            <a:solidFill>
              <a:srgbClr val="C2C2BD">
                <a:alpha val="0"/>
              </a:srgbClr>
            </a:solidFill>
            <a:prstDash val="solid"/>
          </a:ln>
        </p:spPr>
      </p:sp>
      <p:sp>
        <p:nvSpPr>
          <p:cNvPr id="82" name="Shape 80"/>
          <p:cNvSpPr/>
          <p:nvPr/>
        </p:nvSpPr>
        <p:spPr>
          <a:xfrm>
            <a:off x="8668512" y="1856232"/>
            <a:ext cx="44806" cy="44806"/>
          </a:xfrm>
          <a:prstGeom prst="ellipse">
            <a:avLst/>
          </a:prstGeom>
          <a:solidFill>
            <a:srgbClr val="C2C2BD"/>
          </a:solidFill>
          <a:ln w="12700">
            <a:solidFill>
              <a:srgbClr val="C2C2BD">
                <a:alpha val="0"/>
              </a:srgbClr>
            </a:solidFill>
            <a:prstDash val="solid"/>
          </a:ln>
        </p:spPr>
      </p:sp>
      <p:sp>
        <p:nvSpPr>
          <p:cNvPr id="83" name="Shape 81"/>
          <p:cNvSpPr/>
          <p:nvPr/>
        </p:nvSpPr>
        <p:spPr>
          <a:xfrm>
            <a:off x="8796528" y="1856232"/>
            <a:ext cx="44806" cy="44806"/>
          </a:xfrm>
          <a:prstGeom prst="ellipse">
            <a:avLst/>
          </a:prstGeom>
          <a:solidFill>
            <a:srgbClr val="C2C2BD"/>
          </a:solidFill>
          <a:ln w="12700">
            <a:solidFill>
              <a:srgbClr val="C2C2BD">
                <a:alpha val="0"/>
              </a:srgbClr>
            </a:solidFill>
            <a:prstDash val="solid"/>
          </a:ln>
        </p:spPr>
      </p:sp>
      <p:sp>
        <p:nvSpPr>
          <p:cNvPr id="84" name="Shape 82"/>
          <p:cNvSpPr/>
          <p:nvPr/>
        </p:nvSpPr>
        <p:spPr>
          <a:xfrm>
            <a:off x="8924544" y="1856232"/>
            <a:ext cx="44806" cy="44806"/>
          </a:xfrm>
          <a:prstGeom prst="ellipse">
            <a:avLst/>
          </a:prstGeom>
          <a:solidFill>
            <a:srgbClr val="C2C2BD"/>
          </a:solidFill>
          <a:ln w="12700">
            <a:solidFill>
              <a:srgbClr val="C2C2BD">
                <a:alpha val="0"/>
              </a:srgbClr>
            </a:solidFill>
            <a:prstDash val="solid"/>
          </a:ln>
        </p:spPr>
      </p:sp>
      <p:sp>
        <p:nvSpPr>
          <p:cNvPr id="85" name="Shape 83"/>
          <p:cNvSpPr/>
          <p:nvPr/>
        </p:nvSpPr>
        <p:spPr>
          <a:xfrm>
            <a:off x="9052560" y="1856232"/>
            <a:ext cx="44806" cy="44806"/>
          </a:xfrm>
          <a:prstGeom prst="ellipse">
            <a:avLst/>
          </a:prstGeom>
          <a:solidFill>
            <a:srgbClr val="C2C2BD"/>
          </a:solidFill>
          <a:ln w="12700">
            <a:solidFill>
              <a:srgbClr val="C2C2BD">
                <a:alpha val="0"/>
              </a:srgbClr>
            </a:solidFill>
            <a:prstDash val="solid"/>
          </a:ln>
        </p:spPr>
      </p:sp>
      <p:sp>
        <p:nvSpPr>
          <p:cNvPr id="86" name="Shape 84"/>
          <p:cNvSpPr/>
          <p:nvPr/>
        </p:nvSpPr>
        <p:spPr>
          <a:xfrm>
            <a:off x="9180576" y="1856232"/>
            <a:ext cx="44806" cy="44806"/>
          </a:xfrm>
          <a:prstGeom prst="ellipse">
            <a:avLst/>
          </a:prstGeom>
          <a:solidFill>
            <a:srgbClr val="C2C2BD"/>
          </a:solidFill>
          <a:ln w="12700">
            <a:solidFill>
              <a:srgbClr val="C2C2BD">
                <a:alpha val="0"/>
              </a:srgbClr>
            </a:solidFill>
            <a:prstDash val="solid"/>
          </a:ln>
        </p:spPr>
      </p:sp>
      <p:sp>
        <p:nvSpPr>
          <p:cNvPr id="87" name="Shape 85"/>
          <p:cNvSpPr/>
          <p:nvPr/>
        </p:nvSpPr>
        <p:spPr>
          <a:xfrm>
            <a:off x="9308592" y="1856232"/>
            <a:ext cx="44806" cy="44806"/>
          </a:xfrm>
          <a:prstGeom prst="ellipse">
            <a:avLst/>
          </a:prstGeom>
          <a:solidFill>
            <a:srgbClr val="C2C2BD"/>
          </a:solidFill>
          <a:ln w="12700">
            <a:solidFill>
              <a:srgbClr val="C2C2BD">
                <a:alpha val="0"/>
              </a:srgbClr>
            </a:solidFill>
            <a:prstDash val="solid"/>
          </a:ln>
        </p:spPr>
      </p:sp>
      <p:sp>
        <p:nvSpPr>
          <p:cNvPr id="88" name="Shape 86"/>
          <p:cNvSpPr/>
          <p:nvPr/>
        </p:nvSpPr>
        <p:spPr>
          <a:xfrm>
            <a:off x="9564624" y="1856232"/>
            <a:ext cx="44806" cy="44806"/>
          </a:xfrm>
          <a:prstGeom prst="ellipse">
            <a:avLst/>
          </a:prstGeom>
          <a:solidFill>
            <a:srgbClr val="C2C2BD"/>
          </a:solidFill>
          <a:ln w="12700">
            <a:solidFill>
              <a:srgbClr val="C2C2BD">
                <a:alpha val="0"/>
              </a:srgbClr>
            </a:solidFill>
            <a:prstDash val="solid"/>
          </a:ln>
        </p:spPr>
      </p:sp>
      <p:sp>
        <p:nvSpPr>
          <p:cNvPr id="89" name="Shape 87"/>
          <p:cNvSpPr/>
          <p:nvPr/>
        </p:nvSpPr>
        <p:spPr>
          <a:xfrm>
            <a:off x="8540496" y="1984248"/>
            <a:ext cx="44806" cy="44806"/>
          </a:xfrm>
          <a:prstGeom prst="ellipse">
            <a:avLst/>
          </a:prstGeom>
          <a:solidFill>
            <a:srgbClr val="C2C2BD"/>
          </a:solidFill>
          <a:ln w="12700">
            <a:solidFill>
              <a:srgbClr val="C2C2BD">
                <a:alpha val="0"/>
              </a:srgbClr>
            </a:solidFill>
            <a:prstDash val="solid"/>
          </a:ln>
        </p:spPr>
      </p:sp>
      <p:sp>
        <p:nvSpPr>
          <p:cNvPr id="90" name="Shape 88"/>
          <p:cNvSpPr/>
          <p:nvPr/>
        </p:nvSpPr>
        <p:spPr>
          <a:xfrm>
            <a:off x="8668512" y="1984248"/>
            <a:ext cx="44806" cy="44806"/>
          </a:xfrm>
          <a:prstGeom prst="ellipse">
            <a:avLst/>
          </a:prstGeom>
          <a:solidFill>
            <a:srgbClr val="C2C2BD"/>
          </a:solidFill>
          <a:ln w="12700">
            <a:solidFill>
              <a:srgbClr val="C2C2BD">
                <a:alpha val="0"/>
              </a:srgbClr>
            </a:solidFill>
            <a:prstDash val="solid"/>
          </a:ln>
        </p:spPr>
      </p:sp>
      <p:sp>
        <p:nvSpPr>
          <p:cNvPr id="91" name="Shape 89"/>
          <p:cNvSpPr/>
          <p:nvPr/>
        </p:nvSpPr>
        <p:spPr>
          <a:xfrm>
            <a:off x="8796528" y="1984248"/>
            <a:ext cx="44806" cy="44806"/>
          </a:xfrm>
          <a:prstGeom prst="ellipse">
            <a:avLst/>
          </a:prstGeom>
          <a:solidFill>
            <a:srgbClr val="C2C2BD"/>
          </a:solidFill>
          <a:ln w="12700">
            <a:solidFill>
              <a:srgbClr val="C2C2BD">
                <a:alpha val="0"/>
              </a:srgbClr>
            </a:solidFill>
            <a:prstDash val="solid"/>
          </a:ln>
        </p:spPr>
      </p:sp>
      <p:sp>
        <p:nvSpPr>
          <p:cNvPr id="92" name="Shape 90"/>
          <p:cNvSpPr/>
          <p:nvPr/>
        </p:nvSpPr>
        <p:spPr>
          <a:xfrm>
            <a:off x="9052560" y="1984248"/>
            <a:ext cx="44806" cy="44806"/>
          </a:xfrm>
          <a:prstGeom prst="ellipse">
            <a:avLst/>
          </a:prstGeom>
          <a:solidFill>
            <a:srgbClr val="C2C2BD"/>
          </a:solidFill>
          <a:ln w="12700">
            <a:solidFill>
              <a:srgbClr val="C2C2BD">
                <a:alpha val="0"/>
              </a:srgbClr>
            </a:solidFill>
            <a:prstDash val="solid"/>
          </a:ln>
        </p:spPr>
      </p:sp>
      <p:sp>
        <p:nvSpPr>
          <p:cNvPr id="93" name="Shape 91"/>
          <p:cNvSpPr/>
          <p:nvPr/>
        </p:nvSpPr>
        <p:spPr>
          <a:xfrm>
            <a:off x="9180576" y="1984248"/>
            <a:ext cx="44806" cy="44806"/>
          </a:xfrm>
          <a:prstGeom prst="ellipse">
            <a:avLst/>
          </a:prstGeom>
          <a:solidFill>
            <a:srgbClr val="C2C2BD"/>
          </a:solidFill>
          <a:ln w="12700">
            <a:solidFill>
              <a:srgbClr val="C2C2BD">
                <a:alpha val="0"/>
              </a:srgbClr>
            </a:solidFill>
            <a:prstDash val="solid"/>
          </a:ln>
        </p:spPr>
      </p:sp>
      <p:sp>
        <p:nvSpPr>
          <p:cNvPr id="94" name="Shape 92"/>
          <p:cNvSpPr/>
          <p:nvPr/>
        </p:nvSpPr>
        <p:spPr>
          <a:xfrm>
            <a:off x="9308592" y="1984248"/>
            <a:ext cx="44806" cy="44806"/>
          </a:xfrm>
          <a:prstGeom prst="ellipse">
            <a:avLst/>
          </a:prstGeom>
          <a:solidFill>
            <a:srgbClr val="C2C2BD"/>
          </a:solidFill>
          <a:ln w="12700">
            <a:solidFill>
              <a:srgbClr val="C2C2BD">
                <a:alpha val="0"/>
              </a:srgbClr>
            </a:solidFill>
            <a:prstDash val="solid"/>
          </a:ln>
        </p:spPr>
      </p:sp>
      <p:sp>
        <p:nvSpPr>
          <p:cNvPr id="95" name="Shape 93"/>
          <p:cNvSpPr/>
          <p:nvPr/>
        </p:nvSpPr>
        <p:spPr>
          <a:xfrm>
            <a:off x="9436608" y="1984248"/>
            <a:ext cx="44806" cy="44806"/>
          </a:xfrm>
          <a:prstGeom prst="ellipse">
            <a:avLst/>
          </a:prstGeom>
          <a:solidFill>
            <a:srgbClr val="C2C2BD"/>
          </a:solidFill>
          <a:ln w="12700">
            <a:solidFill>
              <a:srgbClr val="C2C2BD">
                <a:alpha val="0"/>
              </a:srgbClr>
            </a:solidFill>
            <a:prstDash val="solid"/>
          </a:ln>
        </p:spPr>
      </p:sp>
      <p:sp>
        <p:nvSpPr>
          <p:cNvPr id="96" name="Shape 94"/>
          <p:cNvSpPr/>
          <p:nvPr/>
        </p:nvSpPr>
        <p:spPr>
          <a:xfrm>
            <a:off x="9564624" y="1984248"/>
            <a:ext cx="44806" cy="44806"/>
          </a:xfrm>
          <a:prstGeom prst="ellipse">
            <a:avLst/>
          </a:prstGeom>
          <a:solidFill>
            <a:srgbClr val="C2C2BD"/>
          </a:solidFill>
          <a:ln w="12700">
            <a:solidFill>
              <a:srgbClr val="C2C2BD">
                <a:alpha val="0"/>
              </a:srgbClr>
            </a:solidFill>
            <a:prstDash val="solid"/>
          </a:ln>
        </p:spPr>
      </p:sp>
      <p:sp>
        <p:nvSpPr>
          <p:cNvPr id="97" name="Shape 95"/>
          <p:cNvSpPr/>
          <p:nvPr/>
        </p:nvSpPr>
        <p:spPr>
          <a:xfrm>
            <a:off x="704088" y="640080"/>
            <a:ext cx="475488" cy="475488"/>
          </a:xfrm>
          <a:prstGeom prst="roundRect">
            <a:avLst>
              <a:gd name="adj" fmla="val 19231"/>
            </a:avLst>
          </a:prstGeom>
          <a:solidFill>
            <a:srgbClr val="D71928"/>
          </a:solidFill>
          <a:ln w="12700">
            <a:solidFill>
              <a:srgbClr val="D71928">
                <a:alpha val="0"/>
              </a:srgbClr>
            </a:solidFill>
            <a:prstDash val="solid"/>
          </a:ln>
        </p:spPr>
      </p:sp>
      <p:sp>
        <p:nvSpPr>
          <p:cNvPr id="98" name="Shape 96"/>
          <p:cNvSpPr/>
          <p:nvPr/>
        </p:nvSpPr>
        <p:spPr>
          <a:xfrm>
            <a:off x="795528" y="841248"/>
            <a:ext cx="50292" cy="118872"/>
          </a:xfrm>
          <a:prstGeom prst="roundRect">
            <a:avLst>
              <a:gd name="adj" fmla="val 14545"/>
            </a:avLst>
          </a:prstGeom>
          <a:solidFill>
            <a:srgbClr val="F5F5F2"/>
          </a:solidFill>
          <a:ln w="12700">
            <a:solidFill>
              <a:srgbClr val="F5F5F2">
                <a:alpha val="0"/>
              </a:srgbClr>
            </a:solidFill>
            <a:prstDash val="solid"/>
          </a:ln>
        </p:spPr>
      </p:sp>
      <p:sp>
        <p:nvSpPr>
          <p:cNvPr id="99" name="Shape 97"/>
          <p:cNvSpPr/>
          <p:nvPr/>
        </p:nvSpPr>
        <p:spPr>
          <a:xfrm>
            <a:off x="870509" y="795528"/>
            <a:ext cx="50292" cy="164592"/>
          </a:xfrm>
          <a:prstGeom prst="roundRect">
            <a:avLst>
              <a:gd name="adj" fmla="val 14545"/>
            </a:avLst>
          </a:prstGeom>
          <a:solidFill>
            <a:srgbClr val="F5F5F2"/>
          </a:solidFill>
          <a:ln w="12700">
            <a:solidFill>
              <a:srgbClr val="F5F5F2">
                <a:alpha val="0"/>
              </a:srgbClr>
            </a:solidFill>
            <a:prstDash val="solid"/>
          </a:ln>
        </p:spPr>
      </p:sp>
      <p:sp>
        <p:nvSpPr>
          <p:cNvPr id="100" name="Shape 98"/>
          <p:cNvSpPr/>
          <p:nvPr/>
        </p:nvSpPr>
        <p:spPr>
          <a:xfrm>
            <a:off x="945490" y="749808"/>
            <a:ext cx="50292" cy="210312"/>
          </a:xfrm>
          <a:prstGeom prst="roundRect">
            <a:avLst>
              <a:gd name="adj" fmla="val 14545"/>
            </a:avLst>
          </a:prstGeom>
          <a:solidFill>
            <a:srgbClr val="F5F5F2"/>
          </a:solidFill>
          <a:ln w="12700">
            <a:solidFill>
              <a:srgbClr val="F5F5F2">
                <a:alpha val="0"/>
              </a:srgbClr>
            </a:solidFill>
            <a:prstDash val="solid"/>
          </a:ln>
        </p:spPr>
      </p:sp>
      <p:sp>
        <p:nvSpPr>
          <p:cNvPr id="101" name="Shape 99"/>
          <p:cNvSpPr/>
          <p:nvPr/>
        </p:nvSpPr>
        <p:spPr>
          <a:xfrm>
            <a:off x="1455725" y="722376"/>
            <a:ext cx="31090" cy="31090"/>
          </a:xfrm>
          <a:prstGeom prst="ellipse">
            <a:avLst/>
          </a:prstGeom>
          <a:solidFill>
            <a:srgbClr val="FFFFFF"/>
          </a:solidFill>
          <a:ln w="12700">
            <a:solidFill>
              <a:srgbClr val="FFFFFF">
                <a:alpha val="0"/>
              </a:srgbClr>
            </a:solidFill>
            <a:prstDash val="solid"/>
          </a:ln>
        </p:spPr>
      </p:sp>
      <p:sp>
        <p:nvSpPr>
          <p:cNvPr id="102" name="Shape 100"/>
          <p:cNvSpPr/>
          <p:nvPr/>
        </p:nvSpPr>
        <p:spPr>
          <a:xfrm>
            <a:off x="1512418" y="722376"/>
            <a:ext cx="31090" cy="31090"/>
          </a:xfrm>
          <a:prstGeom prst="ellipse">
            <a:avLst/>
          </a:prstGeom>
          <a:solidFill>
            <a:srgbClr val="FFFFFF"/>
          </a:solidFill>
          <a:ln w="12700">
            <a:solidFill>
              <a:srgbClr val="FFFFFF">
                <a:alpha val="0"/>
              </a:srgbClr>
            </a:solidFill>
            <a:prstDash val="solid"/>
          </a:ln>
        </p:spPr>
      </p:sp>
      <p:sp>
        <p:nvSpPr>
          <p:cNvPr id="103" name="Shape 101"/>
          <p:cNvSpPr/>
          <p:nvPr/>
        </p:nvSpPr>
        <p:spPr>
          <a:xfrm>
            <a:off x="1569110" y="722376"/>
            <a:ext cx="31090" cy="31090"/>
          </a:xfrm>
          <a:prstGeom prst="ellipse">
            <a:avLst/>
          </a:prstGeom>
          <a:solidFill>
            <a:srgbClr val="FFFFFF"/>
          </a:solidFill>
          <a:ln w="12700">
            <a:solidFill>
              <a:srgbClr val="FFFFFF">
                <a:alpha val="0"/>
              </a:srgbClr>
            </a:solidFill>
            <a:prstDash val="solid"/>
          </a:ln>
        </p:spPr>
      </p:sp>
      <p:sp>
        <p:nvSpPr>
          <p:cNvPr id="104" name="Shape 102"/>
          <p:cNvSpPr/>
          <p:nvPr/>
        </p:nvSpPr>
        <p:spPr>
          <a:xfrm>
            <a:off x="1625803" y="722376"/>
            <a:ext cx="31090" cy="31090"/>
          </a:xfrm>
          <a:prstGeom prst="ellipse">
            <a:avLst/>
          </a:prstGeom>
          <a:solidFill>
            <a:srgbClr val="FFFFFF"/>
          </a:solidFill>
          <a:ln w="12700">
            <a:solidFill>
              <a:srgbClr val="FFFFFF">
                <a:alpha val="0"/>
              </a:srgbClr>
            </a:solidFill>
            <a:prstDash val="solid"/>
          </a:ln>
        </p:spPr>
      </p:sp>
      <p:sp>
        <p:nvSpPr>
          <p:cNvPr id="105" name="Shape 103"/>
          <p:cNvSpPr/>
          <p:nvPr/>
        </p:nvSpPr>
        <p:spPr>
          <a:xfrm>
            <a:off x="1399032" y="779069"/>
            <a:ext cx="31090" cy="31090"/>
          </a:xfrm>
          <a:prstGeom prst="ellipse">
            <a:avLst/>
          </a:prstGeom>
          <a:solidFill>
            <a:srgbClr val="FFFFFF"/>
          </a:solidFill>
          <a:ln w="12700">
            <a:solidFill>
              <a:srgbClr val="FFFFFF">
                <a:alpha val="0"/>
              </a:srgbClr>
            </a:solidFill>
            <a:prstDash val="solid"/>
          </a:ln>
        </p:spPr>
      </p:sp>
      <p:sp>
        <p:nvSpPr>
          <p:cNvPr id="106" name="Shape 104"/>
          <p:cNvSpPr/>
          <p:nvPr/>
        </p:nvSpPr>
        <p:spPr>
          <a:xfrm>
            <a:off x="1399032" y="835762"/>
            <a:ext cx="31090" cy="31090"/>
          </a:xfrm>
          <a:prstGeom prst="ellipse">
            <a:avLst/>
          </a:prstGeom>
          <a:solidFill>
            <a:srgbClr val="FFFFFF"/>
          </a:solidFill>
          <a:ln w="12700">
            <a:solidFill>
              <a:srgbClr val="FFFFFF">
                <a:alpha val="0"/>
              </a:srgbClr>
            </a:solidFill>
            <a:prstDash val="solid"/>
          </a:ln>
        </p:spPr>
      </p:sp>
      <p:sp>
        <p:nvSpPr>
          <p:cNvPr id="107" name="Shape 105"/>
          <p:cNvSpPr/>
          <p:nvPr/>
        </p:nvSpPr>
        <p:spPr>
          <a:xfrm>
            <a:off x="1455725" y="892454"/>
            <a:ext cx="31090" cy="31090"/>
          </a:xfrm>
          <a:prstGeom prst="ellipse">
            <a:avLst/>
          </a:prstGeom>
          <a:solidFill>
            <a:srgbClr val="FFFFFF"/>
          </a:solidFill>
          <a:ln w="12700">
            <a:solidFill>
              <a:srgbClr val="FFFFFF">
                <a:alpha val="0"/>
              </a:srgbClr>
            </a:solidFill>
            <a:prstDash val="solid"/>
          </a:ln>
        </p:spPr>
      </p:sp>
      <p:sp>
        <p:nvSpPr>
          <p:cNvPr id="108" name="Shape 106"/>
          <p:cNvSpPr/>
          <p:nvPr/>
        </p:nvSpPr>
        <p:spPr>
          <a:xfrm>
            <a:off x="1512418" y="892454"/>
            <a:ext cx="31090" cy="31090"/>
          </a:xfrm>
          <a:prstGeom prst="ellipse">
            <a:avLst/>
          </a:prstGeom>
          <a:solidFill>
            <a:srgbClr val="FFFFFF"/>
          </a:solidFill>
          <a:ln w="12700">
            <a:solidFill>
              <a:srgbClr val="FFFFFF">
                <a:alpha val="0"/>
              </a:srgbClr>
            </a:solidFill>
            <a:prstDash val="solid"/>
          </a:ln>
        </p:spPr>
      </p:sp>
      <p:sp>
        <p:nvSpPr>
          <p:cNvPr id="109" name="Shape 107"/>
          <p:cNvSpPr/>
          <p:nvPr/>
        </p:nvSpPr>
        <p:spPr>
          <a:xfrm>
            <a:off x="1569110" y="892454"/>
            <a:ext cx="31090" cy="31090"/>
          </a:xfrm>
          <a:prstGeom prst="ellipse">
            <a:avLst/>
          </a:prstGeom>
          <a:solidFill>
            <a:srgbClr val="FFFFFF"/>
          </a:solidFill>
          <a:ln w="12700">
            <a:solidFill>
              <a:srgbClr val="FFFFFF">
                <a:alpha val="0"/>
              </a:srgbClr>
            </a:solidFill>
            <a:prstDash val="solid"/>
          </a:ln>
        </p:spPr>
      </p:sp>
      <p:sp>
        <p:nvSpPr>
          <p:cNvPr id="110" name="Shape 108"/>
          <p:cNvSpPr/>
          <p:nvPr/>
        </p:nvSpPr>
        <p:spPr>
          <a:xfrm>
            <a:off x="1625803" y="949147"/>
            <a:ext cx="31090" cy="31090"/>
          </a:xfrm>
          <a:prstGeom prst="ellipse">
            <a:avLst/>
          </a:prstGeom>
          <a:solidFill>
            <a:srgbClr val="FFFFFF"/>
          </a:solidFill>
          <a:ln w="12700">
            <a:solidFill>
              <a:srgbClr val="FFFFFF">
                <a:alpha val="0"/>
              </a:srgbClr>
            </a:solidFill>
            <a:prstDash val="solid"/>
          </a:ln>
        </p:spPr>
      </p:sp>
      <p:sp>
        <p:nvSpPr>
          <p:cNvPr id="111" name="Shape 109"/>
          <p:cNvSpPr/>
          <p:nvPr/>
        </p:nvSpPr>
        <p:spPr>
          <a:xfrm>
            <a:off x="1625803" y="1005840"/>
            <a:ext cx="31090" cy="31090"/>
          </a:xfrm>
          <a:prstGeom prst="ellipse">
            <a:avLst/>
          </a:prstGeom>
          <a:solidFill>
            <a:srgbClr val="FFFFFF"/>
          </a:solidFill>
          <a:ln w="12700">
            <a:solidFill>
              <a:srgbClr val="FFFFFF">
                <a:alpha val="0"/>
              </a:srgbClr>
            </a:solidFill>
            <a:prstDash val="solid"/>
          </a:ln>
        </p:spPr>
      </p:sp>
      <p:sp>
        <p:nvSpPr>
          <p:cNvPr id="112" name="Shape 110"/>
          <p:cNvSpPr/>
          <p:nvPr/>
        </p:nvSpPr>
        <p:spPr>
          <a:xfrm>
            <a:off x="1399032" y="1062533"/>
            <a:ext cx="31090" cy="31090"/>
          </a:xfrm>
          <a:prstGeom prst="ellipse">
            <a:avLst/>
          </a:prstGeom>
          <a:solidFill>
            <a:srgbClr val="FFFFFF"/>
          </a:solidFill>
          <a:ln w="12700">
            <a:solidFill>
              <a:srgbClr val="FFFFFF">
                <a:alpha val="0"/>
              </a:srgbClr>
            </a:solidFill>
            <a:prstDash val="solid"/>
          </a:ln>
        </p:spPr>
      </p:sp>
      <p:sp>
        <p:nvSpPr>
          <p:cNvPr id="113" name="Shape 111"/>
          <p:cNvSpPr/>
          <p:nvPr/>
        </p:nvSpPr>
        <p:spPr>
          <a:xfrm>
            <a:off x="1455725" y="1062533"/>
            <a:ext cx="31090" cy="31090"/>
          </a:xfrm>
          <a:prstGeom prst="ellipse">
            <a:avLst/>
          </a:prstGeom>
          <a:solidFill>
            <a:srgbClr val="FFFFFF"/>
          </a:solidFill>
          <a:ln w="12700">
            <a:solidFill>
              <a:srgbClr val="FFFFFF">
                <a:alpha val="0"/>
              </a:srgbClr>
            </a:solidFill>
            <a:prstDash val="solid"/>
          </a:ln>
        </p:spPr>
      </p:sp>
      <p:sp>
        <p:nvSpPr>
          <p:cNvPr id="114" name="Shape 112"/>
          <p:cNvSpPr/>
          <p:nvPr/>
        </p:nvSpPr>
        <p:spPr>
          <a:xfrm>
            <a:off x="1512418" y="1062533"/>
            <a:ext cx="31090" cy="31090"/>
          </a:xfrm>
          <a:prstGeom prst="ellipse">
            <a:avLst/>
          </a:prstGeom>
          <a:solidFill>
            <a:srgbClr val="FFFFFF"/>
          </a:solidFill>
          <a:ln w="12700">
            <a:solidFill>
              <a:srgbClr val="FFFFFF">
                <a:alpha val="0"/>
              </a:srgbClr>
            </a:solidFill>
            <a:prstDash val="solid"/>
          </a:ln>
        </p:spPr>
      </p:sp>
      <p:sp>
        <p:nvSpPr>
          <p:cNvPr id="115" name="Shape 113"/>
          <p:cNvSpPr/>
          <p:nvPr/>
        </p:nvSpPr>
        <p:spPr>
          <a:xfrm>
            <a:off x="1569110" y="1062533"/>
            <a:ext cx="31090" cy="31090"/>
          </a:xfrm>
          <a:prstGeom prst="ellipse">
            <a:avLst/>
          </a:prstGeom>
          <a:solidFill>
            <a:srgbClr val="FFFFFF"/>
          </a:solidFill>
          <a:ln w="12700">
            <a:solidFill>
              <a:srgbClr val="FFFFFF">
                <a:alpha val="0"/>
              </a:srgbClr>
            </a:solidFill>
            <a:prstDash val="solid"/>
          </a:ln>
        </p:spPr>
      </p:sp>
      <p:sp>
        <p:nvSpPr>
          <p:cNvPr id="116" name="Shape 114"/>
          <p:cNvSpPr/>
          <p:nvPr/>
        </p:nvSpPr>
        <p:spPr>
          <a:xfrm>
            <a:off x="1739189" y="722376"/>
            <a:ext cx="31090" cy="31090"/>
          </a:xfrm>
          <a:prstGeom prst="ellipse">
            <a:avLst/>
          </a:prstGeom>
          <a:solidFill>
            <a:srgbClr val="FFFFFF"/>
          </a:solidFill>
          <a:ln w="12700">
            <a:solidFill>
              <a:srgbClr val="FFFFFF">
                <a:alpha val="0"/>
              </a:srgbClr>
            </a:solidFill>
            <a:prstDash val="solid"/>
          </a:ln>
        </p:spPr>
      </p:sp>
      <p:sp>
        <p:nvSpPr>
          <p:cNvPr id="117" name="Shape 115"/>
          <p:cNvSpPr/>
          <p:nvPr/>
        </p:nvSpPr>
        <p:spPr>
          <a:xfrm>
            <a:off x="1795882" y="722376"/>
            <a:ext cx="31090" cy="31090"/>
          </a:xfrm>
          <a:prstGeom prst="ellipse">
            <a:avLst/>
          </a:prstGeom>
          <a:solidFill>
            <a:srgbClr val="FFFFFF"/>
          </a:solidFill>
          <a:ln w="12700">
            <a:solidFill>
              <a:srgbClr val="FFFFFF">
                <a:alpha val="0"/>
              </a:srgbClr>
            </a:solidFill>
            <a:prstDash val="solid"/>
          </a:ln>
        </p:spPr>
      </p:sp>
      <p:sp>
        <p:nvSpPr>
          <p:cNvPr id="118" name="Shape 116"/>
          <p:cNvSpPr/>
          <p:nvPr/>
        </p:nvSpPr>
        <p:spPr>
          <a:xfrm>
            <a:off x="1852574" y="722376"/>
            <a:ext cx="31090" cy="31090"/>
          </a:xfrm>
          <a:prstGeom prst="ellipse">
            <a:avLst/>
          </a:prstGeom>
          <a:solidFill>
            <a:srgbClr val="FFFFFF"/>
          </a:solidFill>
          <a:ln w="12700">
            <a:solidFill>
              <a:srgbClr val="FFFFFF">
                <a:alpha val="0"/>
              </a:srgbClr>
            </a:solidFill>
            <a:prstDash val="solid"/>
          </a:ln>
        </p:spPr>
      </p:sp>
      <p:sp>
        <p:nvSpPr>
          <p:cNvPr id="119" name="Shape 117"/>
          <p:cNvSpPr/>
          <p:nvPr/>
        </p:nvSpPr>
        <p:spPr>
          <a:xfrm>
            <a:off x="1909267" y="722376"/>
            <a:ext cx="31090" cy="31090"/>
          </a:xfrm>
          <a:prstGeom prst="ellipse">
            <a:avLst/>
          </a:prstGeom>
          <a:solidFill>
            <a:srgbClr val="FFFFFF"/>
          </a:solidFill>
          <a:ln w="12700">
            <a:solidFill>
              <a:srgbClr val="FFFFFF">
                <a:alpha val="0"/>
              </a:srgbClr>
            </a:solidFill>
            <a:prstDash val="solid"/>
          </a:ln>
        </p:spPr>
      </p:sp>
      <p:sp>
        <p:nvSpPr>
          <p:cNvPr id="120" name="Shape 118"/>
          <p:cNvSpPr/>
          <p:nvPr/>
        </p:nvSpPr>
        <p:spPr>
          <a:xfrm>
            <a:off x="1965960" y="722376"/>
            <a:ext cx="31090" cy="31090"/>
          </a:xfrm>
          <a:prstGeom prst="ellipse">
            <a:avLst/>
          </a:prstGeom>
          <a:solidFill>
            <a:srgbClr val="FFFFFF"/>
          </a:solidFill>
          <a:ln w="12700">
            <a:solidFill>
              <a:srgbClr val="FFFFFF">
                <a:alpha val="0"/>
              </a:srgbClr>
            </a:solidFill>
            <a:prstDash val="solid"/>
          </a:ln>
        </p:spPr>
      </p:sp>
      <p:sp>
        <p:nvSpPr>
          <p:cNvPr id="121" name="Shape 119"/>
          <p:cNvSpPr/>
          <p:nvPr/>
        </p:nvSpPr>
        <p:spPr>
          <a:xfrm>
            <a:off x="1852574" y="779069"/>
            <a:ext cx="31090" cy="31090"/>
          </a:xfrm>
          <a:prstGeom prst="ellipse">
            <a:avLst/>
          </a:prstGeom>
          <a:solidFill>
            <a:srgbClr val="FFFFFF"/>
          </a:solidFill>
          <a:ln w="12700">
            <a:solidFill>
              <a:srgbClr val="FFFFFF">
                <a:alpha val="0"/>
              </a:srgbClr>
            </a:solidFill>
            <a:prstDash val="solid"/>
          </a:ln>
        </p:spPr>
      </p:sp>
      <p:sp>
        <p:nvSpPr>
          <p:cNvPr id="122" name="Shape 120"/>
          <p:cNvSpPr/>
          <p:nvPr/>
        </p:nvSpPr>
        <p:spPr>
          <a:xfrm>
            <a:off x="1852574" y="835762"/>
            <a:ext cx="31090" cy="31090"/>
          </a:xfrm>
          <a:prstGeom prst="ellipse">
            <a:avLst/>
          </a:prstGeom>
          <a:solidFill>
            <a:srgbClr val="FFFFFF"/>
          </a:solidFill>
          <a:ln w="12700">
            <a:solidFill>
              <a:srgbClr val="FFFFFF">
                <a:alpha val="0"/>
              </a:srgbClr>
            </a:solidFill>
            <a:prstDash val="solid"/>
          </a:ln>
        </p:spPr>
      </p:sp>
      <p:sp>
        <p:nvSpPr>
          <p:cNvPr id="123" name="Shape 121"/>
          <p:cNvSpPr/>
          <p:nvPr/>
        </p:nvSpPr>
        <p:spPr>
          <a:xfrm>
            <a:off x="1852574" y="892454"/>
            <a:ext cx="31090" cy="31090"/>
          </a:xfrm>
          <a:prstGeom prst="ellipse">
            <a:avLst/>
          </a:prstGeom>
          <a:solidFill>
            <a:srgbClr val="FFFFFF"/>
          </a:solidFill>
          <a:ln w="12700">
            <a:solidFill>
              <a:srgbClr val="FFFFFF">
                <a:alpha val="0"/>
              </a:srgbClr>
            </a:solidFill>
            <a:prstDash val="solid"/>
          </a:ln>
        </p:spPr>
      </p:sp>
      <p:sp>
        <p:nvSpPr>
          <p:cNvPr id="124" name="Shape 122"/>
          <p:cNvSpPr/>
          <p:nvPr/>
        </p:nvSpPr>
        <p:spPr>
          <a:xfrm>
            <a:off x="1852574" y="949147"/>
            <a:ext cx="31090" cy="31090"/>
          </a:xfrm>
          <a:prstGeom prst="ellipse">
            <a:avLst/>
          </a:prstGeom>
          <a:solidFill>
            <a:srgbClr val="FFFFFF"/>
          </a:solidFill>
          <a:ln w="12700">
            <a:solidFill>
              <a:srgbClr val="FFFFFF">
                <a:alpha val="0"/>
              </a:srgbClr>
            </a:solidFill>
            <a:prstDash val="solid"/>
          </a:ln>
        </p:spPr>
      </p:sp>
      <p:sp>
        <p:nvSpPr>
          <p:cNvPr id="125" name="Shape 123"/>
          <p:cNvSpPr/>
          <p:nvPr/>
        </p:nvSpPr>
        <p:spPr>
          <a:xfrm>
            <a:off x="1852574" y="1005840"/>
            <a:ext cx="31090" cy="31090"/>
          </a:xfrm>
          <a:prstGeom prst="ellipse">
            <a:avLst/>
          </a:prstGeom>
          <a:solidFill>
            <a:srgbClr val="FFFFFF"/>
          </a:solidFill>
          <a:ln w="12700">
            <a:solidFill>
              <a:srgbClr val="FFFFFF">
                <a:alpha val="0"/>
              </a:srgbClr>
            </a:solidFill>
            <a:prstDash val="solid"/>
          </a:ln>
        </p:spPr>
      </p:sp>
      <p:sp>
        <p:nvSpPr>
          <p:cNvPr id="126" name="Shape 124"/>
          <p:cNvSpPr/>
          <p:nvPr/>
        </p:nvSpPr>
        <p:spPr>
          <a:xfrm>
            <a:off x="1852574" y="1062533"/>
            <a:ext cx="31090" cy="31090"/>
          </a:xfrm>
          <a:prstGeom prst="ellipse">
            <a:avLst/>
          </a:prstGeom>
          <a:solidFill>
            <a:srgbClr val="FFFFFF"/>
          </a:solidFill>
          <a:ln w="12700">
            <a:solidFill>
              <a:srgbClr val="FFFFFF">
                <a:alpha val="0"/>
              </a:srgbClr>
            </a:solidFill>
            <a:prstDash val="solid"/>
          </a:ln>
        </p:spPr>
      </p:sp>
      <p:sp>
        <p:nvSpPr>
          <p:cNvPr id="127" name="Shape 125"/>
          <p:cNvSpPr/>
          <p:nvPr/>
        </p:nvSpPr>
        <p:spPr>
          <a:xfrm>
            <a:off x="2136038" y="722376"/>
            <a:ext cx="31090" cy="31090"/>
          </a:xfrm>
          <a:prstGeom prst="ellipse">
            <a:avLst/>
          </a:prstGeom>
          <a:solidFill>
            <a:srgbClr val="FFFFFF"/>
          </a:solidFill>
          <a:ln w="12700">
            <a:solidFill>
              <a:srgbClr val="FFFFFF">
                <a:alpha val="0"/>
              </a:srgbClr>
            </a:solidFill>
            <a:prstDash val="solid"/>
          </a:ln>
        </p:spPr>
      </p:sp>
      <p:sp>
        <p:nvSpPr>
          <p:cNvPr id="128" name="Shape 126"/>
          <p:cNvSpPr/>
          <p:nvPr/>
        </p:nvSpPr>
        <p:spPr>
          <a:xfrm>
            <a:off x="2192731" y="722376"/>
            <a:ext cx="31090" cy="31090"/>
          </a:xfrm>
          <a:prstGeom prst="ellipse">
            <a:avLst/>
          </a:prstGeom>
          <a:solidFill>
            <a:srgbClr val="FFFFFF"/>
          </a:solidFill>
          <a:ln w="12700">
            <a:solidFill>
              <a:srgbClr val="FFFFFF">
                <a:alpha val="0"/>
              </a:srgbClr>
            </a:solidFill>
            <a:prstDash val="solid"/>
          </a:ln>
        </p:spPr>
      </p:sp>
      <p:sp>
        <p:nvSpPr>
          <p:cNvPr id="129" name="Shape 127"/>
          <p:cNvSpPr/>
          <p:nvPr/>
        </p:nvSpPr>
        <p:spPr>
          <a:xfrm>
            <a:off x="2249424" y="722376"/>
            <a:ext cx="31090" cy="31090"/>
          </a:xfrm>
          <a:prstGeom prst="ellipse">
            <a:avLst/>
          </a:prstGeom>
          <a:solidFill>
            <a:srgbClr val="FFFFFF"/>
          </a:solidFill>
          <a:ln w="12700">
            <a:solidFill>
              <a:srgbClr val="FFFFFF">
                <a:alpha val="0"/>
              </a:srgbClr>
            </a:solidFill>
            <a:prstDash val="solid"/>
          </a:ln>
        </p:spPr>
      </p:sp>
      <p:sp>
        <p:nvSpPr>
          <p:cNvPr id="130" name="Shape 128"/>
          <p:cNvSpPr/>
          <p:nvPr/>
        </p:nvSpPr>
        <p:spPr>
          <a:xfrm>
            <a:off x="2079346" y="779069"/>
            <a:ext cx="31090" cy="31090"/>
          </a:xfrm>
          <a:prstGeom prst="ellipse">
            <a:avLst/>
          </a:prstGeom>
          <a:solidFill>
            <a:srgbClr val="FFFFFF"/>
          </a:solidFill>
          <a:ln w="12700">
            <a:solidFill>
              <a:srgbClr val="FFFFFF">
                <a:alpha val="0"/>
              </a:srgbClr>
            </a:solidFill>
            <a:prstDash val="solid"/>
          </a:ln>
        </p:spPr>
      </p:sp>
      <p:sp>
        <p:nvSpPr>
          <p:cNvPr id="131" name="Shape 129"/>
          <p:cNvSpPr/>
          <p:nvPr/>
        </p:nvSpPr>
        <p:spPr>
          <a:xfrm>
            <a:off x="2306117" y="779069"/>
            <a:ext cx="31090" cy="31090"/>
          </a:xfrm>
          <a:prstGeom prst="ellipse">
            <a:avLst/>
          </a:prstGeom>
          <a:solidFill>
            <a:srgbClr val="FFFFFF"/>
          </a:solidFill>
          <a:ln w="12700">
            <a:solidFill>
              <a:srgbClr val="FFFFFF">
                <a:alpha val="0"/>
              </a:srgbClr>
            </a:solidFill>
            <a:prstDash val="solid"/>
          </a:ln>
        </p:spPr>
      </p:sp>
      <p:sp>
        <p:nvSpPr>
          <p:cNvPr id="132" name="Shape 130"/>
          <p:cNvSpPr/>
          <p:nvPr/>
        </p:nvSpPr>
        <p:spPr>
          <a:xfrm>
            <a:off x="2079346" y="835762"/>
            <a:ext cx="31090" cy="31090"/>
          </a:xfrm>
          <a:prstGeom prst="ellipse">
            <a:avLst/>
          </a:prstGeom>
          <a:solidFill>
            <a:srgbClr val="FFFFFF"/>
          </a:solidFill>
          <a:ln w="12700">
            <a:solidFill>
              <a:srgbClr val="FFFFFF">
                <a:alpha val="0"/>
              </a:srgbClr>
            </a:solidFill>
            <a:prstDash val="solid"/>
          </a:ln>
        </p:spPr>
      </p:sp>
      <p:sp>
        <p:nvSpPr>
          <p:cNvPr id="133" name="Shape 131"/>
          <p:cNvSpPr/>
          <p:nvPr/>
        </p:nvSpPr>
        <p:spPr>
          <a:xfrm>
            <a:off x="2306117" y="835762"/>
            <a:ext cx="31090" cy="31090"/>
          </a:xfrm>
          <a:prstGeom prst="ellipse">
            <a:avLst/>
          </a:prstGeom>
          <a:solidFill>
            <a:srgbClr val="FFFFFF"/>
          </a:solidFill>
          <a:ln w="12700">
            <a:solidFill>
              <a:srgbClr val="FFFFFF">
                <a:alpha val="0"/>
              </a:srgbClr>
            </a:solidFill>
            <a:prstDash val="solid"/>
          </a:ln>
        </p:spPr>
      </p:sp>
      <p:sp>
        <p:nvSpPr>
          <p:cNvPr id="134" name="Shape 132"/>
          <p:cNvSpPr/>
          <p:nvPr/>
        </p:nvSpPr>
        <p:spPr>
          <a:xfrm>
            <a:off x="2079346" y="892454"/>
            <a:ext cx="31090" cy="31090"/>
          </a:xfrm>
          <a:prstGeom prst="ellipse">
            <a:avLst/>
          </a:prstGeom>
          <a:solidFill>
            <a:srgbClr val="FFFFFF"/>
          </a:solidFill>
          <a:ln w="12700">
            <a:solidFill>
              <a:srgbClr val="FFFFFF">
                <a:alpha val="0"/>
              </a:srgbClr>
            </a:solidFill>
            <a:prstDash val="solid"/>
          </a:ln>
        </p:spPr>
      </p:sp>
      <p:sp>
        <p:nvSpPr>
          <p:cNvPr id="135" name="Shape 133"/>
          <p:cNvSpPr/>
          <p:nvPr/>
        </p:nvSpPr>
        <p:spPr>
          <a:xfrm>
            <a:off x="2306117" y="892454"/>
            <a:ext cx="31090" cy="31090"/>
          </a:xfrm>
          <a:prstGeom prst="ellipse">
            <a:avLst/>
          </a:prstGeom>
          <a:solidFill>
            <a:srgbClr val="FFFFFF"/>
          </a:solidFill>
          <a:ln w="12700">
            <a:solidFill>
              <a:srgbClr val="FFFFFF">
                <a:alpha val="0"/>
              </a:srgbClr>
            </a:solidFill>
            <a:prstDash val="solid"/>
          </a:ln>
        </p:spPr>
      </p:sp>
      <p:sp>
        <p:nvSpPr>
          <p:cNvPr id="136" name="Shape 134"/>
          <p:cNvSpPr/>
          <p:nvPr/>
        </p:nvSpPr>
        <p:spPr>
          <a:xfrm>
            <a:off x="2079346" y="949147"/>
            <a:ext cx="31090" cy="31090"/>
          </a:xfrm>
          <a:prstGeom prst="ellipse">
            <a:avLst/>
          </a:prstGeom>
          <a:solidFill>
            <a:srgbClr val="FFFFFF"/>
          </a:solidFill>
          <a:ln w="12700">
            <a:solidFill>
              <a:srgbClr val="FFFFFF">
                <a:alpha val="0"/>
              </a:srgbClr>
            </a:solidFill>
            <a:prstDash val="solid"/>
          </a:ln>
        </p:spPr>
      </p:sp>
      <p:sp>
        <p:nvSpPr>
          <p:cNvPr id="137" name="Shape 135"/>
          <p:cNvSpPr/>
          <p:nvPr/>
        </p:nvSpPr>
        <p:spPr>
          <a:xfrm>
            <a:off x="2306117" y="949147"/>
            <a:ext cx="31090" cy="31090"/>
          </a:xfrm>
          <a:prstGeom prst="ellipse">
            <a:avLst/>
          </a:prstGeom>
          <a:solidFill>
            <a:srgbClr val="FFFFFF"/>
          </a:solidFill>
          <a:ln w="12700">
            <a:solidFill>
              <a:srgbClr val="FFFFFF">
                <a:alpha val="0"/>
              </a:srgbClr>
            </a:solidFill>
            <a:prstDash val="solid"/>
          </a:ln>
        </p:spPr>
      </p:sp>
      <p:sp>
        <p:nvSpPr>
          <p:cNvPr id="138" name="Shape 136"/>
          <p:cNvSpPr/>
          <p:nvPr/>
        </p:nvSpPr>
        <p:spPr>
          <a:xfrm>
            <a:off x="2079346" y="1005840"/>
            <a:ext cx="31090" cy="31090"/>
          </a:xfrm>
          <a:prstGeom prst="ellipse">
            <a:avLst/>
          </a:prstGeom>
          <a:solidFill>
            <a:srgbClr val="FFFFFF"/>
          </a:solidFill>
          <a:ln w="12700">
            <a:solidFill>
              <a:srgbClr val="FFFFFF">
                <a:alpha val="0"/>
              </a:srgbClr>
            </a:solidFill>
            <a:prstDash val="solid"/>
          </a:ln>
        </p:spPr>
      </p:sp>
      <p:sp>
        <p:nvSpPr>
          <p:cNvPr id="139" name="Shape 137"/>
          <p:cNvSpPr/>
          <p:nvPr/>
        </p:nvSpPr>
        <p:spPr>
          <a:xfrm>
            <a:off x="2306117" y="1005840"/>
            <a:ext cx="31090" cy="31090"/>
          </a:xfrm>
          <a:prstGeom prst="ellipse">
            <a:avLst/>
          </a:prstGeom>
          <a:solidFill>
            <a:srgbClr val="FFFFFF"/>
          </a:solidFill>
          <a:ln w="12700">
            <a:solidFill>
              <a:srgbClr val="FFFFFF">
                <a:alpha val="0"/>
              </a:srgbClr>
            </a:solidFill>
            <a:prstDash val="solid"/>
          </a:ln>
        </p:spPr>
      </p:sp>
      <p:sp>
        <p:nvSpPr>
          <p:cNvPr id="140" name="Shape 138"/>
          <p:cNvSpPr/>
          <p:nvPr/>
        </p:nvSpPr>
        <p:spPr>
          <a:xfrm>
            <a:off x="2136038" y="1062533"/>
            <a:ext cx="31090" cy="31090"/>
          </a:xfrm>
          <a:prstGeom prst="ellipse">
            <a:avLst/>
          </a:prstGeom>
          <a:solidFill>
            <a:srgbClr val="FFFFFF"/>
          </a:solidFill>
          <a:ln w="12700">
            <a:solidFill>
              <a:srgbClr val="FFFFFF">
                <a:alpha val="0"/>
              </a:srgbClr>
            </a:solidFill>
            <a:prstDash val="solid"/>
          </a:ln>
        </p:spPr>
      </p:sp>
      <p:sp>
        <p:nvSpPr>
          <p:cNvPr id="141" name="Shape 139"/>
          <p:cNvSpPr/>
          <p:nvPr/>
        </p:nvSpPr>
        <p:spPr>
          <a:xfrm>
            <a:off x="2192731" y="1062533"/>
            <a:ext cx="31090" cy="31090"/>
          </a:xfrm>
          <a:prstGeom prst="ellipse">
            <a:avLst/>
          </a:prstGeom>
          <a:solidFill>
            <a:srgbClr val="FFFFFF"/>
          </a:solidFill>
          <a:ln w="12700">
            <a:solidFill>
              <a:srgbClr val="FFFFFF">
                <a:alpha val="0"/>
              </a:srgbClr>
            </a:solidFill>
            <a:prstDash val="solid"/>
          </a:ln>
        </p:spPr>
      </p:sp>
      <p:sp>
        <p:nvSpPr>
          <p:cNvPr id="142" name="Shape 140"/>
          <p:cNvSpPr/>
          <p:nvPr/>
        </p:nvSpPr>
        <p:spPr>
          <a:xfrm>
            <a:off x="2249424" y="1062533"/>
            <a:ext cx="31090" cy="31090"/>
          </a:xfrm>
          <a:prstGeom prst="ellipse">
            <a:avLst/>
          </a:prstGeom>
          <a:solidFill>
            <a:srgbClr val="FFFFFF"/>
          </a:solidFill>
          <a:ln w="12700">
            <a:solidFill>
              <a:srgbClr val="FFFFFF">
                <a:alpha val="0"/>
              </a:srgbClr>
            </a:solidFill>
            <a:prstDash val="solid"/>
          </a:ln>
        </p:spPr>
      </p:sp>
      <p:sp>
        <p:nvSpPr>
          <p:cNvPr id="143" name="Shape 141"/>
          <p:cNvSpPr/>
          <p:nvPr/>
        </p:nvSpPr>
        <p:spPr>
          <a:xfrm>
            <a:off x="2476195" y="722376"/>
            <a:ext cx="31090" cy="31090"/>
          </a:xfrm>
          <a:prstGeom prst="ellipse">
            <a:avLst/>
          </a:prstGeom>
          <a:solidFill>
            <a:srgbClr val="FFFFFF"/>
          </a:solidFill>
          <a:ln w="12700">
            <a:solidFill>
              <a:srgbClr val="FFFFFF">
                <a:alpha val="0"/>
              </a:srgbClr>
            </a:solidFill>
            <a:prstDash val="solid"/>
          </a:ln>
        </p:spPr>
      </p:sp>
      <p:sp>
        <p:nvSpPr>
          <p:cNvPr id="144" name="Shape 142"/>
          <p:cNvSpPr/>
          <p:nvPr/>
        </p:nvSpPr>
        <p:spPr>
          <a:xfrm>
            <a:off x="2532888" y="722376"/>
            <a:ext cx="31090" cy="31090"/>
          </a:xfrm>
          <a:prstGeom prst="ellipse">
            <a:avLst/>
          </a:prstGeom>
          <a:solidFill>
            <a:srgbClr val="FFFFFF"/>
          </a:solidFill>
          <a:ln w="12700">
            <a:solidFill>
              <a:srgbClr val="FFFFFF">
                <a:alpha val="0"/>
              </a:srgbClr>
            </a:solidFill>
            <a:prstDash val="solid"/>
          </a:ln>
        </p:spPr>
      </p:sp>
      <p:sp>
        <p:nvSpPr>
          <p:cNvPr id="145" name="Shape 143"/>
          <p:cNvSpPr/>
          <p:nvPr/>
        </p:nvSpPr>
        <p:spPr>
          <a:xfrm>
            <a:off x="2589581" y="722376"/>
            <a:ext cx="31090" cy="31090"/>
          </a:xfrm>
          <a:prstGeom prst="ellipse">
            <a:avLst/>
          </a:prstGeom>
          <a:solidFill>
            <a:srgbClr val="FFFFFF"/>
          </a:solidFill>
          <a:ln w="12700">
            <a:solidFill>
              <a:srgbClr val="FFFFFF">
                <a:alpha val="0"/>
              </a:srgbClr>
            </a:solidFill>
            <a:prstDash val="solid"/>
          </a:ln>
        </p:spPr>
      </p:sp>
      <p:sp>
        <p:nvSpPr>
          <p:cNvPr id="146" name="Shape 144"/>
          <p:cNvSpPr/>
          <p:nvPr/>
        </p:nvSpPr>
        <p:spPr>
          <a:xfrm>
            <a:off x="2646274" y="722376"/>
            <a:ext cx="31090" cy="31090"/>
          </a:xfrm>
          <a:prstGeom prst="ellipse">
            <a:avLst/>
          </a:prstGeom>
          <a:solidFill>
            <a:srgbClr val="FFFFFF"/>
          </a:solidFill>
          <a:ln w="12700">
            <a:solidFill>
              <a:srgbClr val="FFFFFF">
                <a:alpha val="0"/>
              </a:srgbClr>
            </a:solidFill>
            <a:prstDash val="solid"/>
          </a:ln>
        </p:spPr>
      </p:sp>
      <p:sp>
        <p:nvSpPr>
          <p:cNvPr id="147" name="Shape 145"/>
          <p:cNvSpPr/>
          <p:nvPr/>
        </p:nvSpPr>
        <p:spPr>
          <a:xfrm>
            <a:off x="2419502" y="779069"/>
            <a:ext cx="31090" cy="31090"/>
          </a:xfrm>
          <a:prstGeom prst="ellipse">
            <a:avLst/>
          </a:prstGeom>
          <a:solidFill>
            <a:srgbClr val="FFFFFF"/>
          </a:solidFill>
          <a:ln w="12700">
            <a:solidFill>
              <a:srgbClr val="FFFFFF">
                <a:alpha val="0"/>
              </a:srgbClr>
            </a:solidFill>
            <a:prstDash val="solid"/>
          </a:ln>
        </p:spPr>
      </p:sp>
      <p:sp>
        <p:nvSpPr>
          <p:cNvPr id="148" name="Shape 146"/>
          <p:cNvSpPr/>
          <p:nvPr/>
        </p:nvSpPr>
        <p:spPr>
          <a:xfrm>
            <a:off x="2419502" y="835762"/>
            <a:ext cx="31090" cy="31090"/>
          </a:xfrm>
          <a:prstGeom prst="ellipse">
            <a:avLst/>
          </a:prstGeom>
          <a:solidFill>
            <a:srgbClr val="FFFFFF"/>
          </a:solidFill>
          <a:ln w="12700">
            <a:solidFill>
              <a:srgbClr val="FFFFFF">
                <a:alpha val="0"/>
              </a:srgbClr>
            </a:solidFill>
            <a:prstDash val="solid"/>
          </a:ln>
        </p:spPr>
      </p:sp>
      <p:sp>
        <p:nvSpPr>
          <p:cNvPr id="149" name="Shape 147"/>
          <p:cNvSpPr/>
          <p:nvPr/>
        </p:nvSpPr>
        <p:spPr>
          <a:xfrm>
            <a:off x="2419502" y="892454"/>
            <a:ext cx="31090" cy="31090"/>
          </a:xfrm>
          <a:prstGeom prst="ellipse">
            <a:avLst/>
          </a:prstGeom>
          <a:solidFill>
            <a:srgbClr val="FFFFFF"/>
          </a:solidFill>
          <a:ln w="12700">
            <a:solidFill>
              <a:srgbClr val="FFFFFF">
                <a:alpha val="0"/>
              </a:srgbClr>
            </a:solidFill>
            <a:prstDash val="solid"/>
          </a:ln>
        </p:spPr>
      </p:sp>
      <p:sp>
        <p:nvSpPr>
          <p:cNvPr id="150" name="Shape 148"/>
          <p:cNvSpPr/>
          <p:nvPr/>
        </p:nvSpPr>
        <p:spPr>
          <a:xfrm>
            <a:off x="2419502" y="949147"/>
            <a:ext cx="31090" cy="31090"/>
          </a:xfrm>
          <a:prstGeom prst="ellipse">
            <a:avLst/>
          </a:prstGeom>
          <a:solidFill>
            <a:srgbClr val="FFFFFF"/>
          </a:solidFill>
          <a:ln w="12700">
            <a:solidFill>
              <a:srgbClr val="FFFFFF">
                <a:alpha val="0"/>
              </a:srgbClr>
            </a:solidFill>
            <a:prstDash val="solid"/>
          </a:ln>
        </p:spPr>
      </p:sp>
      <p:sp>
        <p:nvSpPr>
          <p:cNvPr id="151" name="Shape 149"/>
          <p:cNvSpPr/>
          <p:nvPr/>
        </p:nvSpPr>
        <p:spPr>
          <a:xfrm>
            <a:off x="2419502" y="1005840"/>
            <a:ext cx="31090" cy="31090"/>
          </a:xfrm>
          <a:prstGeom prst="ellipse">
            <a:avLst/>
          </a:prstGeom>
          <a:solidFill>
            <a:srgbClr val="FFFFFF"/>
          </a:solidFill>
          <a:ln w="12700">
            <a:solidFill>
              <a:srgbClr val="FFFFFF">
                <a:alpha val="0"/>
              </a:srgbClr>
            </a:solidFill>
            <a:prstDash val="solid"/>
          </a:ln>
        </p:spPr>
      </p:sp>
      <p:sp>
        <p:nvSpPr>
          <p:cNvPr id="152" name="Shape 150"/>
          <p:cNvSpPr/>
          <p:nvPr/>
        </p:nvSpPr>
        <p:spPr>
          <a:xfrm>
            <a:off x="2476195" y="1062533"/>
            <a:ext cx="31090" cy="31090"/>
          </a:xfrm>
          <a:prstGeom prst="ellipse">
            <a:avLst/>
          </a:prstGeom>
          <a:solidFill>
            <a:srgbClr val="FFFFFF"/>
          </a:solidFill>
          <a:ln w="12700">
            <a:solidFill>
              <a:srgbClr val="FFFFFF">
                <a:alpha val="0"/>
              </a:srgbClr>
            </a:solidFill>
            <a:prstDash val="solid"/>
          </a:ln>
        </p:spPr>
      </p:sp>
      <p:sp>
        <p:nvSpPr>
          <p:cNvPr id="153" name="Shape 151"/>
          <p:cNvSpPr/>
          <p:nvPr/>
        </p:nvSpPr>
        <p:spPr>
          <a:xfrm>
            <a:off x="2532888" y="1062533"/>
            <a:ext cx="31090" cy="31090"/>
          </a:xfrm>
          <a:prstGeom prst="ellipse">
            <a:avLst/>
          </a:prstGeom>
          <a:solidFill>
            <a:srgbClr val="FFFFFF"/>
          </a:solidFill>
          <a:ln w="12700">
            <a:solidFill>
              <a:srgbClr val="FFFFFF">
                <a:alpha val="0"/>
              </a:srgbClr>
            </a:solidFill>
            <a:prstDash val="solid"/>
          </a:ln>
        </p:spPr>
      </p:sp>
      <p:sp>
        <p:nvSpPr>
          <p:cNvPr id="154" name="Shape 152"/>
          <p:cNvSpPr/>
          <p:nvPr/>
        </p:nvSpPr>
        <p:spPr>
          <a:xfrm>
            <a:off x="2589581" y="1062533"/>
            <a:ext cx="31090" cy="31090"/>
          </a:xfrm>
          <a:prstGeom prst="ellipse">
            <a:avLst/>
          </a:prstGeom>
          <a:solidFill>
            <a:srgbClr val="FFFFFF"/>
          </a:solidFill>
          <a:ln w="12700">
            <a:solidFill>
              <a:srgbClr val="FFFFFF">
                <a:alpha val="0"/>
              </a:srgbClr>
            </a:solidFill>
            <a:prstDash val="solid"/>
          </a:ln>
        </p:spPr>
      </p:sp>
      <p:sp>
        <p:nvSpPr>
          <p:cNvPr id="155" name="Shape 153"/>
          <p:cNvSpPr/>
          <p:nvPr/>
        </p:nvSpPr>
        <p:spPr>
          <a:xfrm>
            <a:off x="2646274" y="1062533"/>
            <a:ext cx="31090" cy="31090"/>
          </a:xfrm>
          <a:prstGeom prst="ellipse">
            <a:avLst/>
          </a:prstGeom>
          <a:solidFill>
            <a:srgbClr val="FFFFFF"/>
          </a:solidFill>
          <a:ln w="12700">
            <a:solidFill>
              <a:srgbClr val="FFFFFF">
                <a:alpha val="0"/>
              </a:srgbClr>
            </a:solidFill>
            <a:prstDash val="solid"/>
          </a:ln>
        </p:spPr>
      </p:sp>
      <p:sp>
        <p:nvSpPr>
          <p:cNvPr id="156" name="Shape 154"/>
          <p:cNvSpPr/>
          <p:nvPr/>
        </p:nvSpPr>
        <p:spPr>
          <a:xfrm>
            <a:off x="2759659" y="722376"/>
            <a:ext cx="31090" cy="31090"/>
          </a:xfrm>
          <a:prstGeom prst="ellipse">
            <a:avLst/>
          </a:prstGeom>
          <a:solidFill>
            <a:srgbClr val="FFFFFF"/>
          </a:solidFill>
          <a:ln w="12700">
            <a:solidFill>
              <a:srgbClr val="FFFFFF">
                <a:alpha val="0"/>
              </a:srgbClr>
            </a:solidFill>
            <a:prstDash val="solid"/>
          </a:ln>
        </p:spPr>
      </p:sp>
      <p:sp>
        <p:nvSpPr>
          <p:cNvPr id="157" name="Shape 155"/>
          <p:cNvSpPr/>
          <p:nvPr/>
        </p:nvSpPr>
        <p:spPr>
          <a:xfrm>
            <a:off x="2986430" y="722376"/>
            <a:ext cx="31090" cy="31090"/>
          </a:xfrm>
          <a:prstGeom prst="ellipse">
            <a:avLst/>
          </a:prstGeom>
          <a:solidFill>
            <a:srgbClr val="FFFFFF"/>
          </a:solidFill>
          <a:ln w="12700">
            <a:solidFill>
              <a:srgbClr val="FFFFFF">
                <a:alpha val="0"/>
              </a:srgbClr>
            </a:solidFill>
            <a:prstDash val="solid"/>
          </a:ln>
        </p:spPr>
      </p:sp>
      <p:sp>
        <p:nvSpPr>
          <p:cNvPr id="158" name="Shape 156"/>
          <p:cNvSpPr/>
          <p:nvPr/>
        </p:nvSpPr>
        <p:spPr>
          <a:xfrm>
            <a:off x="2759659" y="779069"/>
            <a:ext cx="31090" cy="31090"/>
          </a:xfrm>
          <a:prstGeom prst="ellipse">
            <a:avLst/>
          </a:prstGeom>
          <a:solidFill>
            <a:srgbClr val="FFFFFF"/>
          </a:solidFill>
          <a:ln w="12700">
            <a:solidFill>
              <a:srgbClr val="FFFFFF">
                <a:alpha val="0"/>
              </a:srgbClr>
            </a:solidFill>
            <a:prstDash val="solid"/>
          </a:ln>
        </p:spPr>
      </p:sp>
      <p:sp>
        <p:nvSpPr>
          <p:cNvPr id="159" name="Shape 157"/>
          <p:cNvSpPr/>
          <p:nvPr/>
        </p:nvSpPr>
        <p:spPr>
          <a:xfrm>
            <a:off x="2929738" y="779069"/>
            <a:ext cx="31090" cy="31090"/>
          </a:xfrm>
          <a:prstGeom prst="ellipse">
            <a:avLst/>
          </a:prstGeom>
          <a:solidFill>
            <a:srgbClr val="FFFFFF"/>
          </a:solidFill>
          <a:ln w="12700">
            <a:solidFill>
              <a:srgbClr val="FFFFFF">
                <a:alpha val="0"/>
              </a:srgbClr>
            </a:solidFill>
            <a:prstDash val="solid"/>
          </a:ln>
        </p:spPr>
      </p:sp>
      <p:sp>
        <p:nvSpPr>
          <p:cNvPr id="160" name="Shape 158"/>
          <p:cNvSpPr/>
          <p:nvPr/>
        </p:nvSpPr>
        <p:spPr>
          <a:xfrm>
            <a:off x="2759659" y="835762"/>
            <a:ext cx="31090" cy="31090"/>
          </a:xfrm>
          <a:prstGeom prst="ellipse">
            <a:avLst/>
          </a:prstGeom>
          <a:solidFill>
            <a:srgbClr val="FFFFFF"/>
          </a:solidFill>
          <a:ln w="12700">
            <a:solidFill>
              <a:srgbClr val="FFFFFF">
                <a:alpha val="0"/>
              </a:srgbClr>
            </a:solidFill>
            <a:prstDash val="solid"/>
          </a:ln>
        </p:spPr>
      </p:sp>
      <p:sp>
        <p:nvSpPr>
          <p:cNvPr id="161" name="Shape 159"/>
          <p:cNvSpPr/>
          <p:nvPr/>
        </p:nvSpPr>
        <p:spPr>
          <a:xfrm>
            <a:off x="2873045" y="835762"/>
            <a:ext cx="31090" cy="31090"/>
          </a:xfrm>
          <a:prstGeom prst="ellipse">
            <a:avLst/>
          </a:prstGeom>
          <a:solidFill>
            <a:srgbClr val="FFFFFF"/>
          </a:solidFill>
          <a:ln w="12700">
            <a:solidFill>
              <a:srgbClr val="FFFFFF">
                <a:alpha val="0"/>
              </a:srgbClr>
            </a:solidFill>
            <a:prstDash val="solid"/>
          </a:ln>
        </p:spPr>
      </p:sp>
      <p:sp>
        <p:nvSpPr>
          <p:cNvPr id="162" name="Shape 160"/>
          <p:cNvSpPr/>
          <p:nvPr/>
        </p:nvSpPr>
        <p:spPr>
          <a:xfrm>
            <a:off x="2759659" y="892454"/>
            <a:ext cx="31090" cy="31090"/>
          </a:xfrm>
          <a:prstGeom prst="ellipse">
            <a:avLst/>
          </a:prstGeom>
          <a:solidFill>
            <a:srgbClr val="FFFFFF"/>
          </a:solidFill>
          <a:ln w="12700">
            <a:solidFill>
              <a:srgbClr val="FFFFFF">
                <a:alpha val="0"/>
              </a:srgbClr>
            </a:solidFill>
            <a:prstDash val="solid"/>
          </a:ln>
        </p:spPr>
      </p:sp>
      <p:sp>
        <p:nvSpPr>
          <p:cNvPr id="163" name="Shape 161"/>
          <p:cNvSpPr/>
          <p:nvPr/>
        </p:nvSpPr>
        <p:spPr>
          <a:xfrm>
            <a:off x="2816352" y="892454"/>
            <a:ext cx="31090" cy="31090"/>
          </a:xfrm>
          <a:prstGeom prst="ellipse">
            <a:avLst/>
          </a:prstGeom>
          <a:solidFill>
            <a:srgbClr val="FFFFFF"/>
          </a:solidFill>
          <a:ln w="12700">
            <a:solidFill>
              <a:srgbClr val="FFFFFF">
                <a:alpha val="0"/>
              </a:srgbClr>
            </a:solidFill>
            <a:prstDash val="solid"/>
          </a:ln>
        </p:spPr>
      </p:sp>
      <p:sp>
        <p:nvSpPr>
          <p:cNvPr id="164" name="Shape 162"/>
          <p:cNvSpPr/>
          <p:nvPr/>
        </p:nvSpPr>
        <p:spPr>
          <a:xfrm>
            <a:off x="2759659" y="949147"/>
            <a:ext cx="31090" cy="31090"/>
          </a:xfrm>
          <a:prstGeom prst="ellipse">
            <a:avLst/>
          </a:prstGeom>
          <a:solidFill>
            <a:srgbClr val="FFFFFF"/>
          </a:solidFill>
          <a:ln w="12700">
            <a:solidFill>
              <a:srgbClr val="FFFFFF">
                <a:alpha val="0"/>
              </a:srgbClr>
            </a:solidFill>
            <a:prstDash val="solid"/>
          </a:ln>
        </p:spPr>
      </p:sp>
      <p:sp>
        <p:nvSpPr>
          <p:cNvPr id="165" name="Shape 163"/>
          <p:cNvSpPr/>
          <p:nvPr/>
        </p:nvSpPr>
        <p:spPr>
          <a:xfrm>
            <a:off x="2873045" y="949147"/>
            <a:ext cx="31090" cy="31090"/>
          </a:xfrm>
          <a:prstGeom prst="ellipse">
            <a:avLst/>
          </a:prstGeom>
          <a:solidFill>
            <a:srgbClr val="FFFFFF"/>
          </a:solidFill>
          <a:ln w="12700">
            <a:solidFill>
              <a:srgbClr val="FFFFFF">
                <a:alpha val="0"/>
              </a:srgbClr>
            </a:solidFill>
            <a:prstDash val="solid"/>
          </a:ln>
        </p:spPr>
      </p:sp>
      <p:sp>
        <p:nvSpPr>
          <p:cNvPr id="166" name="Shape 164"/>
          <p:cNvSpPr/>
          <p:nvPr/>
        </p:nvSpPr>
        <p:spPr>
          <a:xfrm>
            <a:off x="2759659" y="1005840"/>
            <a:ext cx="31090" cy="31090"/>
          </a:xfrm>
          <a:prstGeom prst="ellipse">
            <a:avLst/>
          </a:prstGeom>
          <a:solidFill>
            <a:srgbClr val="FFFFFF"/>
          </a:solidFill>
          <a:ln w="12700">
            <a:solidFill>
              <a:srgbClr val="FFFFFF">
                <a:alpha val="0"/>
              </a:srgbClr>
            </a:solidFill>
            <a:prstDash val="solid"/>
          </a:ln>
        </p:spPr>
      </p:sp>
      <p:sp>
        <p:nvSpPr>
          <p:cNvPr id="167" name="Shape 165"/>
          <p:cNvSpPr/>
          <p:nvPr/>
        </p:nvSpPr>
        <p:spPr>
          <a:xfrm>
            <a:off x="2929738" y="1005840"/>
            <a:ext cx="31090" cy="31090"/>
          </a:xfrm>
          <a:prstGeom prst="ellipse">
            <a:avLst/>
          </a:prstGeom>
          <a:solidFill>
            <a:srgbClr val="FFFFFF"/>
          </a:solidFill>
          <a:ln w="12700">
            <a:solidFill>
              <a:srgbClr val="FFFFFF">
                <a:alpha val="0"/>
              </a:srgbClr>
            </a:solidFill>
            <a:prstDash val="solid"/>
          </a:ln>
        </p:spPr>
      </p:sp>
      <p:sp>
        <p:nvSpPr>
          <p:cNvPr id="168" name="Shape 166"/>
          <p:cNvSpPr/>
          <p:nvPr/>
        </p:nvSpPr>
        <p:spPr>
          <a:xfrm>
            <a:off x="2759659" y="1062533"/>
            <a:ext cx="31090" cy="31090"/>
          </a:xfrm>
          <a:prstGeom prst="ellipse">
            <a:avLst/>
          </a:prstGeom>
          <a:solidFill>
            <a:srgbClr val="FFFFFF"/>
          </a:solidFill>
          <a:ln w="12700">
            <a:solidFill>
              <a:srgbClr val="FFFFFF">
                <a:alpha val="0"/>
              </a:srgbClr>
            </a:solidFill>
            <a:prstDash val="solid"/>
          </a:ln>
        </p:spPr>
      </p:sp>
      <p:sp>
        <p:nvSpPr>
          <p:cNvPr id="169" name="Shape 167"/>
          <p:cNvSpPr/>
          <p:nvPr/>
        </p:nvSpPr>
        <p:spPr>
          <a:xfrm>
            <a:off x="2986430" y="1062533"/>
            <a:ext cx="31090" cy="31090"/>
          </a:xfrm>
          <a:prstGeom prst="ellipse">
            <a:avLst/>
          </a:prstGeom>
          <a:solidFill>
            <a:srgbClr val="FFFFFF"/>
          </a:solidFill>
          <a:ln w="12700">
            <a:solidFill>
              <a:srgbClr val="FFFFFF">
                <a:alpha val="0"/>
              </a:srgbClr>
            </a:solidFill>
            <a:prstDash val="solid"/>
          </a:ln>
        </p:spPr>
      </p:sp>
      <p:sp>
        <p:nvSpPr>
          <p:cNvPr id="170" name="Shape 168"/>
          <p:cNvSpPr/>
          <p:nvPr/>
        </p:nvSpPr>
        <p:spPr>
          <a:xfrm>
            <a:off x="3099816" y="722376"/>
            <a:ext cx="31090" cy="31090"/>
          </a:xfrm>
          <a:prstGeom prst="ellipse">
            <a:avLst/>
          </a:prstGeom>
          <a:solidFill>
            <a:srgbClr val="FFFFFF"/>
          </a:solidFill>
          <a:ln w="12700">
            <a:solidFill>
              <a:srgbClr val="FFFFFF">
                <a:alpha val="0"/>
              </a:srgbClr>
            </a:solidFill>
            <a:prstDash val="solid"/>
          </a:ln>
        </p:spPr>
      </p:sp>
      <p:sp>
        <p:nvSpPr>
          <p:cNvPr id="171" name="Shape 169"/>
          <p:cNvSpPr/>
          <p:nvPr/>
        </p:nvSpPr>
        <p:spPr>
          <a:xfrm>
            <a:off x="3156509" y="722376"/>
            <a:ext cx="31090" cy="31090"/>
          </a:xfrm>
          <a:prstGeom prst="ellipse">
            <a:avLst/>
          </a:prstGeom>
          <a:solidFill>
            <a:srgbClr val="FFFFFF"/>
          </a:solidFill>
          <a:ln w="12700">
            <a:solidFill>
              <a:srgbClr val="FFFFFF">
                <a:alpha val="0"/>
              </a:srgbClr>
            </a:solidFill>
            <a:prstDash val="solid"/>
          </a:ln>
        </p:spPr>
      </p:sp>
      <p:sp>
        <p:nvSpPr>
          <p:cNvPr id="172" name="Shape 170"/>
          <p:cNvSpPr/>
          <p:nvPr/>
        </p:nvSpPr>
        <p:spPr>
          <a:xfrm>
            <a:off x="3213202" y="722376"/>
            <a:ext cx="31090" cy="31090"/>
          </a:xfrm>
          <a:prstGeom prst="ellipse">
            <a:avLst/>
          </a:prstGeom>
          <a:solidFill>
            <a:srgbClr val="FFFFFF"/>
          </a:solidFill>
          <a:ln w="12700">
            <a:solidFill>
              <a:srgbClr val="FFFFFF">
                <a:alpha val="0"/>
              </a:srgbClr>
            </a:solidFill>
            <a:prstDash val="solid"/>
          </a:ln>
        </p:spPr>
      </p:sp>
      <p:sp>
        <p:nvSpPr>
          <p:cNvPr id="173" name="Shape 171"/>
          <p:cNvSpPr/>
          <p:nvPr/>
        </p:nvSpPr>
        <p:spPr>
          <a:xfrm>
            <a:off x="3269894" y="722376"/>
            <a:ext cx="31090" cy="31090"/>
          </a:xfrm>
          <a:prstGeom prst="ellipse">
            <a:avLst/>
          </a:prstGeom>
          <a:solidFill>
            <a:srgbClr val="FFFFFF"/>
          </a:solidFill>
          <a:ln w="12700">
            <a:solidFill>
              <a:srgbClr val="FFFFFF">
                <a:alpha val="0"/>
              </a:srgbClr>
            </a:solidFill>
            <a:prstDash val="solid"/>
          </a:ln>
        </p:spPr>
      </p:sp>
      <p:sp>
        <p:nvSpPr>
          <p:cNvPr id="174" name="Shape 172"/>
          <p:cNvSpPr/>
          <p:nvPr/>
        </p:nvSpPr>
        <p:spPr>
          <a:xfrm>
            <a:off x="3099816" y="779069"/>
            <a:ext cx="31090" cy="31090"/>
          </a:xfrm>
          <a:prstGeom prst="ellipse">
            <a:avLst/>
          </a:prstGeom>
          <a:solidFill>
            <a:srgbClr val="FFFFFF"/>
          </a:solidFill>
          <a:ln w="12700">
            <a:solidFill>
              <a:srgbClr val="FFFFFF">
                <a:alpha val="0"/>
              </a:srgbClr>
            </a:solidFill>
            <a:prstDash val="solid"/>
          </a:ln>
        </p:spPr>
      </p:sp>
      <p:sp>
        <p:nvSpPr>
          <p:cNvPr id="175" name="Shape 173"/>
          <p:cNvSpPr/>
          <p:nvPr/>
        </p:nvSpPr>
        <p:spPr>
          <a:xfrm>
            <a:off x="3326587" y="779069"/>
            <a:ext cx="31090" cy="31090"/>
          </a:xfrm>
          <a:prstGeom prst="ellipse">
            <a:avLst/>
          </a:prstGeom>
          <a:solidFill>
            <a:srgbClr val="FFFFFF"/>
          </a:solidFill>
          <a:ln w="12700">
            <a:solidFill>
              <a:srgbClr val="FFFFFF">
                <a:alpha val="0"/>
              </a:srgbClr>
            </a:solidFill>
            <a:prstDash val="solid"/>
          </a:ln>
        </p:spPr>
      </p:sp>
      <p:sp>
        <p:nvSpPr>
          <p:cNvPr id="176" name="Shape 174"/>
          <p:cNvSpPr/>
          <p:nvPr/>
        </p:nvSpPr>
        <p:spPr>
          <a:xfrm>
            <a:off x="3099816" y="835762"/>
            <a:ext cx="31090" cy="31090"/>
          </a:xfrm>
          <a:prstGeom prst="ellipse">
            <a:avLst/>
          </a:prstGeom>
          <a:solidFill>
            <a:srgbClr val="FFFFFF"/>
          </a:solidFill>
          <a:ln w="12700">
            <a:solidFill>
              <a:srgbClr val="FFFFFF">
                <a:alpha val="0"/>
              </a:srgbClr>
            </a:solidFill>
            <a:prstDash val="solid"/>
          </a:ln>
        </p:spPr>
      </p:sp>
      <p:sp>
        <p:nvSpPr>
          <p:cNvPr id="177" name="Shape 175"/>
          <p:cNvSpPr/>
          <p:nvPr/>
        </p:nvSpPr>
        <p:spPr>
          <a:xfrm>
            <a:off x="3326587" y="835762"/>
            <a:ext cx="31090" cy="31090"/>
          </a:xfrm>
          <a:prstGeom prst="ellipse">
            <a:avLst/>
          </a:prstGeom>
          <a:solidFill>
            <a:srgbClr val="FFFFFF"/>
          </a:solidFill>
          <a:ln w="12700">
            <a:solidFill>
              <a:srgbClr val="FFFFFF">
                <a:alpha val="0"/>
              </a:srgbClr>
            </a:solidFill>
            <a:prstDash val="solid"/>
          </a:ln>
        </p:spPr>
      </p:sp>
      <p:sp>
        <p:nvSpPr>
          <p:cNvPr id="178" name="Shape 176"/>
          <p:cNvSpPr/>
          <p:nvPr/>
        </p:nvSpPr>
        <p:spPr>
          <a:xfrm>
            <a:off x="3099816" y="892454"/>
            <a:ext cx="31090" cy="31090"/>
          </a:xfrm>
          <a:prstGeom prst="ellipse">
            <a:avLst/>
          </a:prstGeom>
          <a:solidFill>
            <a:srgbClr val="FFFFFF"/>
          </a:solidFill>
          <a:ln w="12700">
            <a:solidFill>
              <a:srgbClr val="FFFFFF">
                <a:alpha val="0"/>
              </a:srgbClr>
            </a:solidFill>
            <a:prstDash val="solid"/>
          </a:ln>
        </p:spPr>
      </p:sp>
      <p:sp>
        <p:nvSpPr>
          <p:cNvPr id="179" name="Shape 177"/>
          <p:cNvSpPr/>
          <p:nvPr/>
        </p:nvSpPr>
        <p:spPr>
          <a:xfrm>
            <a:off x="3156509" y="892454"/>
            <a:ext cx="31090" cy="31090"/>
          </a:xfrm>
          <a:prstGeom prst="ellipse">
            <a:avLst/>
          </a:prstGeom>
          <a:solidFill>
            <a:srgbClr val="FFFFFF"/>
          </a:solidFill>
          <a:ln w="12700">
            <a:solidFill>
              <a:srgbClr val="FFFFFF">
                <a:alpha val="0"/>
              </a:srgbClr>
            </a:solidFill>
            <a:prstDash val="solid"/>
          </a:ln>
        </p:spPr>
      </p:sp>
      <p:sp>
        <p:nvSpPr>
          <p:cNvPr id="180" name="Shape 178"/>
          <p:cNvSpPr/>
          <p:nvPr/>
        </p:nvSpPr>
        <p:spPr>
          <a:xfrm>
            <a:off x="3213202" y="892454"/>
            <a:ext cx="31090" cy="31090"/>
          </a:xfrm>
          <a:prstGeom prst="ellipse">
            <a:avLst/>
          </a:prstGeom>
          <a:solidFill>
            <a:srgbClr val="FFFFFF"/>
          </a:solidFill>
          <a:ln w="12700">
            <a:solidFill>
              <a:srgbClr val="FFFFFF">
                <a:alpha val="0"/>
              </a:srgbClr>
            </a:solidFill>
            <a:prstDash val="solid"/>
          </a:ln>
        </p:spPr>
      </p:sp>
      <p:sp>
        <p:nvSpPr>
          <p:cNvPr id="181" name="Shape 179"/>
          <p:cNvSpPr/>
          <p:nvPr/>
        </p:nvSpPr>
        <p:spPr>
          <a:xfrm>
            <a:off x="3269894" y="892454"/>
            <a:ext cx="31090" cy="31090"/>
          </a:xfrm>
          <a:prstGeom prst="ellipse">
            <a:avLst/>
          </a:prstGeom>
          <a:solidFill>
            <a:srgbClr val="FFFFFF"/>
          </a:solidFill>
          <a:ln w="12700">
            <a:solidFill>
              <a:srgbClr val="FFFFFF">
                <a:alpha val="0"/>
              </a:srgbClr>
            </a:solidFill>
            <a:prstDash val="solid"/>
          </a:ln>
        </p:spPr>
      </p:sp>
      <p:sp>
        <p:nvSpPr>
          <p:cNvPr id="182" name="Shape 180"/>
          <p:cNvSpPr/>
          <p:nvPr/>
        </p:nvSpPr>
        <p:spPr>
          <a:xfrm>
            <a:off x="3099816" y="949147"/>
            <a:ext cx="31090" cy="31090"/>
          </a:xfrm>
          <a:prstGeom prst="ellipse">
            <a:avLst/>
          </a:prstGeom>
          <a:solidFill>
            <a:srgbClr val="FFFFFF"/>
          </a:solidFill>
          <a:ln w="12700">
            <a:solidFill>
              <a:srgbClr val="FFFFFF">
                <a:alpha val="0"/>
              </a:srgbClr>
            </a:solidFill>
            <a:prstDash val="solid"/>
          </a:ln>
        </p:spPr>
      </p:sp>
      <p:sp>
        <p:nvSpPr>
          <p:cNvPr id="183" name="Shape 181"/>
          <p:cNvSpPr/>
          <p:nvPr/>
        </p:nvSpPr>
        <p:spPr>
          <a:xfrm>
            <a:off x="3099816" y="1005840"/>
            <a:ext cx="31090" cy="31090"/>
          </a:xfrm>
          <a:prstGeom prst="ellipse">
            <a:avLst/>
          </a:prstGeom>
          <a:solidFill>
            <a:srgbClr val="FFFFFF"/>
          </a:solidFill>
          <a:ln w="12700">
            <a:solidFill>
              <a:srgbClr val="FFFFFF">
                <a:alpha val="0"/>
              </a:srgbClr>
            </a:solidFill>
            <a:prstDash val="solid"/>
          </a:ln>
        </p:spPr>
      </p:sp>
      <p:sp>
        <p:nvSpPr>
          <p:cNvPr id="184" name="Shape 182"/>
          <p:cNvSpPr/>
          <p:nvPr/>
        </p:nvSpPr>
        <p:spPr>
          <a:xfrm>
            <a:off x="3099816" y="1062533"/>
            <a:ext cx="31090" cy="31090"/>
          </a:xfrm>
          <a:prstGeom prst="ellipse">
            <a:avLst/>
          </a:prstGeom>
          <a:solidFill>
            <a:srgbClr val="FFFFFF"/>
          </a:solidFill>
          <a:ln w="12700">
            <a:solidFill>
              <a:srgbClr val="FFFFFF">
                <a:alpha val="0"/>
              </a:srgbClr>
            </a:solidFill>
            <a:prstDash val="solid"/>
          </a:ln>
        </p:spPr>
      </p:sp>
      <p:sp>
        <p:nvSpPr>
          <p:cNvPr id="185" name="Shape 183"/>
          <p:cNvSpPr/>
          <p:nvPr/>
        </p:nvSpPr>
        <p:spPr>
          <a:xfrm>
            <a:off x="3439973" y="722376"/>
            <a:ext cx="31090" cy="31090"/>
          </a:xfrm>
          <a:prstGeom prst="ellipse">
            <a:avLst/>
          </a:prstGeom>
          <a:solidFill>
            <a:srgbClr val="FFFFFF"/>
          </a:solidFill>
          <a:ln w="12700">
            <a:solidFill>
              <a:srgbClr val="FFFFFF">
                <a:alpha val="0"/>
              </a:srgbClr>
            </a:solidFill>
            <a:prstDash val="solid"/>
          </a:ln>
        </p:spPr>
      </p:sp>
      <p:sp>
        <p:nvSpPr>
          <p:cNvPr id="186" name="Shape 184"/>
          <p:cNvSpPr/>
          <p:nvPr/>
        </p:nvSpPr>
        <p:spPr>
          <a:xfrm>
            <a:off x="3496666" y="722376"/>
            <a:ext cx="31090" cy="31090"/>
          </a:xfrm>
          <a:prstGeom prst="ellipse">
            <a:avLst/>
          </a:prstGeom>
          <a:solidFill>
            <a:srgbClr val="FFFFFF"/>
          </a:solidFill>
          <a:ln w="12700">
            <a:solidFill>
              <a:srgbClr val="FFFFFF">
                <a:alpha val="0"/>
              </a:srgbClr>
            </a:solidFill>
            <a:prstDash val="solid"/>
          </a:ln>
        </p:spPr>
      </p:sp>
      <p:sp>
        <p:nvSpPr>
          <p:cNvPr id="187" name="Shape 185"/>
          <p:cNvSpPr/>
          <p:nvPr/>
        </p:nvSpPr>
        <p:spPr>
          <a:xfrm>
            <a:off x="3553358" y="722376"/>
            <a:ext cx="31090" cy="31090"/>
          </a:xfrm>
          <a:prstGeom prst="ellipse">
            <a:avLst/>
          </a:prstGeom>
          <a:solidFill>
            <a:srgbClr val="FFFFFF"/>
          </a:solidFill>
          <a:ln w="12700">
            <a:solidFill>
              <a:srgbClr val="FFFFFF">
                <a:alpha val="0"/>
              </a:srgbClr>
            </a:solidFill>
            <a:prstDash val="solid"/>
          </a:ln>
        </p:spPr>
      </p:sp>
      <p:sp>
        <p:nvSpPr>
          <p:cNvPr id="188" name="Shape 186"/>
          <p:cNvSpPr/>
          <p:nvPr/>
        </p:nvSpPr>
        <p:spPr>
          <a:xfrm>
            <a:off x="3610051" y="722376"/>
            <a:ext cx="31090" cy="31090"/>
          </a:xfrm>
          <a:prstGeom prst="ellipse">
            <a:avLst/>
          </a:prstGeom>
          <a:solidFill>
            <a:srgbClr val="FFFFFF"/>
          </a:solidFill>
          <a:ln w="12700">
            <a:solidFill>
              <a:srgbClr val="FFFFFF">
                <a:alpha val="0"/>
              </a:srgbClr>
            </a:solidFill>
            <a:prstDash val="solid"/>
          </a:ln>
        </p:spPr>
      </p:sp>
      <p:sp>
        <p:nvSpPr>
          <p:cNvPr id="189" name="Shape 187"/>
          <p:cNvSpPr/>
          <p:nvPr/>
        </p:nvSpPr>
        <p:spPr>
          <a:xfrm>
            <a:off x="3666744" y="722376"/>
            <a:ext cx="31090" cy="31090"/>
          </a:xfrm>
          <a:prstGeom prst="ellipse">
            <a:avLst/>
          </a:prstGeom>
          <a:solidFill>
            <a:srgbClr val="FFFFFF"/>
          </a:solidFill>
          <a:ln w="12700">
            <a:solidFill>
              <a:srgbClr val="FFFFFF">
                <a:alpha val="0"/>
              </a:srgbClr>
            </a:solidFill>
            <a:prstDash val="solid"/>
          </a:ln>
        </p:spPr>
      </p:sp>
      <p:sp>
        <p:nvSpPr>
          <p:cNvPr id="190" name="Shape 188"/>
          <p:cNvSpPr/>
          <p:nvPr/>
        </p:nvSpPr>
        <p:spPr>
          <a:xfrm>
            <a:off x="3553358" y="779069"/>
            <a:ext cx="31090" cy="31090"/>
          </a:xfrm>
          <a:prstGeom prst="ellipse">
            <a:avLst/>
          </a:prstGeom>
          <a:solidFill>
            <a:srgbClr val="FFFFFF"/>
          </a:solidFill>
          <a:ln w="12700">
            <a:solidFill>
              <a:srgbClr val="FFFFFF">
                <a:alpha val="0"/>
              </a:srgbClr>
            </a:solidFill>
            <a:prstDash val="solid"/>
          </a:ln>
        </p:spPr>
      </p:sp>
      <p:sp>
        <p:nvSpPr>
          <p:cNvPr id="191" name="Shape 189"/>
          <p:cNvSpPr/>
          <p:nvPr/>
        </p:nvSpPr>
        <p:spPr>
          <a:xfrm>
            <a:off x="3553358" y="835762"/>
            <a:ext cx="31090" cy="31090"/>
          </a:xfrm>
          <a:prstGeom prst="ellipse">
            <a:avLst/>
          </a:prstGeom>
          <a:solidFill>
            <a:srgbClr val="FFFFFF"/>
          </a:solidFill>
          <a:ln w="12700">
            <a:solidFill>
              <a:srgbClr val="FFFFFF">
                <a:alpha val="0"/>
              </a:srgbClr>
            </a:solidFill>
            <a:prstDash val="solid"/>
          </a:ln>
        </p:spPr>
      </p:sp>
      <p:sp>
        <p:nvSpPr>
          <p:cNvPr id="192" name="Shape 190"/>
          <p:cNvSpPr/>
          <p:nvPr/>
        </p:nvSpPr>
        <p:spPr>
          <a:xfrm>
            <a:off x="3553358" y="892454"/>
            <a:ext cx="31090" cy="31090"/>
          </a:xfrm>
          <a:prstGeom prst="ellipse">
            <a:avLst/>
          </a:prstGeom>
          <a:solidFill>
            <a:srgbClr val="FFFFFF"/>
          </a:solidFill>
          <a:ln w="12700">
            <a:solidFill>
              <a:srgbClr val="FFFFFF">
                <a:alpha val="0"/>
              </a:srgbClr>
            </a:solidFill>
            <a:prstDash val="solid"/>
          </a:ln>
        </p:spPr>
      </p:sp>
      <p:sp>
        <p:nvSpPr>
          <p:cNvPr id="193" name="Shape 191"/>
          <p:cNvSpPr/>
          <p:nvPr/>
        </p:nvSpPr>
        <p:spPr>
          <a:xfrm>
            <a:off x="3553358" y="949147"/>
            <a:ext cx="31090" cy="31090"/>
          </a:xfrm>
          <a:prstGeom prst="ellipse">
            <a:avLst/>
          </a:prstGeom>
          <a:solidFill>
            <a:srgbClr val="FFFFFF"/>
          </a:solidFill>
          <a:ln w="12700">
            <a:solidFill>
              <a:srgbClr val="FFFFFF">
                <a:alpha val="0"/>
              </a:srgbClr>
            </a:solidFill>
            <a:prstDash val="solid"/>
          </a:ln>
        </p:spPr>
      </p:sp>
      <p:sp>
        <p:nvSpPr>
          <p:cNvPr id="194" name="Shape 192"/>
          <p:cNvSpPr/>
          <p:nvPr/>
        </p:nvSpPr>
        <p:spPr>
          <a:xfrm>
            <a:off x="3553358" y="1005840"/>
            <a:ext cx="31090" cy="31090"/>
          </a:xfrm>
          <a:prstGeom prst="ellipse">
            <a:avLst/>
          </a:prstGeom>
          <a:solidFill>
            <a:srgbClr val="FFFFFF"/>
          </a:solidFill>
          <a:ln w="12700">
            <a:solidFill>
              <a:srgbClr val="FFFFFF">
                <a:alpha val="0"/>
              </a:srgbClr>
            </a:solidFill>
            <a:prstDash val="solid"/>
          </a:ln>
        </p:spPr>
      </p:sp>
      <p:sp>
        <p:nvSpPr>
          <p:cNvPr id="195" name="Shape 193"/>
          <p:cNvSpPr/>
          <p:nvPr/>
        </p:nvSpPr>
        <p:spPr>
          <a:xfrm>
            <a:off x="3439973" y="1062533"/>
            <a:ext cx="31090" cy="31090"/>
          </a:xfrm>
          <a:prstGeom prst="ellipse">
            <a:avLst/>
          </a:prstGeom>
          <a:solidFill>
            <a:srgbClr val="FFFFFF"/>
          </a:solidFill>
          <a:ln w="12700">
            <a:solidFill>
              <a:srgbClr val="FFFFFF">
                <a:alpha val="0"/>
              </a:srgbClr>
            </a:solidFill>
            <a:prstDash val="solid"/>
          </a:ln>
        </p:spPr>
      </p:sp>
      <p:sp>
        <p:nvSpPr>
          <p:cNvPr id="196" name="Shape 194"/>
          <p:cNvSpPr/>
          <p:nvPr/>
        </p:nvSpPr>
        <p:spPr>
          <a:xfrm>
            <a:off x="3496666" y="1062533"/>
            <a:ext cx="31090" cy="31090"/>
          </a:xfrm>
          <a:prstGeom prst="ellipse">
            <a:avLst/>
          </a:prstGeom>
          <a:solidFill>
            <a:srgbClr val="FFFFFF"/>
          </a:solidFill>
          <a:ln w="12700">
            <a:solidFill>
              <a:srgbClr val="FFFFFF">
                <a:alpha val="0"/>
              </a:srgbClr>
            </a:solidFill>
            <a:prstDash val="solid"/>
          </a:ln>
        </p:spPr>
      </p:sp>
      <p:sp>
        <p:nvSpPr>
          <p:cNvPr id="197" name="Shape 195"/>
          <p:cNvSpPr/>
          <p:nvPr/>
        </p:nvSpPr>
        <p:spPr>
          <a:xfrm>
            <a:off x="3553358" y="1062533"/>
            <a:ext cx="31090" cy="31090"/>
          </a:xfrm>
          <a:prstGeom prst="ellipse">
            <a:avLst/>
          </a:prstGeom>
          <a:solidFill>
            <a:srgbClr val="FFFFFF"/>
          </a:solidFill>
          <a:ln w="12700">
            <a:solidFill>
              <a:srgbClr val="FFFFFF">
                <a:alpha val="0"/>
              </a:srgbClr>
            </a:solidFill>
            <a:prstDash val="solid"/>
          </a:ln>
        </p:spPr>
      </p:sp>
      <p:sp>
        <p:nvSpPr>
          <p:cNvPr id="198" name="Shape 196"/>
          <p:cNvSpPr/>
          <p:nvPr/>
        </p:nvSpPr>
        <p:spPr>
          <a:xfrm>
            <a:off x="3610051" y="1062533"/>
            <a:ext cx="31090" cy="31090"/>
          </a:xfrm>
          <a:prstGeom prst="ellipse">
            <a:avLst/>
          </a:prstGeom>
          <a:solidFill>
            <a:srgbClr val="FFFFFF"/>
          </a:solidFill>
          <a:ln w="12700">
            <a:solidFill>
              <a:srgbClr val="FFFFFF">
                <a:alpha val="0"/>
              </a:srgbClr>
            </a:solidFill>
            <a:prstDash val="solid"/>
          </a:ln>
        </p:spPr>
      </p:sp>
      <p:sp>
        <p:nvSpPr>
          <p:cNvPr id="199" name="Shape 197"/>
          <p:cNvSpPr/>
          <p:nvPr/>
        </p:nvSpPr>
        <p:spPr>
          <a:xfrm>
            <a:off x="3666744" y="1062533"/>
            <a:ext cx="31090" cy="31090"/>
          </a:xfrm>
          <a:prstGeom prst="ellipse">
            <a:avLst/>
          </a:prstGeom>
          <a:solidFill>
            <a:srgbClr val="FFFFFF"/>
          </a:solidFill>
          <a:ln w="12700">
            <a:solidFill>
              <a:srgbClr val="FFFFFF">
                <a:alpha val="0"/>
              </a:srgbClr>
            </a:solidFill>
            <a:prstDash val="solid"/>
          </a:ln>
        </p:spPr>
      </p:sp>
      <p:sp>
        <p:nvSpPr>
          <p:cNvPr id="200" name="Shape 198"/>
          <p:cNvSpPr/>
          <p:nvPr/>
        </p:nvSpPr>
        <p:spPr>
          <a:xfrm>
            <a:off x="3780130" y="722376"/>
            <a:ext cx="31090" cy="31090"/>
          </a:xfrm>
          <a:prstGeom prst="ellipse">
            <a:avLst/>
          </a:prstGeom>
          <a:solidFill>
            <a:srgbClr val="FFFFFF"/>
          </a:solidFill>
          <a:ln w="12700">
            <a:solidFill>
              <a:srgbClr val="FFFFFF">
                <a:alpha val="0"/>
              </a:srgbClr>
            </a:solidFill>
            <a:prstDash val="solid"/>
          </a:ln>
        </p:spPr>
      </p:sp>
      <p:sp>
        <p:nvSpPr>
          <p:cNvPr id="201" name="Shape 199"/>
          <p:cNvSpPr/>
          <p:nvPr/>
        </p:nvSpPr>
        <p:spPr>
          <a:xfrm>
            <a:off x="3780130" y="779069"/>
            <a:ext cx="31090" cy="31090"/>
          </a:xfrm>
          <a:prstGeom prst="ellipse">
            <a:avLst/>
          </a:prstGeom>
          <a:solidFill>
            <a:srgbClr val="FFFFFF"/>
          </a:solidFill>
          <a:ln w="12700">
            <a:solidFill>
              <a:srgbClr val="FFFFFF">
                <a:alpha val="0"/>
              </a:srgbClr>
            </a:solidFill>
            <a:prstDash val="solid"/>
          </a:ln>
        </p:spPr>
      </p:sp>
      <p:sp>
        <p:nvSpPr>
          <p:cNvPr id="202" name="Shape 200"/>
          <p:cNvSpPr/>
          <p:nvPr/>
        </p:nvSpPr>
        <p:spPr>
          <a:xfrm>
            <a:off x="3780130" y="835762"/>
            <a:ext cx="31090" cy="31090"/>
          </a:xfrm>
          <a:prstGeom prst="ellipse">
            <a:avLst/>
          </a:prstGeom>
          <a:solidFill>
            <a:srgbClr val="FFFFFF"/>
          </a:solidFill>
          <a:ln w="12700">
            <a:solidFill>
              <a:srgbClr val="FFFFFF">
                <a:alpha val="0"/>
              </a:srgbClr>
            </a:solidFill>
            <a:prstDash val="solid"/>
          </a:ln>
        </p:spPr>
      </p:sp>
      <p:sp>
        <p:nvSpPr>
          <p:cNvPr id="203" name="Shape 201"/>
          <p:cNvSpPr/>
          <p:nvPr/>
        </p:nvSpPr>
        <p:spPr>
          <a:xfrm>
            <a:off x="3780130" y="892454"/>
            <a:ext cx="31090" cy="31090"/>
          </a:xfrm>
          <a:prstGeom prst="ellipse">
            <a:avLst/>
          </a:prstGeom>
          <a:solidFill>
            <a:srgbClr val="FFFFFF"/>
          </a:solidFill>
          <a:ln w="12700">
            <a:solidFill>
              <a:srgbClr val="FFFFFF">
                <a:alpha val="0"/>
              </a:srgbClr>
            </a:solidFill>
            <a:prstDash val="solid"/>
          </a:ln>
        </p:spPr>
      </p:sp>
      <p:sp>
        <p:nvSpPr>
          <p:cNvPr id="204" name="Shape 202"/>
          <p:cNvSpPr/>
          <p:nvPr/>
        </p:nvSpPr>
        <p:spPr>
          <a:xfrm>
            <a:off x="3780130" y="949147"/>
            <a:ext cx="31090" cy="31090"/>
          </a:xfrm>
          <a:prstGeom prst="ellipse">
            <a:avLst/>
          </a:prstGeom>
          <a:solidFill>
            <a:srgbClr val="FFFFFF"/>
          </a:solidFill>
          <a:ln w="12700">
            <a:solidFill>
              <a:srgbClr val="FFFFFF">
                <a:alpha val="0"/>
              </a:srgbClr>
            </a:solidFill>
            <a:prstDash val="solid"/>
          </a:ln>
        </p:spPr>
      </p:sp>
      <p:sp>
        <p:nvSpPr>
          <p:cNvPr id="205" name="Shape 203"/>
          <p:cNvSpPr/>
          <p:nvPr/>
        </p:nvSpPr>
        <p:spPr>
          <a:xfrm>
            <a:off x="3780130" y="1005840"/>
            <a:ext cx="31090" cy="31090"/>
          </a:xfrm>
          <a:prstGeom prst="ellipse">
            <a:avLst/>
          </a:prstGeom>
          <a:solidFill>
            <a:srgbClr val="FFFFFF"/>
          </a:solidFill>
          <a:ln w="12700">
            <a:solidFill>
              <a:srgbClr val="FFFFFF">
                <a:alpha val="0"/>
              </a:srgbClr>
            </a:solidFill>
            <a:prstDash val="solid"/>
          </a:ln>
        </p:spPr>
      </p:sp>
      <p:sp>
        <p:nvSpPr>
          <p:cNvPr id="206" name="Shape 204"/>
          <p:cNvSpPr/>
          <p:nvPr/>
        </p:nvSpPr>
        <p:spPr>
          <a:xfrm>
            <a:off x="3780130" y="1062533"/>
            <a:ext cx="31090" cy="31090"/>
          </a:xfrm>
          <a:prstGeom prst="ellipse">
            <a:avLst/>
          </a:prstGeom>
          <a:solidFill>
            <a:srgbClr val="FFFFFF"/>
          </a:solidFill>
          <a:ln w="12700">
            <a:solidFill>
              <a:srgbClr val="FFFFFF">
                <a:alpha val="0"/>
              </a:srgbClr>
            </a:solidFill>
            <a:prstDash val="solid"/>
          </a:ln>
        </p:spPr>
      </p:sp>
      <p:sp>
        <p:nvSpPr>
          <p:cNvPr id="207" name="Shape 205"/>
          <p:cNvSpPr/>
          <p:nvPr/>
        </p:nvSpPr>
        <p:spPr>
          <a:xfrm>
            <a:off x="3836822" y="1062533"/>
            <a:ext cx="31090" cy="31090"/>
          </a:xfrm>
          <a:prstGeom prst="ellipse">
            <a:avLst/>
          </a:prstGeom>
          <a:solidFill>
            <a:srgbClr val="FFFFFF"/>
          </a:solidFill>
          <a:ln w="12700">
            <a:solidFill>
              <a:srgbClr val="FFFFFF">
                <a:alpha val="0"/>
              </a:srgbClr>
            </a:solidFill>
            <a:prstDash val="solid"/>
          </a:ln>
        </p:spPr>
      </p:sp>
      <p:sp>
        <p:nvSpPr>
          <p:cNvPr id="208" name="Shape 206"/>
          <p:cNvSpPr/>
          <p:nvPr/>
        </p:nvSpPr>
        <p:spPr>
          <a:xfrm>
            <a:off x="3893515" y="1062533"/>
            <a:ext cx="31090" cy="31090"/>
          </a:xfrm>
          <a:prstGeom prst="ellipse">
            <a:avLst/>
          </a:prstGeom>
          <a:solidFill>
            <a:srgbClr val="FFFFFF"/>
          </a:solidFill>
          <a:ln w="12700">
            <a:solidFill>
              <a:srgbClr val="FFFFFF">
                <a:alpha val="0"/>
              </a:srgbClr>
            </a:solidFill>
            <a:prstDash val="solid"/>
          </a:ln>
        </p:spPr>
      </p:sp>
      <p:sp>
        <p:nvSpPr>
          <p:cNvPr id="209" name="Shape 207"/>
          <p:cNvSpPr/>
          <p:nvPr/>
        </p:nvSpPr>
        <p:spPr>
          <a:xfrm>
            <a:off x="3950208" y="1062533"/>
            <a:ext cx="31090" cy="31090"/>
          </a:xfrm>
          <a:prstGeom prst="ellipse">
            <a:avLst/>
          </a:prstGeom>
          <a:solidFill>
            <a:srgbClr val="FFFFFF"/>
          </a:solidFill>
          <a:ln w="12700">
            <a:solidFill>
              <a:srgbClr val="FFFFFF">
                <a:alpha val="0"/>
              </a:srgbClr>
            </a:solidFill>
            <a:prstDash val="solid"/>
          </a:ln>
        </p:spPr>
      </p:sp>
      <p:sp>
        <p:nvSpPr>
          <p:cNvPr id="210" name="Shape 208"/>
          <p:cNvSpPr/>
          <p:nvPr/>
        </p:nvSpPr>
        <p:spPr>
          <a:xfrm>
            <a:off x="4006901" y="1062533"/>
            <a:ext cx="31090" cy="31090"/>
          </a:xfrm>
          <a:prstGeom prst="ellipse">
            <a:avLst/>
          </a:prstGeom>
          <a:solidFill>
            <a:srgbClr val="FFFFFF"/>
          </a:solidFill>
          <a:ln w="12700">
            <a:solidFill>
              <a:srgbClr val="FFFFFF">
                <a:alpha val="0"/>
              </a:srgbClr>
            </a:solidFill>
            <a:prstDash val="solid"/>
          </a:ln>
        </p:spPr>
      </p:sp>
      <p:sp>
        <p:nvSpPr>
          <p:cNvPr id="211" name="Shape 209"/>
          <p:cNvSpPr/>
          <p:nvPr/>
        </p:nvSpPr>
        <p:spPr>
          <a:xfrm>
            <a:off x="4176979" y="722376"/>
            <a:ext cx="31090" cy="31090"/>
          </a:xfrm>
          <a:prstGeom prst="ellipse">
            <a:avLst/>
          </a:prstGeom>
          <a:solidFill>
            <a:srgbClr val="FFFFFF"/>
          </a:solidFill>
          <a:ln w="12700">
            <a:solidFill>
              <a:srgbClr val="FFFFFF">
                <a:alpha val="0"/>
              </a:srgbClr>
            </a:solidFill>
            <a:prstDash val="solid"/>
          </a:ln>
        </p:spPr>
      </p:sp>
      <p:sp>
        <p:nvSpPr>
          <p:cNvPr id="212" name="Shape 210"/>
          <p:cNvSpPr/>
          <p:nvPr/>
        </p:nvSpPr>
        <p:spPr>
          <a:xfrm>
            <a:off x="4233672" y="722376"/>
            <a:ext cx="31090" cy="31090"/>
          </a:xfrm>
          <a:prstGeom prst="ellipse">
            <a:avLst/>
          </a:prstGeom>
          <a:solidFill>
            <a:srgbClr val="FFFFFF"/>
          </a:solidFill>
          <a:ln w="12700">
            <a:solidFill>
              <a:srgbClr val="FFFFFF">
                <a:alpha val="0"/>
              </a:srgbClr>
            </a:solidFill>
            <a:prstDash val="solid"/>
          </a:ln>
        </p:spPr>
      </p:sp>
      <p:sp>
        <p:nvSpPr>
          <p:cNvPr id="213" name="Shape 211"/>
          <p:cNvSpPr/>
          <p:nvPr/>
        </p:nvSpPr>
        <p:spPr>
          <a:xfrm>
            <a:off x="4290365" y="722376"/>
            <a:ext cx="31090" cy="31090"/>
          </a:xfrm>
          <a:prstGeom prst="ellipse">
            <a:avLst/>
          </a:prstGeom>
          <a:solidFill>
            <a:srgbClr val="FFFFFF"/>
          </a:solidFill>
          <a:ln w="12700">
            <a:solidFill>
              <a:srgbClr val="FFFFFF">
                <a:alpha val="0"/>
              </a:srgbClr>
            </a:solidFill>
            <a:prstDash val="solid"/>
          </a:ln>
        </p:spPr>
      </p:sp>
      <p:sp>
        <p:nvSpPr>
          <p:cNvPr id="214" name="Shape 212"/>
          <p:cNvSpPr/>
          <p:nvPr/>
        </p:nvSpPr>
        <p:spPr>
          <a:xfrm>
            <a:off x="4120286" y="779069"/>
            <a:ext cx="31090" cy="31090"/>
          </a:xfrm>
          <a:prstGeom prst="ellipse">
            <a:avLst/>
          </a:prstGeom>
          <a:solidFill>
            <a:srgbClr val="FFFFFF"/>
          </a:solidFill>
          <a:ln w="12700">
            <a:solidFill>
              <a:srgbClr val="FFFFFF">
                <a:alpha val="0"/>
              </a:srgbClr>
            </a:solidFill>
            <a:prstDash val="solid"/>
          </a:ln>
        </p:spPr>
      </p:sp>
      <p:sp>
        <p:nvSpPr>
          <p:cNvPr id="215" name="Shape 213"/>
          <p:cNvSpPr/>
          <p:nvPr/>
        </p:nvSpPr>
        <p:spPr>
          <a:xfrm>
            <a:off x="4347058" y="779069"/>
            <a:ext cx="31090" cy="31090"/>
          </a:xfrm>
          <a:prstGeom prst="ellipse">
            <a:avLst/>
          </a:prstGeom>
          <a:solidFill>
            <a:srgbClr val="FFFFFF"/>
          </a:solidFill>
          <a:ln w="12700">
            <a:solidFill>
              <a:srgbClr val="FFFFFF">
                <a:alpha val="0"/>
              </a:srgbClr>
            </a:solidFill>
            <a:prstDash val="solid"/>
          </a:ln>
        </p:spPr>
      </p:sp>
      <p:sp>
        <p:nvSpPr>
          <p:cNvPr id="216" name="Shape 214"/>
          <p:cNvSpPr/>
          <p:nvPr/>
        </p:nvSpPr>
        <p:spPr>
          <a:xfrm>
            <a:off x="4120286" y="835762"/>
            <a:ext cx="31090" cy="31090"/>
          </a:xfrm>
          <a:prstGeom prst="ellipse">
            <a:avLst/>
          </a:prstGeom>
          <a:solidFill>
            <a:srgbClr val="FFFFFF"/>
          </a:solidFill>
          <a:ln w="12700">
            <a:solidFill>
              <a:srgbClr val="FFFFFF">
                <a:alpha val="0"/>
              </a:srgbClr>
            </a:solidFill>
            <a:prstDash val="solid"/>
          </a:ln>
        </p:spPr>
      </p:sp>
      <p:sp>
        <p:nvSpPr>
          <p:cNvPr id="217" name="Shape 215"/>
          <p:cNvSpPr/>
          <p:nvPr/>
        </p:nvSpPr>
        <p:spPr>
          <a:xfrm>
            <a:off x="4347058" y="835762"/>
            <a:ext cx="31090" cy="31090"/>
          </a:xfrm>
          <a:prstGeom prst="ellipse">
            <a:avLst/>
          </a:prstGeom>
          <a:solidFill>
            <a:srgbClr val="FFFFFF"/>
          </a:solidFill>
          <a:ln w="12700">
            <a:solidFill>
              <a:srgbClr val="FFFFFF">
                <a:alpha val="0"/>
              </a:srgbClr>
            </a:solidFill>
            <a:prstDash val="solid"/>
          </a:ln>
        </p:spPr>
      </p:sp>
      <p:sp>
        <p:nvSpPr>
          <p:cNvPr id="218" name="Shape 216"/>
          <p:cNvSpPr/>
          <p:nvPr/>
        </p:nvSpPr>
        <p:spPr>
          <a:xfrm>
            <a:off x="4120286" y="892454"/>
            <a:ext cx="31090" cy="31090"/>
          </a:xfrm>
          <a:prstGeom prst="ellipse">
            <a:avLst/>
          </a:prstGeom>
          <a:solidFill>
            <a:srgbClr val="FFFFFF"/>
          </a:solidFill>
          <a:ln w="12700">
            <a:solidFill>
              <a:srgbClr val="FFFFFF">
                <a:alpha val="0"/>
              </a:srgbClr>
            </a:solidFill>
            <a:prstDash val="solid"/>
          </a:ln>
        </p:spPr>
      </p:sp>
      <p:sp>
        <p:nvSpPr>
          <p:cNvPr id="219" name="Shape 217"/>
          <p:cNvSpPr/>
          <p:nvPr/>
        </p:nvSpPr>
        <p:spPr>
          <a:xfrm>
            <a:off x="4347058" y="892454"/>
            <a:ext cx="31090" cy="31090"/>
          </a:xfrm>
          <a:prstGeom prst="ellipse">
            <a:avLst/>
          </a:prstGeom>
          <a:solidFill>
            <a:srgbClr val="FFFFFF"/>
          </a:solidFill>
          <a:ln w="12700">
            <a:solidFill>
              <a:srgbClr val="FFFFFF">
                <a:alpha val="0"/>
              </a:srgbClr>
            </a:solidFill>
            <a:prstDash val="solid"/>
          </a:ln>
        </p:spPr>
      </p:sp>
      <p:sp>
        <p:nvSpPr>
          <p:cNvPr id="220" name="Shape 218"/>
          <p:cNvSpPr/>
          <p:nvPr/>
        </p:nvSpPr>
        <p:spPr>
          <a:xfrm>
            <a:off x="4120286" y="949147"/>
            <a:ext cx="31090" cy="31090"/>
          </a:xfrm>
          <a:prstGeom prst="ellipse">
            <a:avLst/>
          </a:prstGeom>
          <a:solidFill>
            <a:srgbClr val="FFFFFF"/>
          </a:solidFill>
          <a:ln w="12700">
            <a:solidFill>
              <a:srgbClr val="FFFFFF">
                <a:alpha val="0"/>
              </a:srgbClr>
            </a:solidFill>
            <a:prstDash val="solid"/>
          </a:ln>
        </p:spPr>
      </p:sp>
      <p:sp>
        <p:nvSpPr>
          <p:cNvPr id="221" name="Shape 219"/>
          <p:cNvSpPr/>
          <p:nvPr/>
        </p:nvSpPr>
        <p:spPr>
          <a:xfrm>
            <a:off x="4347058" y="949147"/>
            <a:ext cx="31090" cy="31090"/>
          </a:xfrm>
          <a:prstGeom prst="ellipse">
            <a:avLst/>
          </a:prstGeom>
          <a:solidFill>
            <a:srgbClr val="FFFFFF"/>
          </a:solidFill>
          <a:ln w="12700">
            <a:solidFill>
              <a:srgbClr val="FFFFFF">
                <a:alpha val="0"/>
              </a:srgbClr>
            </a:solidFill>
            <a:prstDash val="solid"/>
          </a:ln>
        </p:spPr>
      </p:sp>
      <p:sp>
        <p:nvSpPr>
          <p:cNvPr id="222" name="Shape 220"/>
          <p:cNvSpPr/>
          <p:nvPr/>
        </p:nvSpPr>
        <p:spPr>
          <a:xfrm>
            <a:off x="4120286" y="1005840"/>
            <a:ext cx="31090" cy="31090"/>
          </a:xfrm>
          <a:prstGeom prst="ellipse">
            <a:avLst/>
          </a:prstGeom>
          <a:solidFill>
            <a:srgbClr val="FFFFFF"/>
          </a:solidFill>
          <a:ln w="12700">
            <a:solidFill>
              <a:srgbClr val="FFFFFF">
                <a:alpha val="0"/>
              </a:srgbClr>
            </a:solidFill>
            <a:prstDash val="solid"/>
          </a:ln>
        </p:spPr>
      </p:sp>
      <p:sp>
        <p:nvSpPr>
          <p:cNvPr id="223" name="Shape 221"/>
          <p:cNvSpPr/>
          <p:nvPr/>
        </p:nvSpPr>
        <p:spPr>
          <a:xfrm>
            <a:off x="4347058" y="1005840"/>
            <a:ext cx="31090" cy="31090"/>
          </a:xfrm>
          <a:prstGeom prst="ellipse">
            <a:avLst/>
          </a:prstGeom>
          <a:solidFill>
            <a:srgbClr val="FFFFFF"/>
          </a:solidFill>
          <a:ln w="12700">
            <a:solidFill>
              <a:srgbClr val="FFFFFF">
                <a:alpha val="0"/>
              </a:srgbClr>
            </a:solidFill>
            <a:prstDash val="solid"/>
          </a:ln>
        </p:spPr>
      </p:sp>
      <p:sp>
        <p:nvSpPr>
          <p:cNvPr id="224" name="Shape 222"/>
          <p:cNvSpPr/>
          <p:nvPr/>
        </p:nvSpPr>
        <p:spPr>
          <a:xfrm>
            <a:off x="4176979" y="1062533"/>
            <a:ext cx="31090" cy="31090"/>
          </a:xfrm>
          <a:prstGeom prst="ellipse">
            <a:avLst/>
          </a:prstGeom>
          <a:solidFill>
            <a:srgbClr val="FFFFFF"/>
          </a:solidFill>
          <a:ln w="12700">
            <a:solidFill>
              <a:srgbClr val="FFFFFF">
                <a:alpha val="0"/>
              </a:srgbClr>
            </a:solidFill>
            <a:prstDash val="solid"/>
          </a:ln>
        </p:spPr>
      </p:sp>
      <p:sp>
        <p:nvSpPr>
          <p:cNvPr id="225" name="Shape 223"/>
          <p:cNvSpPr/>
          <p:nvPr/>
        </p:nvSpPr>
        <p:spPr>
          <a:xfrm>
            <a:off x="4233672" y="1062533"/>
            <a:ext cx="31090" cy="31090"/>
          </a:xfrm>
          <a:prstGeom prst="ellipse">
            <a:avLst/>
          </a:prstGeom>
          <a:solidFill>
            <a:srgbClr val="FFFFFF"/>
          </a:solidFill>
          <a:ln w="12700">
            <a:solidFill>
              <a:srgbClr val="FFFFFF">
                <a:alpha val="0"/>
              </a:srgbClr>
            </a:solidFill>
            <a:prstDash val="solid"/>
          </a:ln>
        </p:spPr>
      </p:sp>
      <p:sp>
        <p:nvSpPr>
          <p:cNvPr id="226" name="Shape 224"/>
          <p:cNvSpPr/>
          <p:nvPr/>
        </p:nvSpPr>
        <p:spPr>
          <a:xfrm>
            <a:off x="4290365" y="1062533"/>
            <a:ext cx="31090" cy="31090"/>
          </a:xfrm>
          <a:prstGeom prst="ellipse">
            <a:avLst/>
          </a:prstGeom>
          <a:solidFill>
            <a:srgbClr val="FFFFFF"/>
          </a:solidFill>
          <a:ln w="12700">
            <a:solidFill>
              <a:srgbClr val="FFFFFF">
                <a:alpha val="0"/>
              </a:srgbClr>
            </a:solidFill>
            <a:prstDash val="solid"/>
          </a:ln>
        </p:spPr>
      </p:sp>
      <p:sp>
        <p:nvSpPr>
          <p:cNvPr id="227" name="Shape 225"/>
          <p:cNvSpPr/>
          <p:nvPr/>
        </p:nvSpPr>
        <p:spPr>
          <a:xfrm>
            <a:off x="4460443" y="722376"/>
            <a:ext cx="31090" cy="31090"/>
          </a:xfrm>
          <a:prstGeom prst="ellipse">
            <a:avLst/>
          </a:prstGeom>
          <a:solidFill>
            <a:srgbClr val="FFFFFF"/>
          </a:solidFill>
          <a:ln w="12700">
            <a:solidFill>
              <a:srgbClr val="FFFFFF">
                <a:alpha val="0"/>
              </a:srgbClr>
            </a:solidFill>
            <a:prstDash val="solid"/>
          </a:ln>
        </p:spPr>
      </p:sp>
      <p:sp>
        <p:nvSpPr>
          <p:cNvPr id="228" name="Shape 226"/>
          <p:cNvSpPr/>
          <p:nvPr/>
        </p:nvSpPr>
        <p:spPr>
          <a:xfrm>
            <a:off x="4517136" y="722376"/>
            <a:ext cx="31090" cy="31090"/>
          </a:xfrm>
          <a:prstGeom prst="ellipse">
            <a:avLst/>
          </a:prstGeom>
          <a:solidFill>
            <a:srgbClr val="FFFFFF"/>
          </a:solidFill>
          <a:ln w="12700">
            <a:solidFill>
              <a:srgbClr val="FFFFFF">
                <a:alpha val="0"/>
              </a:srgbClr>
            </a:solidFill>
            <a:prstDash val="solid"/>
          </a:ln>
        </p:spPr>
      </p:sp>
      <p:sp>
        <p:nvSpPr>
          <p:cNvPr id="229" name="Shape 227"/>
          <p:cNvSpPr/>
          <p:nvPr/>
        </p:nvSpPr>
        <p:spPr>
          <a:xfrm>
            <a:off x="4573829" y="722376"/>
            <a:ext cx="31090" cy="31090"/>
          </a:xfrm>
          <a:prstGeom prst="ellipse">
            <a:avLst/>
          </a:prstGeom>
          <a:solidFill>
            <a:srgbClr val="FFFFFF"/>
          </a:solidFill>
          <a:ln w="12700">
            <a:solidFill>
              <a:srgbClr val="FFFFFF">
                <a:alpha val="0"/>
              </a:srgbClr>
            </a:solidFill>
            <a:prstDash val="solid"/>
          </a:ln>
        </p:spPr>
      </p:sp>
      <p:sp>
        <p:nvSpPr>
          <p:cNvPr id="230" name="Shape 228"/>
          <p:cNvSpPr/>
          <p:nvPr/>
        </p:nvSpPr>
        <p:spPr>
          <a:xfrm>
            <a:off x="4630522" y="722376"/>
            <a:ext cx="31090" cy="31090"/>
          </a:xfrm>
          <a:prstGeom prst="ellipse">
            <a:avLst/>
          </a:prstGeom>
          <a:solidFill>
            <a:srgbClr val="FFFFFF"/>
          </a:solidFill>
          <a:ln w="12700">
            <a:solidFill>
              <a:srgbClr val="FFFFFF">
                <a:alpha val="0"/>
              </a:srgbClr>
            </a:solidFill>
            <a:prstDash val="solid"/>
          </a:ln>
        </p:spPr>
      </p:sp>
      <p:sp>
        <p:nvSpPr>
          <p:cNvPr id="231" name="Shape 229"/>
          <p:cNvSpPr/>
          <p:nvPr/>
        </p:nvSpPr>
        <p:spPr>
          <a:xfrm>
            <a:off x="4687214" y="722376"/>
            <a:ext cx="31090" cy="31090"/>
          </a:xfrm>
          <a:prstGeom prst="ellipse">
            <a:avLst/>
          </a:prstGeom>
          <a:solidFill>
            <a:srgbClr val="FFFFFF"/>
          </a:solidFill>
          <a:ln w="12700">
            <a:solidFill>
              <a:srgbClr val="FFFFFF">
                <a:alpha val="0"/>
              </a:srgbClr>
            </a:solidFill>
            <a:prstDash val="solid"/>
          </a:ln>
        </p:spPr>
      </p:sp>
      <p:sp>
        <p:nvSpPr>
          <p:cNvPr id="232" name="Shape 230"/>
          <p:cNvSpPr/>
          <p:nvPr/>
        </p:nvSpPr>
        <p:spPr>
          <a:xfrm>
            <a:off x="4573829" y="779069"/>
            <a:ext cx="31090" cy="31090"/>
          </a:xfrm>
          <a:prstGeom prst="ellipse">
            <a:avLst/>
          </a:prstGeom>
          <a:solidFill>
            <a:srgbClr val="FFFFFF"/>
          </a:solidFill>
          <a:ln w="12700">
            <a:solidFill>
              <a:srgbClr val="FFFFFF">
                <a:alpha val="0"/>
              </a:srgbClr>
            </a:solidFill>
            <a:prstDash val="solid"/>
          </a:ln>
        </p:spPr>
      </p:sp>
      <p:sp>
        <p:nvSpPr>
          <p:cNvPr id="233" name="Shape 231"/>
          <p:cNvSpPr/>
          <p:nvPr/>
        </p:nvSpPr>
        <p:spPr>
          <a:xfrm>
            <a:off x="4573829" y="835762"/>
            <a:ext cx="31090" cy="31090"/>
          </a:xfrm>
          <a:prstGeom prst="ellipse">
            <a:avLst/>
          </a:prstGeom>
          <a:solidFill>
            <a:srgbClr val="FFFFFF"/>
          </a:solidFill>
          <a:ln w="12700">
            <a:solidFill>
              <a:srgbClr val="FFFFFF">
                <a:alpha val="0"/>
              </a:srgbClr>
            </a:solidFill>
            <a:prstDash val="solid"/>
          </a:ln>
        </p:spPr>
      </p:sp>
      <p:sp>
        <p:nvSpPr>
          <p:cNvPr id="234" name="Shape 232"/>
          <p:cNvSpPr/>
          <p:nvPr/>
        </p:nvSpPr>
        <p:spPr>
          <a:xfrm>
            <a:off x="4573829" y="892454"/>
            <a:ext cx="31090" cy="31090"/>
          </a:xfrm>
          <a:prstGeom prst="ellipse">
            <a:avLst/>
          </a:prstGeom>
          <a:solidFill>
            <a:srgbClr val="FFFFFF"/>
          </a:solidFill>
          <a:ln w="12700">
            <a:solidFill>
              <a:srgbClr val="FFFFFF">
                <a:alpha val="0"/>
              </a:srgbClr>
            </a:solidFill>
            <a:prstDash val="solid"/>
          </a:ln>
        </p:spPr>
      </p:sp>
      <p:sp>
        <p:nvSpPr>
          <p:cNvPr id="235" name="Shape 233"/>
          <p:cNvSpPr/>
          <p:nvPr/>
        </p:nvSpPr>
        <p:spPr>
          <a:xfrm>
            <a:off x="4573829" y="949147"/>
            <a:ext cx="31090" cy="31090"/>
          </a:xfrm>
          <a:prstGeom prst="ellipse">
            <a:avLst/>
          </a:prstGeom>
          <a:solidFill>
            <a:srgbClr val="FFFFFF"/>
          </a:solidFill>
          <a:ln w="12700">
            <a:solidFill>
              <a:srgbClr val="FFFFFF">
                <a:alpha val="0"/>
              </a:srgbClr>
            </a:solidFill>
            <a:prstDash val="solid"/>
          </a:ln>
        </p:spPr>
      </p:sp>
      <p:sp>
        <p:nvSpPr>
          <p:cNvPr id="236" name="Shape 234"/>
          <p:cNvSpPr/>
          <p:nvPr/>
        </p:nvSpPr>
        <p:spPr>
          <a:xfrm>
            <a:off x="4573829" y="1005840"/>
            <a:ext cx="31090" cy="31090"/>
          </a:xfrm>
          <a:prstGeom prst="ellipse">
            <a:avLst/>
          </a:prstGeom>
          <a:solidFill>
            <a:srgbClr val="FFFFFF"/>
          </a:solidFill>
          <a:ln w="12700">
            <a:solidFill>
              <a:srgbClr val="FFFFFF">
                <a:alpha val="0"/>
              </a:srgbClr>
            </a:solidFill>
            <a:prstDash val="solid"/>
          </a:ln>
        </p:spPr>
      </p:sp>
      <p:sp>
        <p:nvSpPr>
          <p:cNvPr id="237" name="Shape 235"/>
          <p:cNvSpPr/>
          <p:nvPr/>
        </p:nvSpPr>
        <p:spPr>
          <a:xfrm>
            <a:off x="4573829" y="1062533"/>
            <a:ext cx="31090" cy="31090"/>
          </a:xfrm>
          <a:prstGeom prst="ellipse">
            <a:avLst/>
          </a:prstGeom>
          <a:solidFill>
            <a:srgbClr val="FFFFFF"/>
          </a:solidFill>
          <a:ln w="12700">
            <a:solidFill>
              <a:srgbClr val="FFFFFF">
                <a:alpha val="0"/>
              </a:srgbClr>
            </a:solidFill>
            <a:prstDash val="solid"/>
          </a:ln>
        </p:spPr>
      </p:sp>
      <p:sp>
        <p:nvSpPr>
          <p:cNvPr id="238" name="Shape 236"/>
          <p:cNvSpPr/>
          <p:nvPr/>
        </p:nvSpPr>
        <p:spPr>
          <a:xfrm>
            <a:off x="694944" y="1572768"/>
            <a:ext cx="2542032" cy="356616"/>
          </a:xfrm>
          <a:prstGeom prst="roundRect">
            <a:avLst>
              <a:gd name="adj" fmla="val 50000"/>
            </a:avLst>
          </a:prstGeom>
          <a:solidFill>
            <a:srgbClr val="E9E9E6"/>
          </a:solidFill>
          <a:ln w="12700">
            <a:solidFill>
              <a:srgbClr val="E9E9E6">
                <a:alpha val="0"/>
              </a:srgbClr>
            </a:solidFill>
            <a:prstDash val="solid"/>
          </a:ln>
        </p:spPr>
      </p:sp>
      <p:sp>
        <p:nvSpPr>
          <p:cNvPr id="239" name="Text 237"/>
          <p:cNvSpPr/>
          <p:nvPr/>
        </p:nvSpPr>
        <p:spPr>
          <a:xfrm>
            <a:off x="804672" y="1591056"/>
            <a:ext cx="2322576" cy="32004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FINAL DEVOPS CAPSTONE</a:t>
            </a:r>
            <a:endParaRPr lang="en-US" sz="1000" dirty="0"/>
          </a:p>
        </p:txBody>
      </p:sp>
      <p:sp>
        <p:nvSpPr>
          <p:cNvPr id="240" name="Text 238"/>
          <p:cNvSpPr/>
          <p:nvPr/>
        </p:nvSpPr>
        <p:spPr>
          <a:xfrm>
            <a:off x="630936" y="2075688"/>
            <a:ext cx="8321040" cy="1856232"/>
          </a:xfrm>
          <a:prstGeom prst="rect">
            <a:avLst/>
          </a:prstGeom>
          <a:noFill/>
          <a:ln/>
        </p:spPr>
        <p:txBody>
          <a:bodyPr wrap="square" lIns="0" tIns="0" rIns="0" bIns="0" rtlCol="0" anchor="ctr">
            <a:normAutofit/>
          </a:bodyPr>
          <a:lstStyle/>
          <a:p>
            <a:pPr indent="0" marL="0">
              <a:buNone/>
            </a:pPr>
            <a:r>
              <a:rPr lang="en-US" sz="4700" b="1" dirty="0">
                <a:solidFill>
                  <a:srgbClr val="FFFFFF"/>
                </a:solidFill>
                <a:latin typeface="Inter Display" pitchFamily="34" charset="0"/>
                <a:ea typeface="Inter Display" pitchFamily="34" charset="-122"/>
                <a:cs typeface="Inter Display" pitchFamily="34" charset="-120"/>
              </a:rPr>
              <a:t>Inventory,</a:t>
            </a:r>
            <a:endParaRPr lang="en-US" sz="4700" dirty="0"/>
          </a:p>
          <a:p>
            <a:pPr indent="0" marL="0">
              <a:buNone/>
            </a:pPr>
            <a:r>
              <a:rPr lang="en-US" sz="4700" b="1" dirty="0">
                <a:solidFill>
                  <a:srgbClr val="FFFFFF"/>
                </a:solidFill>
                <a:latin typeface="Inter Display" pitchFamily="34" charset="0"/>
                <a:ea typeface="Inter Display" pitchFamily="34" charset="-122"/>
                <a:cs typeface="Inter Display" pitchFamily="34" charset="-120"/>
              </a:rPr>
              <a:t>under control.</a:t>
            </a:r>
            <a:endParaRPr lang="en-US" sz="4700" dirty="0"/>
          </a:p>
        </p:txBody>
      </p:sp>
      <p:sp>
        <p:nvSpPr>
          <p:cNvPr id="241" name="Text 239"/>
          <p:cNvSpPr/>
          <p:nvPr/>
        </p:nvSpPr>
        <p:spPr>
          <a:xfrm>
            <a:off x="713232" y="4334256"/>
            <a:ext cx="8046720" cy="804672"/>
          </a:xfrm>
          <a:prstGeom prst="rect">
            <a:avLst/>
          </a:prstGeom>
          <a:noFill/>
          <a:ln/>
        </p:spPr>
        <p:txBody>
          <a:bodyPr wrap="square" lIns="0" tIns="0" rIns="0" bIns="0" rtlCol="0" anchor="ctr">
            <a:normAutofit/>
          </a:bodyPr>
          <a:lstStyle/>
          <a:p>
            <a:pPr indent="0" marL="0">
              <a:lnSpc>
                <a:spcPct val="105000"/>
              </a:lnSpc>
              <a:buNone/>
            </a:pPr>
            <a:r>
              <a:rPr lang="en-US" sz="1800" dirty="0">
                <a:solidFill>
                  <a:srgbClr val="CFCFCA"/>
                </a:solidFill>
                <a:latin typeface="Inter" pitchFamily="34" charset="0"/>
                <a:ea typeface="Inter" pitchFamily="34" charset="-122"/>
                <a:cs typeface="Inter" pitchFamily="34" charset="-120"/>
              </a:rPr>
              <a:t>An original inventory platform, engineered end-to-end</a:t>
            </a:r>
            <a:endParaRPr lang="en-US" sz="1800" dirty="0"/>
          </a:p>
          <a:p>
            <a:pPr indent="0" marL="0">
              <a:lnSpc>
                <a:spcPct val="105000"/>
              </a:lnSpc>
              <a:buNone/>
            </a:pPr>
            <a:r>
              <a:rPr lang="en-US" sz="1800" dirty="0">
                <a:solidFill>
                  <a:srgbClr val="CFCFCA"/>
                </a:solidFill>
                <a:latin typeface="Inter" pitchFamily="34" charset="0"/>
                <a:ea typeface="Inter" pitchFamily="34" charset="-122"/>
                <a:cs typeface="Inter" pitchFamily="34" charset="-120"/>
              </a:rPr>
              <a:t>from React and FastAPI to AWS EKS and observability.</a:t>
            </a:r>
            <a:endParaRPr lang="en-US" sz="1800" dirty="0"/>
          </a:p>
        </p:txBody>
      </p:sp>
      <p:sp>
        <p:nvSpPr>
          <p:cNvPr id="242" name="Shape 240"/>
          <p:cNvSpPr/>
          <p:nvPr/>
        </p:nvSpPr>
        <p:spPr>
          <a:xfrm>
            <a:off x="722376" y="5943600"/>
            <a:ext cx="10725912" cy="0"/>
          </a:xfrm>
          <a:prstGeom prst="line">
            <a:avLst/>
          </a:prstGeom>
          <a:noFill/>
          <a:ln w="12700">
            <a:solidFill>
              <a:srgbClr val="D0D0CB"/>
            </a:solidFill>
            <a:prstDash val="solid"/>
            <a:headEnd type="none"/>
            <a:tailEnd type="none"/>
          </a:ln>
        </p:spPr>
      </p:sp>
      <p:sp>
        <p:nvSpPr>
          <p:cNvPr id="243" name="Text 241"/>
          <p:cNvSpPr/>
          <p:nvPr/>
        </p:nvSpPr>
        <p:spPr>
          <a:xfrm>
            <a:off x="731520" y="6126480"/>
            <a:ext cx="10881360" cy="219456"/>
          </a:xfrm>
          <a:prstGeom prst="rect">
            <a:avLst/>
          </a:prstGeom>
          <a:noFill/>
          <a:ln/>
        </p:spPr>
        <p:txBody>
          <a:bodyPr wrap="square" lIns="0" tIns="0" rIns="0" bIns="0" rtlCol="0" anchor="ctr">
            <a:normAutofit/>
          </a:bodyPr>
          <a:lstStyle/>
          <a:p>
            <a:pPr indent="0" marL="0">
              <a:buNone/>
            </a:pPr>
            <a:r>
              <a:rPr lang="en-US" sz="1000" b="1" spc="50" kern="0" dirty="0">
                <a:solidFill>
                  <a:srgbClr val="F3F3F0"/>
                </a:solidFill>
                <a:latin typeface="PT Mono" pitchFamily="34" charset="0"/>
                <a:ea typeface="PT Mono" pitchFamily="34" charset="-122"/>
                <a:cs typeface="PT Mono" pitchFamily="34" charset="-120"/>
              </a:rPr>
              <a:t>REACT  •  FASTAPI  •  POSTGRESQL  •  DOCKER  •  KUBERNETES  •  TERRAFORM</a:t>
            </a:r>
            <a:endParaRPr lang="en-US" sz="1000" dirty="0"/>
          </a:p>
        </p:txBody>
      </p:sp>
      <p:sp>
        <p:nvSpPr>
          <p:cNvPr id="244" name="Shape 242"/>
          <p:cNvSpPr/>
          <p:nvPr/>
        </p:nvSpPr>
        <p:spPr>
          <a:xfrm>
            <a:off x="758952" y="5431536"/>
            <a:ext cx="32918" cy="32918"/>
          </a:xfrm>
          <a:prstGeom prst="ellipse">
            <a:avLst/>
          </a:prstGeom>
          <a:solidFill>
            <a:srgbClr val="575757"/>
          </a:solidFill>
          <a:ln w="12700">
            <a:solidFill>
              <a:srgbClr val="575757">
                <a:alpha val="0"/>
              </a:srgbClr>
            </a:solidFill>
            <a:prstDash val="solid"/>
          </a:ln>
        </p:spPr>
      </p:sp>
      <p:sp>
        <p:nvSpPr>
          <p:cNvPr id="245" name="Shape 243"/>
          <p:cNvSpPr/>
          <p:nvPr/>
        </p:nvSpPr>
        <p:spPr>
          <a:xfrm>
            <a:off x="841248" y="5431536"/>
            <a:ext cx="32918" cy="32918"/>
          </a:xfrm>
          <a:prstGeom prst="ellipse">
            <a:avLst/>
          </a:prstGeom>
          <a:solidFill>
            <a:srgbClr val="575757"/>
          </a:solidFill>
          <a:ln w="12700">
            <a:solidFill>
              <a:srgbClr val="575757">
                <a:alpha val="0"/>
              </a:srgbClr>
            </a:solidFill>
            <a:prstDash val="solid"/>
          </a:ln>
        </p:spPr>
      </p:sp>
      <p:sp>
        <p:nvSpPr>
          <p:cNvPr id="246" name="Shape 244"/>
          <p:cNvSpPr/>
          <p:nvPr/>
        </p:nvSpPr>
        <p:spPr>
          <a:xfrm>
            <a:off x="923544" y="5431536"/>
            <a:ext cx="32918" cy="32918"/>
          </a:xfrm>
          <a:prstGeom prst="ellipse">
            <a:avLst/>
          </a:prstGeom>
          <a:solidFill>
            <a:srgbClr val="575757"/>
          </a:solidFill>
          <a:ln w="12700">
            <a:solidFill>
              <a:srgbClr val="575757">
                <a:alpha val="0"/>
              </a:srgbClr>
            </a:solidFill>
            <a:prstDash val="solid"/>
          </a:ln>
        </p:spPr>
      </p:sp>
      <p:sp>
        <p:nvSpPr>
          <p:cNvPr id="247" name="Shape 245"/>
          <p:cNvSpPr/>
          <p:nvPr/>
        </p:nvSpPr>
        <p:spPr>
          <a:xfrm>
            <a:off x="1005840" y="5431536"/>
            <a:ext cx="32918" cy="32918"/>
          </a:xfrm>
          <a:prstGeom prst="ellipse">
            <a:avLst/>
          </a:prstGeom>
          <a:solidFill>
            <a:srgbClr val="575757"/>
          </a:solidFill>
          <a:ln w="12700">
            <a:solidFill>
              <a:srgbClr val="575757">
                <a:alpha val="0"/>
              </a:srgbClr>
            </a:solidFill>
            <a:prstDash val="solid"/>
          </a:ln>
        </p:spPr>
      </p:sp>
      <p:sp>
        <p:nvSpPr>
          <p:cNvPr id="248" name="Shape 246"/>
          <p:cNvSpPr/>
          <p:nvPr/>
        </p:nvSpPr>
        <p:spPr>
          <a:xfrm>
            <a:off x="1088136" y="5431536"/>
            <a:ext cx="32918" cy="32918"/>
          </a:xfrm>
          <a:prstGeom prst="ellipse">
            <a:avLst/>
          </a:prstGeom>
          <a:solidFill>
            <a:srgbClr val="575757"/>
          </a:solidFill>
          <a:ln w="12700">
            <a:solidFill>
              <a:srgbClr val="575757">
                <a:alpha val="0"/>
              </a:srgbClr>
            </a:solidFill>
            <a:prstDash val="solid"/>
          </a:ln>
        </p:spPr>
      </p:sp>
      <p:sp>
        <p:nvSpPr>
          <p:cNvPr id="249" name="Shape 247"/>
          <p:cNvSpPr/>
          <p:nvPr/>
        </p:nvSpPr>
        <p:spPr>
          <a:xfrm>
            <a:off x="1252728" y="5431536"/>
            <a:ext cx="32918" cy="32918"/>
          </a:xfrm>
          <a:prstGeom prst="ellipse">
            <a:avLst/>
          </a:prstGeom>
          <a:solidFill>
            <a:srgbClr val="575757"/>
          </a:solidFill>
          <a:ln w="12700">
            <a:solidFill>
              <a:srgbClr val="575757">
                <a:alpha val="0"/>
              </a:srgbClr>
            </a:solidFill>
            <a:prstDash val="solid"/>
          </a:ln>
        </p:spPr>
      </p:sp>
      <p:sp>
        <p:nvSpPr>
          <p:cNvPr id="250" name="Shape 248"/>
          <p:cNvSpPr/>
          <p:nvPr/>
        </p:nvSpPr>
        <p:spPr>
          <a:xfrm>
            <a:off x="1335024" y="5431536"/>
            <a:ext cx="32918" cy="32918"/>
          </a:xfrm>
          <a:prstGeom prst="ellipse">
            <a:avLst/>
          </a:prstGeom>
          <a:solidFill>
            <a:srgbClr val="575757"/>
          </a:solidFill>
          <a:ln w="12700">
            <a:solidFill>
              <a:srgbClr val="575757">
                <a:alpha val="0"/>
              </a:srgbClr>
            </a:solidFill>
            <a:prstDash val="solid"/>
          </a:ln>
        </p:spPr>
      </p:sp>
      <p:sp>
        <p:nvSpPr>
          <p:cNvPr id="251" name="Shape 249"/>
          <p:cNvSpPr/>
          <p:nvPr/>
        </p:nvSpPr>
        <p:spPr>
          <a:xfrm>
            <a:off x="1417320" y="5431536"/>
            <a:ext cx="32918" cy="32918"/>
          </a:xfrm>
          <a:prstGeom prst="ellipse">
            <a:avLst/>
          </a:prstGeom>
          <a:solidFill>
            <a:srgbClr val="575757"/>
          </a:solidFill>
          <a:ln w="12700">
            <a:solidFill>
              <a:srgbClr val="575757">
                <a:alpha val="0"/>
              </a:srgbClr>
            </a:solidFill>
            <a:prstDash val="solid"/>
          </a:ln>
        </p:spPr>
      </p:sp>
      <p:sp>
        <p:nvSpPr>
          <p:cNvPr id="252" name="Shape 250"/>
          <p:cNvSpPr/>
          <p:nvPr/>
        </p:nvSpPr>
        <p:spPr>
          <a:xfrm>
            <a:off x="1499616" y="5431536"/>
            <a:ext cx="32918" cy="32918"/>
          </a:xfrm>
          <a:prstGeom prst="ellipse">
            <a:avLst/>
          </a:prstGeom>
          <a:solidFill>
            <a:srgbClr val="575757"/>
          </a:solidFill>
          <a:ln w="12700">
            <a:solidFill>
              <a:srgbClr val="575757">
                <a:alpha val="0"/>
              </a:srgbClr>
            </a:solidFill>
            <a:prstDash val="solid"/>
          </a:ln>
        </p:spPr>
      </p:sp>
      <p:sp>
        <p:nvSpPr>
          <p:cNvPr id="253" name="Shape 251"/>
          <p:cNvSpPr/>
          <p:nvPr/>
        </p:nvSpPr>
        <p:spPr>
          <a:xfrm>
            <a:off x="1581912" y="5431536"/>
            <a:ext cx="32918" cy="32918"/>
          </a:xfrm>
          <a:prstGeom prst="ellipse">
            <a:avLst/>
          </a:prstGeom>
          <a:solidFill>
            <a:srgbClr val="575757"/>
          </a:solidFill>
          <a:ln w="12700">
            <a:solidFill>
              <a:srgbClr val="575757">
                <a:alpha val="0"/>
              </a:srgbClr>
            </a:solidFill>
            <a:prstDash val="solid"/>
          </a:ln>
        </p:spPr>
      </p:sp>
      <p:sp>
        <p:nvSpPr>
          <p:cNvPr id="254" name="Shape 252"/>
          <p:cNvSpPr/>
          <p:nvPr/>
        </p:nvSpPr>
        <p:spPr>
          <a:xfrm>
            <a:off x="1664208" y="5431536"/>
            <a:ext cx="32918" cy="32918"/>
          </a:xfrm>
          <a:prstGeom prst="ellipse">
            <a:avLst/>
          </a:prstGeom>
          <a:solidFill>
            <a:srgbClr val="575757"/>
          </a:solidFill>
          <a:ln w="12700">
            <a:solidFill>
              <a:srgbClr val="575757">
                <a:alpha val="0"/>
              </a:srgbClr>
            </a:solidFill>
            <a:prstDash val="solid"/>
          </a:ln>
        </p:spPr>
      </p:sp>
      <p:sp>
        <p:nvSpPr>
          <p:cNvPr id="255" name="Shape 253"/>
          <p:cNvSpPr/>
          <p:nvPr/>
        </p:nvSpPr>
        <p:spPr>
          <a:xfrm>
            <a:off x="1828800" y="5431536"/>
            <a:ext cx="32918" cy="32918"/>
          </a:xfrm>
          <a:prstGeom prst="ellipse">
            <a:avLst/>
          </a:prstGeom>
          <a:solidFill>
            <a:srgbClr val="575757"/>
          </a:solidFill>
          <a:ln w="12700">
            <a:solidFill>
              <a:srgbClr val="575757">
                <a:alpha val="0"/>
              </a:srgbClr>
            </a:solidFill>
            <a:prstDash val="solid"/>
          </a:ln>
        </p:spPr>
      </p:sp>
      <p:sp>
        <p:nvSpPr>
          <p:cNvPr id="256" name="Shape 254"/>
          <p:cNvSpPr/>
          <p:nvPr/>
        </p:nvSpPr>
        <p:spPr>
          <a:xfrm>
            <a:off x="1911096" y="5431536"/>
            <a:ext cx="32918" cy="32918"/>
          </a:xfrm>
          <a:prstGeom prst="ellipse">
            <a:avLst/>
          </a:prstGeom>
          <a:solidFill>
            <a:srgbClr val="575757"/>
          </a:solidFill>
          <a:ln w="12700">
            <a:solidFill>
              <a:srgbClr val="575757">
                <a:alpha val="0"/>
              </a:srgbClr>
            </a:solidFill>
            <a:prstDash val="solid"/>
          </a:ln>
        </p:spPr>
      </p:sp>
      <p:sp>
        <p:nvSpPr>
          <p:cNvPr id="257" name="Shape 255"/>
          <p:cNvSpPr/>
          <p:nvPr/>
        </p:nvSpPr>
        <p:spPr>
          <a:xfrm>
            <a:off x="1993392" y="5431536"/>
            <a:ext cx="32918" cy="32918"/>
          </a:xfrm>
          <a:prstGeom prst="ellipse">
            <a:avLst/>
          </a:prstGeom>
          <a:solidFill>
            <a:srgbClr val="575757"/>
          </a:solidFill>
          <a:ln w="12700">
            <a:solidFill>
              <a:srgbClr val="575757">
                <a:alpha val="0"/>
              </a:srgbClr>
            </a:solidFill>
            <a:prstDash val="solid"/>
          </a:ln>
        </p:spPr>
      </p:sp>
      <p:sp>
        <p:nvSpPr>
          <p:cNvPr id="258" name="Shape 256"/>
          <p:cNvSpPr/>
          <p:nvPr/>
        </p:nvSpPr>
        <p:spPr>
          <a:xfrm>
            <a:off x="758952" y="5513832"/>
            <a:ext cx="32918" cy="32918"/>
          </a:xfrm>
          <a:prstGeom prst="ellipse">
            <a:avLst/>
          </a:prstGeom>
          <a:solidFill>
            <a:srgbClr val="575757"/>
          </a:solidFill>
          <a:ln w="12700">
            <a:solidFill>
              <a:srgbClr val="575757">
                <a:alpha val="0"/>
              </a:srgbClr>
            </a:solidFill>
            <a:prstDash val="solid"/>
          </a:ln>
        </p:spPr>
      </p:sp>
      <p:sp>
        <p:nvSpPr>
          <p:cNvPr id="259" name="Shape 257"/>
          <p:cNvSpPr/>
          <p:nvPr/>
        </p:nvSpPr>
        <p:spPr>
          <a:xfrm>
            <a:off x="923544" y="5513832"/>
            <a:ext cx="32918" cy="32918"/>
          </a:xfrm>
          <a:prstGeom prst="ellipse">
            <a:avLst/>
          </a:prstGeom>
          <a:solidFill>
            <a:srgbClr val="575757"/>
          </a:solidFill>
          <a:ln w="12700">
            <a:solidFill>
              <a:srgbClr val="575757">
                <a:alpha val="0"/>
              </a:srgbClr>
            </a:solidFill>
            <a:prstDash val="solid"/>
          </a:ln>
        </p:spPr>
      </p:sp>
      <p:sp>
        <p:nvSpPr>
          <p:cNvPr id="260" name="Shape 258"/>
          <p:cNvSpPr/>
          <p:nvPr/>
        </p:nvSpPr>
        <p:spPr>
          <a:xfrm>
            <a:off x="1005840" y="5513832"/>
            <a:ext cx="32918" cy="32918"/>
          </a:xfrm>
          <a:prstGeom prst="ellipse">
            <a:avLst/>
          </a:prstGeom>
          <a:solidFill>
            <a:srgbClr val="575757"/>
          </a:solidFill>
          <a:ln w="12700">
            <a:solidFill>
              <a:srgbClr val="575757">
                <a:alpha val="0"/>
              </a:srgbClr>
            </a:solidFill>
            <a:prstDash val="solid"/>
          </a:ln>
        </p:spPr>
      </p:sp>
      <p:sp>
        <p:nvSpPr>
          <p:cNvPr id="261" name="Shape 259"/>
          <p:cNvSpPr/>
          <p:nvPr/>
        </p:nvSpPr>
        <p:spPr>
          <a:xfrm>
            <a:off x="1088136" y="5513832"/>
            <a:ext cx="32918" cy="32918"/>
          </a:xfrm>
          <a:prstGeom prst="ellipse">
            <a:avLst/>
          </a:prstGeom>
          <a:solidFill>
            <a:srgbClr val="575757"/>
          </a:solidFill>
          <a:ln w="12700">
            <a:solidFill>
              <a:srgbClr val="575757">
                <a:alpha val="0"/>
              </a:srgbClr>
            </a:solidFill>
            <a:prstDash val="solid"/>
          </a:ln>
        </p:spPr>
      </p:sp>
      <p:sp>
        <p:nvSpPr>
          <p:cNvPr id="262" name="Shape 260"/>
          <p:cNvSpPr/>
          <p:nvPr/>
        </p:nvSpPr>
        <p:spPr>
          <a:xfrm>
            <a:off x="1170432" y="5513832"/>
            <a:ext cx="32918" cy="32918"/>
          </a:xfrm>
          <a:prstGeom prst="ellipse">
            <a:avLst/>
          </a:prstGeom>
          <a:solidFill>
            <a:srgbClr val="575757"/>
          </a:solidFill>
          <a:ln w="12700">
            <a:solidFill>
              <a:srgbClr val="575757">
                <a:alpha val="0"/>
              </a:srgbClr>
            </a:solidFill>
            <a:prstDash val="solid"/>
          </a:ln>
        </p:spPr>
      </p:sp>
      <p:sp>
        <p:nvSpPr>
          <p:cNvPr id="263" name="Shape 261"/>
          <p:cNvSpPr/>
          <p:nvPr/>
        </p:nvSpPr>
        <p:spPr>
          <a:xfrm>
            <a:off x="1252728" y="5513832"/>
            <a:ext cx="32918" cy="32918"/>
          </a:xfrm>
          <a:prstGeom prst="ellipse">
            <a:avLst/>
          </a:prstGeom>
          <a:solidFill>
            <a:srgbClr val="575757"/>
          </a:solidFill>
          <a:ln w="12700">
            <a:solidFill>
              <a:srgbClr val="575757">
                <a:alpha val="0"/>
              </a:srgbClr>
            </a:solidFill>
            <a:prstDash val="solid"/>
          </a:ln>
        </p:spPr>
      </p:sp>
      <p:sp>
        <p:nvSpPr>
          <p:cNvPr id="264" name="Shape 262"/>
          <p:cNvSpPr/>
          <p:nvPr/>
        </p:nvSpPr>
        <p:spPr>
          <a:xfrm>
            <a:off x="1335024" y="5513832"/>
            <a:ext cx="32918" cy="32918"/>
          </a:xfrm>
          <a:prstGeom prst="ellipse">
            <a:avLst/>
          </a:prstGeom>
          <a:solidFill>
            <a:srgbClr val="575757"/>
          </a:solidFill>
          <a:ln w="12700">
            <a:solidFill>
              <a:srgbClr val="575757">
                <a:alpha val="0"/>
              </a:srgbClr>
            </a:solidFill>
            <a:prstDash val="solid"/>
          </a:ln>
        </p:spPr>
      </p:sp>
      <p:sp>
        <p:nvSpPr>
          <p:cNvPr id="265" name="Shape 263"/>
          <p:cNvSpPr/>
          <p:nvPr/>
        </p:nvSpPr>
        <p:spPr>
          <a:xfrm>
            <a:off x="1499616" y="5513832"/>
            <a:ext cx="32918" cy="32918"/>
          </a:xfrm>
          <a:prstGeom prst="ellipse">
            <a:avLst/>
          </a:prstGeom>
          <a:solidFill>
            <a:srgbClr val="575757"/>
          </a:solidFill>
          <a:ln w="12700">
            <a:solidFill>
              <a:srgbClr val="575757">
                <a:alpha val="0"/>
              </a:srgbClr>
            </a:solidFill>
            <a:prstDash val="solid"/>
          </a:ln>
        </p:spPr>
      </p:sp>
      <p:sp>
        <p:nvSpPr>
          <p:cNvPr id="266" name="Shape 264"/>
          <p:cNvSpPr/>
          <p:nvPr/>
        </p:nvSpPr>
        <p:spPr>
          <a:xfrm>
            <a:off x="1581912" y="5513832"/>
            <a:ext cx="32918" cy="32918"/>
          </a:xfrm>
          <a:prstGeom prst="ellipse">
            <a:avLst/>
          </a:prstGeom>
          <a:solidFill>
            <a:srgbClr val="575757"/>
          </a:solidFill>
          <a:ln w="12700">
            <a:solidFill>
              <a:srgbClr val="575757">
                <a:alpha val="0"/>
              </a:srgbClr>
            </a:solidFill>
            <a:prstDash val="solid"/>
          </a:ln>
        </p:spPr>
      </p:sp>
      <p:sp>
        <p:nvSpPr>
          <p:cNvPr id="267" name="Shape 265"/>
          <p:cNvSpPr/>
          <p:nvPr/>
        </p:nvSpPr>
        <p:spPr>
          <a:xfrm>
            <a:off x="1664208" y="5513832"/>
            <a:ext cx="32918" cy="32918"/>
          </a:xfrm>
          <a:prstGeom prst="ellipse">
            <a:avLst/>
          </a:prstGeom>
          <a:solidFill>
            <a:srgbClr val="575757"/>
          </a:solidFill>
          <a:ln w="12700">
            <a:solidFill>
              <a:srgbClr val="575757">
                <a:alpha val="0"/>
              </a:srgbClr>
            </a:solidFill>
            <a:prstDash val="solid"/>
          </a:ln>
        </p:spPr>
      </p:sp>
      <p:sp>
        <p:nvSpPr>
          <p:cNvPr id="268" name="Shape 266"/>
          <p:cNvSpPr/>
          <p:nvPr/>
        </p:nvSpPr>
        <p:spPr>
          <a:xfrm>
            <a:off x="1746504" y="5513832"/>
            <a:ext cx="32918" cy="32918"/>
          </a:xfrm>
          <a:prstGeom prst="ellipse">
            <a:avLst/>
          </a:prstGeom>
          <a:solidFill>
            <a:srgbClr val="575757"/>
          </a:solidFill>
          <a:ln w="12700">
            <a:solidFill>
              <a:srgbClr val="575757">
                <a:alpha val="0"/>
              </a:srgbClr>
            </a:solidFill>
            <a:prstDash val="solid"/>
          </a:ln>
        </p:spPr>
      </p:sp>
      <p:sp>
        <p:nvSpPr>
          <p:cNvPr id="269" name="Shape 267"/>
          <p:cNvSpPr/>
          <p:nvPr/>
        </p:nvSpPr>
        <p:spPr>
          <a:xfrm>
            <a:off x="1828800" y="5513832"/>
            <a:ext cx="32918" cy="32918"/>
          </a:xfrm>
          <a:prstGeom prst="ellipse">
            <a:avLst/>
          </a:prstGeom>
          <a:solidFill>
            <a:srgbClr val="575757"/>
          </a:solidFill>
          <a:ln w="12700">
            <a:solidFill>
              <a:srgbClr val="575757">
                <a:alpha val="0"/>
              </a:srgbClr>
            </a:solidFill>
            <a:prstDash val="solid"/>
          </a:ln>
        </p:spPr>
      </p:sp>
      <p:sp>
        <p:nvSpPr>
          <p:cNvPr id="270" name="Shape 268"/>
          <p:cNvSpPr/>
          <p:nvPr/>
        </p:nvSpPr>
        <p:spPr>
          <a:xfrm>
            <a:off x="1911096" y="5513832"/>
            <a:ext cx="32918" cy="32918"/>
          </a:xfrm>
          <a:prstGeom prst="ellipse">
            <a:avLst/>
          </a:prstGeom>
          <a:solidFill>
            <a:srgbClr val="575757"/>
          </a:solidFill>
          <a:ln w="12700">
            <a:solidFill>
              <a:srgbClr val="575757">
                <a:alpha val="0"/>
              </a:srgbClr>
            </a:solidFill>
            <a:prstDash val="solid"/>
          </a:ln>
        </p:spPr>
      </p:sp>
      <p:sp>
        <p:nvSpPr>
          <p:cNvPr id="271" name="Shape 269"/>
          <p:cNvSpPr/>
          <p:nvPr/>
        </p:nvSpPr>
        <p:spPr>
          <a:xfrm>
            <a:off x="758952" y="5596128"/>
            <a:ext cx="32918" cy="32918"/>
          </a:xfrm>
          <a:prstGeom prst="ellipse">
            <a:avLst/>
          </a:prstGeom>
          <a:solidFill>
            <a:srgbClr val="575757"/>
          </a:solidFill>
          <a:ln w="12700">
            <a:solidFill>
              <a:srgbClr val="575757">
                <a:alpha val="0"/>
              </a:srgbClr>
            </a:solidFill>
            <a:prstDash val="solid"/>
          </a:ln>
        </p:spPr>
      </p:sp>
      <p:sp>
        <p:nvSpPr>
          <p:cNvPr id="272" name="Shape 270"/>
          <p:cNvSpPr/>
          <p:nvPr/>
        </p:nvSpPr>
        <p:spPr>
          <a:xfrm>
            <a:off x="841248" y="5596128"/>
            <a:ext cx="32918" cy="32918"/>
          </a:xfrm>
          <a:prstGeom prst="ellipse">
            <a:avLst/>
          </a:prstGeom>
          <a:solidFill>
            <a:srgbClr val="575757"/>
          </a:solidFill>
          <a:ln w="12700">
            <a:solidFill>
              <a:srgbClr val="575757">
                <a:alpha val="0"/>
              </a:srgbClr>
            </a:solidFill>
            <a:prstDash val="solid"/>
          </a:ln>
        </p:spPr>
      </p:sp>
      <p:sp>
        <p:nvSpPr>
          <p:cNvPr id="273" name="Shape 271"/>
          <p:cNvSpPr/>
          <p:nvPr/>
        </p:nvSpPr>
        <p:spPr>
          <a:xfrm>
            <a:off x="923544" y="5596128"/>
            <a:ext cx="32918" cy="32918"/>
          </a:xfrm>
          <a:prstGeom prst="ellipse">
            <a:avLst/>
          </a:prstGeom>
          <a:solidFill>
            <a:srgbClr val="575757"/>
          </a:solidFill>
          <a:ln w="12700">
            <a:solidFill>
              <a:srgbClr val="575757">
                <a:alpha val="0"/>
              </a:srgbClr>
            </a:solidFill>
            <a:prstDash val="solid"/>
          </a:ln>
        </p:spPr>
      </p:sp>
      <p:sp>
        <p:nvSpPr>
          <p:cNvPr id="274" name="Shape 272"/>
          <p:cNvSpPr/>
          <p:nvPr/>
        </p:nvSpPr>
        <p:spPr>
          <a:xfrm>
            <a:off x="1005840" y="5596128"/>
            <a:ext cx="32918" cy="32918"/>
          </a:xfrm>
          <a:prstGeom prst="ellipse">
            <a:avLst/>
          </a:prstGeom>
          <a:solidFill>
            <a:srgbClr val="575757"/>
          </a:solidFill>
          <a:ln w="12700">
            <a:solidFill>
              <a:srgbClr val="575757">
                <a:alpha val="0"/>
              </a:srgbClr>
            </a:solidFill>
            <a:prstDash val="solid"/>
          </a:ln>
        </p:spPr>
      </p:sp>
      <p:sp>
        <p:nvSpPr>
          <p:cNvPr id="275" name="Shape 273"/>
          <p:cNvSpPr/>
          <p:nvPr/>
        </p:nvSpPr>
        <p:spPr>
          <a:xfrm>
            <a:off x="1170432" y="5596128"/>
            <a:ext cx="32918" cy="32918"/>
          </a:xfrm>
          <a:prstGeom prst="ellipse">
            <a:avLst/>
          </a:prstGeom>
          <a:solidFill>
            <a:srgbClr val="575757"/>
          </a:solidFill>
          <a:ln w="12700">
            <a:solidFill>
              <a:srgbClr val="575757">
                <a:alpha val="0"/>
              </a:srgbClr>
            </a:solidFill>
            <a:prstDash val="solid"/>
          </a:ln>
        </p:spPr>
      </p:sp>
      <p:sp>
        <p:nvSpPr>
          <p:cNvPr id="276" name="Shape 274"/>
          <p:cNvSpPr/>
          <p:nvPr/>
        </p:nvSpPr>
        <p:spPr>
          <a:xfrm>
            <a:off x="1252728" y="5596128"/>
            <a:ext cx="32918" cy="32918"/>
          </a:xfrm>
          <a:prstGeom prst="ellipse">
            <a:avLst/>
          </a:prstGeom>
          <a:solidFill>
            <a:srgbClr val="575757"/>
          </a:solidFill>
          <a:ln w="12700">
            <a:solidFill>
              <a:srgbClr val="575757">
                <a:alpha val="0"/>
              </a:srgbClr>
            </a:solidFill>
            <a:prstDash val="solid"/>
          </a:ln>
        </p:spPr>
      </p:sp>
      <p:sp>
        <p:nvSpPr>
          <p:cNvPr id="277" name="Shape 275"/>
          <p:cNvSpPr/>
          <p:nvPr/>
        </p:nvSpPr>
        <p:spPr>
          <a:xfrm>
            <a:off x="1335024" y="5596128"/>
            <a:ext cx="32918" cy="32918"/>
          </a:xfrm>
          <a:prstGeom prst="ellipse">
            <a:avLst/>
          </a:prstGeom>
          <a:solidFill>
            <a:srgbClr val="575757"/>
          </a:solidFill>
          <a:ln w="12700">
            <a:solidFill>
              <a:srgbClr val="575757">
                <a:alpha val="0"/>
              </a:srgbClr>
            </a:solidFill>
            <a:prstDash val="solid"/>
          </a:ln>
        </p:spPr>
      </p:sp>
      <p:sp>
        <p:nvSpPr>
          <p:cNvPr id="278" name="Shape 276"/>
          <p:cNvSpPr/>
          <p:nvPr/>
        </p:nvSpPr>
        <p:spPr>
          <a:xfrm>
            <a:off x="1417320" y="5596128"/>
            <a:ext cx="32918" cy="32918"/>
          </a:xfrm>
          <a:prstGeom prst="ellipse">
            <a:avLst/>
          </a:prstGeom>
          <a:solidFill>
            <a:srgbClr val="575757"/>
          </a:solidFill>
          <a:ln w="12700">
            <a:solidFill>
              <a:srgbClr val="575757">
                <a:alpha val="0"/>
              </a:srgbClr>
            </a:solidFill>
            <a:prstDash val="solid"/>
          </a:ln>
        </p:spPr>
      </p:sp>
      <p:sp>
        <p:nvSpPr>
          <p:cNvPr id="279" name="Shape 277"/>
          <p:cNvSpPr/>
          <p:nvPr/>
        </p:nvSpPr>
        <p:spPr>
          <a:xfrm>
            <a:off x="1499616" y="5596128"/>
            <a:ext cx="32918" cy="32918"/>
          </a:xfrm>
          <a:prstGeom prst="ellipse">
            <a:avLst/>
          </a:prstGeom>
          <a:solidFill>
            <a:srgbClr val="575757"/>
          </a:solidFill>
          <a:ln w="12700">
            <a:solidFill>
              <a:srgbClr val="575757">
                <a:alpha val="0"/>
              </a:srgbClr>
            </a:solidFill>
            <a:prstDash val="solid"/>
          </a:ln>
        </p:spPr>
      </p:sp>
      <p:sp>
        <p:nvSpPr>
          <p:cNvPr id="280" name="Shape 278"/>
          <p:cNvSpPr/>
          <p:nvPr/>
        </p:nvSpPr>
        <p:spPr>
          <a:xfrm>
            <a:off x="1581912" y="5596128"/>
            <a:ext cx="32918" cy="32918"/>
          </a:xfrm>
          <a:prstGeom prst="ellipse">
            <a:avLst/>
          </a:prstGeom>
          <a:solidFill>
            <a:srgbClr val="575757"/>
          </a:solidFill>
          <a:ln w="12700">
            <a:solidFill>
              <a:srgbClr val="575757">
                <a:alpha val="0"/>
              </a:srgbClr>
            </a:solidFill>
            <a:prstDash val="solid"/>
          </a:ln>
        </p:spPr>
      </p:sp>
      <p:sp>
        <p:nvSpPr>
          <p:cNvPr id="281" name="Shape 279"/>
          <p:cNvSpPr/>
          <p:nvPr/>
        </p:nvSpPr>
        <p:spPr>
          <a:xfrm>
            <a:off x="1746504" y="5596128"/>
            <a:ext cx="32918" cy="32918"/>
          </a:xfrm>
          <a:prstGeom prst="ellipse">
            <a:avLst/>
          </a:prstGeom>
          <a:solidFill>
            <a:srgbClr val="575757"/>
          </a:solidFill>
          <a:ln w="12700">
            <a:solidFill>
              <a:srgbClr val="575757">
                <a:alpha val="0"/>
              </a:srgbClr>
            </a:solidFill>
            <a:prstDash val="solid"/>
          </a:ln>
        </p:spPr>
      </p:sp>
      <p:sp>
        <p:nvSpPr>
          <p:cNvPr id="282" name="Shape 280"/>
          <p:cNvSpPr/>
          <p:nvPr/>
        </p:nvSpPr>
        <p:spPr>
          <a:xfrm>
            <a:off x="1828800" y="5596128"/>
            <a:ext cx="32918" cy="32918"/>
          </a:xfrm>
          <a:prstGeom prst="ellipse">
            <a:avLst/>
          </a:prstGeom>
          <a:solidFill>
            <a:srgbClr val="575757"/>
          </a:solidFill>
          <a:ln w="12700">
            <a:solidFill>
              <a:srgbClr val="575757">
                <a:alpha val="0"/>
              </a:srgbClr>
            </a:solidFill>
            <a:prstDash val="solid"/>
          </a:ln>
        </p:spPr>
      </p:sp>
      <p:sp>
        <p:nvSpPr>
          <p:cNvPr id="283" name="Shape 281"/>
          <p:cNvSpPr/>
          <p:nvPr/>
        </p:nvSpPr>
        <p:spPr>
          <a:xfrm>
            <a:off x="1911096" y="5596128"/>
            <a:ext cx="32918" cy="32918"/>
          </a:xfrm>
          <a:prstGeom prst="ellipse">
            <a:avLst/>
          </a:prstGeom>
          <a:solidFill>
            <a:srgbClr val="575757"/>
          </a:solidFill>
          <a:ln w="12700">
            <a:solidFill>
              <a:srgbClr val="575757">
                <a:alpha val="0"/>
              </a:srgbClr>
            </a:solidFill>
            <a:prstDash val="solid"/>
          </a:ln>
        </p:spPr>
      </p:sp>
      <p:sp>
        <p:nvSpPr>
          <p:cNvPr id="284" name="Shape 282"/>
          <p:cNvSpPr/>
          <p:nvPr/>
        </p:nvSpPr>
        <p:spPr>
          <a:xfrm>
            <a:off x="1993392" y="5596128"/>
            <a:ext cx="32918" cy="32918"/>
          </a:xfrm>
          <a:prstGeom prst="ellipse">
            <a:avLst/>
          </a:prstGeom>
          <a:solidFill>
            <a:srgbClr val="575757"/>
          </a:solidFill>
          <a:ln w="12700">
            <a:solidFill>
              <a:srgbClr val="575757">
                <a:alpha val="0"/>
              </a:srgbClr>
            </a:solidFill>
            <a:prstDash val="solid"/>
          </a:ln>
        </p:spPr>
      </p:sp>
      <p:sp>
        <p:nvSpPr>
          <p:cNvPr id="285" name="Shape 283"/>
          <p:cNvSpPr/>
          <p:nvPr/>
        </p:nvSpPr>
        <p:spPr>
          <a:xfrm>
            <a:off x="841248" y="5678424"/>
            <a:ext cx="32918" cy="32918"/>
          </a:xfrm>
          <a:prstGeom prst="ellipse">
            <a:avLst/>
          </a:prstGeom>
          <a:solidFill>
            <a:srgbClr val="575757"/>
          </a:solidFill>
          <a:ln w="12700">
            <a:solidFill>
              <a:srgbClr val="575757">
                <a:alpha val="0"/>
              </a:srgbClr>
            </a:solidFill>
            <a:prstDash val="solid"/>
          </a:ln>
        </p:spPr>
      </p:sp>
      <p:sp>
        <p:nvSpPr>
          <p:cNvPr id="286" name="Shape 284"/>
          <p:cNvSpPr/>
          <p:nvPr/>
        </p:nvSpPr>
        <p:spPr>
          <a:xfrm>
            <a:off x="923544" y="5678424"/>
            <a:ext cx="32918" cy="32918"/>
          </a:xfrm>
          <a:prstGeom prst="ellipse">
            <a:avLst/>
          </a:prstGeom>
          <a:solidFill>
            <a:srgbClr val="575757"/>
          </a:solidFill>
          <a:ln w="12700">
            <a:solidFill>
              <a:srgbClr val="575757">
                <a:alpha val="0"/>
              </a:srgbClr>
            </a:solidFill>
            <a:prstDash val="solid"/>
          </a:ln>
        </p:spPr>
      </p:sp>
      <p:sp>
        <p:nvSpPr>
          <p:cNvPr id="287" name="Shape 285"/>
          <p:cNvSpPr/>
          <p:nvPr/>
        </p:nvSpPr>
        <p:spPr>
          <a:xfrm>
            <a:off x="1005840" y="5678424"/>
            <a:ext cx="32918" cy="32918"/>
          </a:xfrm>
          <a:prstGeom prst="ellipse">
            <a:avLst/>
          </a:prstGeom>
          <a:solidFill>
            <a:srgbClr val="575757"/>
          </a:solidFill>
          <a:ln w="12700">
            <a:solidFill>
              <a:srgbClr val="575757">
                <a:alpha val="0"/>
              </a:srgbClr>
            </a:solidFill>
            <a:prstDash val="solid"/>
          </a:ln>
        </p:spPr>
      </p:sp>
      <p:sp>
        <p:nvSpPr>
          <p:cNvPr id="288" name="Shape 286"/>
          <p:cNvSpPr/>
          <p:nvPr/>
        </p:nvSpPr>
        <p:spPr>
          <a:xfrm>
            <a:off x="1088136" y="5678424"/>
            <a:ext cx="32918" cy="32918"/>
          </a:xfrm>
          <a:prstGeom prst="ellipse">
            <a:avLst/>
          </a:prstGeom>
          <a:solidFill>
            <a:srgbClr val="575757"/>
          </a:solidFill>
          <a:ln w="12700">
            <a:solidFill>
              <a:srgbClr val="575757">
                <a:alpha val="0"/>
              </a:srgbClr>
            </a:solidFill>
            <a:prstDash val="solid"/>
          </a:ln>
        </p:spPr>
      </p:sp>
      <p:sp>
        <p:nvSpPr>
          <p:cNvPr id="289" name="Shape 287"/>
          <p:cNvSpPr/>
          <p:nvPr/>
        </p:nvSpPr>
        <p:spPr>
          <a:xfrm>
            <a:off x="1170432" y="5678424"/>
            <a:ext cx="32918" cy="32918"/>
          </a:xfrm>
          <a:prstGeom prst="ellipse">
            <a:avLst/>
          </a:prstGeom>
          <a:solidFill>
            <a:srgbClr val="575757"/>
          </a:solidFill>
          <a:ln w="12700">
            <a:solidFill>
              <a:srgbClr val="575757">
                <a:alpha val="0"/>
              </a:srgbClr>
            </a:solidFill>
            <a:prstDash val="solid"/>
          </a:ln>
        </p:spPr>
      </p:sp>
      <p:sp>
        <p:nvSpPr>
          <p:cNvPr id="290" name="Shape 288"/>
          <p:cNvSpPr/>
          <p:nvPr/>
        </p:nvSpPr>
        <p:spPr>
          <a:xfrm>
            <a:off x="1252728" y="5678424"/>
            <a:ext cx="32918" cy="32918"/>
          </a:xfrm>
          <a:prstGeom prst="ellipse">
            <a:avLst/>
          </a:prstGeom>
          <a:solidFill>
            <a:srgbClr val="575757"/>
          </a:solidFill>
          <a:ln w="12700">
            <a:solidFill>
              <a:srgbClr val="575757">
                <a:alpha val="0"/>
              </a:srgbClr>
            </a:solidFill>
            <a:prstDash val="solid"/>
          </a:ln>
        </p:spPr>
      </p:sp>
      <p:sp>
        <p:nvSpPr>
          <p:cNvPr id="291" name="Shape 289"/>
          <p:cNvSpPr/>
          <p:nvPr/>
        </p:nvSpPr>
        <p:spPr>
          <a:xfrm>
            <a:off x="1417320" y="5678424"/>
            <a:ext cx="32918" cy="32918"/>
          </a:xfrm>
          <a:prstGeom prst="ellipse">
            <a:avLst/>
          </a:prstGeom>
          <a:solidFill>
            <a:srgbClr val="575757"/>
          </a:solidFill>
          <a:ln w="12700">
            <a:solidFill>
              <a:srgbClr val="575757">
                <a:alpha val="0"/>
              </a:srgbClr>
            </a:solidFill>
            <a:prstDash val="solid"/>
          </a:ln>
        </p:spPr>
      </p:sp>
      <p:sp>
        <p:nvSpPr>
          <p:cNvPr id="292" name="Shape 290"/>
          <p:cNvSpPr/>
          <p:nvPr/>
        </p:nvSpPr>
        <p:spPr>
          <a:xfrm>
            <a:off x="1499616" y="5678424"/>
            <a:ext cx="32918" cy="32918"/>
          </a:xfrm>
          <a:prstGeom prst="ellipse">
            <a:avLst/>
          </a:prstGeom>
          <a:solidFill>
            <a:srgbClr val="575757"/>
          </a:solidFill>
          <a:ln w="12700">
            <a:solidFill>
              <a:srgbClr val="575757">
                <a:alpha val="0"/>
              </a:srgbClr>
            </a:solidFill>
            <a:prstDash val="solid"/>
          </a:ln>
        </p:spPr>
      </p:sp>
      <p:sp>
        <p:nvSpPr>
          <p:cNvPr id="293" name="Shape 291"/>
          <p:cNvSpPr/>
          <p:nvPr/>
        </p:nvSpPr>
        <p:spPr>
          <a:xfrm>
            <a:off x="1581912" y="5678424"/>
            <a:ext cx="32918" cy="32918"/>
          </a:xfrm>
          <a:prstGeom prst="ellipse">
            <a:avLst/>
          </a:prstGeom>
          <a:solidFill>
            <a:srgbClr val="575757"/>
          </a:solidFill>
          <a:ln w="12700">
            <a:solidFill>
              <a:srgbClr val="575757">
                <a:alpha val="0"/>
              </a:srgbClr>
            </a:solidFill>
            <a:prstDash val="solid"/>
          </a:ln>
        </p:spPr>
      </p:sp>
      <p:sp>
        <p:nvSpPr>
          <p:cNvPr id="294" name="Shape 292"/>
          <p:cNvSpPr/>
          <p:nvPr/>
        </p:nvSpPr>
        <p:spPr>
          <a:xfrm>
            <a:off x="1664208" y="5678424"/>
            <a:ext cx="32918" cy="32918"/>
          </a:xfrm>
          <a:prstGeom prst="ellipse">
            <a:avLst/>
          </a:prstGeom>
          <a:solidFill>
            <a:srgbClr val="575757"/>
          </a:solidFill>
          <a:ln w="12700">
            <a:solidFill>
              <a:srgbClr val="575757">
                <a:alpha val="0"/>
              </a:srgbClr>
            </a:solidFill>
            <a:prstDash val="solid"/>
          </a:ln>
        </p:spPr>
      </p:sp>
      <p:sp>
        <p:nvSpPr>
          <p:cNvPr id="295" name="Shape 293"/>
          <p:cNvSpPr/>
          <p:nvPr/>
        </p:nvSpPr>
        <p:spPr>
          <a:xfrm>
            <a:off x="1746504" y="5678424"/>
            <a:ext cx="32918" cy="32918"/>
          </a:xfrm>
          <a:prstGeom prst="ellipse">
            <a:avLst/>
          </a:prstGeom>
          <a:solidFill>
            <a:srgbClr val="575757"/>
          </a:solidFill>
          <a:ln w="12700">
            <a:solidFill>
              <a:srgbClr val="575757">
                <a:alpha val="0"/>
              </a:srgbClr>
            </a:solidFill>
            <a:prstDash val="solid"/>
          </a:ln>
        </p:spPr>
      </p:sp>
      <p:sp>
        <p:nvSpPr>
          <p:cNvPr id="296" name="Shape 294"/>
          <p:cNvSpPr/>
          <p:nvPr/>
        </p:nvSpPr>
        <p:spPr>
          <a:xfrm>
            <a:off x="1828800" y="5678424"/>
            <a:ext cx="32918" cy="32918"/>
          </a:xfrm>
          <a:prstGeom prst="ellipse">
            <a:avLst/>
          </a:prstGeom>
          <a:solidFill>
            <a:srgbClr val="575757"/>
          </a:solidFill>
          <a:ln w="12700">
            <a:solidFill>
              <a:srgbClr val="575757">
                <a:alpha val="0"/>
              </a:srgbClr>
            </a:solidFill>
            <a:prstDash val="solid"/>
          </a:ln>
        </p:spPr>
      </p:sp>
      <p:sp>
        <p:nvSpPr>
          <p:cNvPr id="297" name="Shape 295"/>
          <p:cNvSpPr/>
          <p:nvPr/>
        </p:nvSpPr>
        <p:spPr>
          <a:xfrm>
            <a:off x="1993392" y="5678424"/>
            <a:ext cx="32918" cy="32918"/>
          </a:xfrm>
          <a:prstGeom prst="ellipse">
            <a:avLst/>
          </a:prstGeom>
          <a:solidFill>
            <a:srgbClr val="575757"/>
          </a:solidFill>
          <a:ln w="12700">
            <a:solidFill>
              <a:srgbClr val="575757">
                <a:alpha val="0"/>
              </a:srgbClr>
            </a:solidFill>
            <a:prstDash val="solid"/>
          </a:ln>
        </p:spPr>
      </p:sp>
      <p:sp>
        <p:nvSpPr>
          <p:cNvPr id="298" name="Shape 296"/>
          <p:cNvSpPr/>
          <p:nvPr/>
        </p:nvSpPr>
        <p:spPr>
          <a:xfrm>
            <a:off x="9308592" y="960120"/>
            <a:ext cx="1307592" cy="530352"/>
          </a:xfrm>
          <a:prstGeom prst="roundRect">
            <a:avLst>
              <a:gd name="adj" fmla="val 31034"/>
            </a:avLst>
          </a:prstGeom>
          <a:solidFill>
            <a:srgbClr val="FFFFFF"/>
          </a:solidFill>
          <a:ln w="12700">
            <a:solidFill>
              <a:srgbClr val="FFFFFF">
                <a:alpha val="0"/>
              </a:srgbClr>
            </a:solidFill>
            <a:prstDash val="solid"/>
          </a:ln>
        </p:spPr>
      </p:sp>
      <p:sp>
        <p:nvSpPr>
          <p:cNvPr id="299" name="Text 297"/>
          <p:cNvSpPr/>
          <p:nvPr/>
        </p:nvSpPr>
        <p:spPr>
          <a:xfrm>
            <a:off x="9445752" y="1060704"/>
            <a:ext cx="1051560" cy="219456"/>
          </a:xfrm>
          <a:prstGeom prst="rect">
            <a:avLst/>
          </a:prstGeom>
          <a:noFill/>
          <a:ln/>
        </p:spPr>
        <p:txBody>
          <a:bodyPr wrap="square" lIns="0" tIns="0" rIns="0" bIns="0" rtlCol="0" anchor="ctr">
            <a:normAutofit/>
          </a:bodyPr>
          <a:lstStyle/>
          <a:p>
            <a:pPr algn="ctr" indent="0" marL="0">
              <a:buNone/>
            </a:pPr>
            <a:r>
              <a:rPr lang="en-US" sz="1100" b="1" dirty="0">
                <a:solidFill>
                  <a:srgbClr val="575753"/>
                </a:solidFill>
                <a:latin typeface="PT Mono" pitchFamily="34" charset="0"/>
                <a:ea typeface="PT Mono" pitchFamily="34" charset="-122"/>
                <a:cs typeface="PT Mono" pitchFamily="34" charset="-120"/>
              </a:rPr>
              <a:t>BUILD</a:t>
            </a:r>
            <a:endParaRPr lang="en-US" sz="1100" dirty="0"/>
          </a:p>
        </p:txBody>
      </p:sp>
      <p:sp>
        <p:nvSpPr>
          <p:cNvPr id="300" name="Shape 298"/>
          <p:cNvSpPr/>
          <p:nvPr/>
        </p:nvSpPr>
        <p:spPr>
          <a:xfrm>
            <a:off x="9957816" y="1517904"/>
            <a:ext cx="0" cy="429768"/>
          </a:xfrm>
          <a:prstGeom prst="line">
            <a:avLst/>
          </a:prstGeom>
          <a:noFill/>
          <a:ln w="25400">
            <a:solidFill>
              <a:srgbClr val="B91622"/>
            </a:solidFill>
            <a:prstDash val="solid"/>
            <a:headEnd type="none"/>
            <a:tailEnd type="triangle"/>
          </a:ln>
        </p:spPr>
      </p:sp>
      <p:sp>
        <p:nvSpPr>
          <p:cNvPr id="301" name="Shape 299"/>
          <p:cNvSpPr/>
          <p:nvPr/>
        </p:nvSpPr>
        <p:spPr>
          <a:xfrm>
            <a:off x="9308592" y="1984248"/>
            <a:ext cx="1307592" cy="530352"/>
          </a:xfrm>
          <a:prstGeom prst="roundRect">
            <a:avLst>
              <a:gd name="adj" fmla="val 31034"/>
            </a:avLst>
          </a:prstGeom>
          <a:solidFill>
            <a:srgbClr val="FFFFFF"/>
          </a:solidFill>
          <a:ln w="12700">
            <a:solidFill>
              <a:srgbClr val="FFFFFF">
                <a:alpha val="0"/>
              </a:srgbClr>
            </a:solidFill>
            <a:prstDash val="solid"/>
          </a:ln>
        </p:spPr>
      </p:sp>
      <p:sp>
        <p:nvSpPr>
          <p:cNvPr id="302" name="Text 300"/>
          <p:cNvSpPr/>
          <p:nvPr/>
        </p:nvSpPr>
        <p:spPr>
          <a:xfrm>
            <a:off x="9445752" y="2084832"/>
            <a:ext cx="1051560" cy="219456"/>
          </a:xfrm>
          <a:prstGeom prst="rect">
            <a:avLst/>
          </a:prstGeom>
          <a:noFill/>
          <a:ln/>
        </p:spPr>
        <p:txBody>
          <a:bodyPr wrap="square" lIns="0" tIns="0" rIns="0" bIns="0" rtlCol="0" anchor="ctr">
            <a:normAutofit/>
          </a:bodyPr>
          <a:lstStyle/>
          <a:p>
            <a:pPr algn="ctr" indent="0" marL="0">
              <a:buNone/>
            </a:pPr>
            <a:r>
              <a:rPr lang="en-US" sz="1100" b="1" dirty="0">
                <a:solidFill>
                  <a:srgbClr val="575753"/>
                </a:solidFill>
                <a:latin typeface="PT Mono" pitchFamily="34" charset="0"/>
                <a:ea typeface="PT Mono" pitchFamily="34" charset="-122"/>
                <a:cs typeface="PT Mono" pitchFamily="34" charset="-120"/>
              </a:rPr>
              <a:t>TEST</a:t>
            </a:r>
            <a:endParaRPr lang="en-US" sz="1100" dirty="0"/>
          </a:p>
        </p:txBody>
      </p:sp>
      <p:sp>
        <p:nvSpPr>
          <p:cNvPr id="303" name="Shape 301"/>
          <p:cNvSpPr/>
          <p:nvPr/>
        </p:nvSpPr>
        <p:spPr>
          <a:xfrm>
            <a:off x="9957816" y="2542032"/>
            <a:ext cx="0" cy="429768"/>
          </a:xfrm>
          <a:prstGeom prst="line">
            <a:avLst/>
          </a:prstGeom>
          <a:noFill/>
          <a:ln w="25400">
            <a:solidFill>
              <a:srgbClr val="B91622"/>
            </a:solidFill>
            <a:prstDash val="solid"/>
            <a:headEnd type="none"/>
            <a:tailEnd type="triangle"/>
          </a:ln>
        </p:spPr>
      </p:sp>
      <p:sp>
        <p:nvSpPr>
          <p:cNvPr id="304" name="Shape 302"/>
          <p:cNvSpPr/>
          <p:nvPr/>
        </p:nvSpPr>
        <p:spPr>
          <a:xfrm>
            <a:off x="9308592" y="3008376"/>
            <a:ext cx="1307592" cy="530352"/>
          </a:xfrm>
          <a:prstGeom prst="roundRect">
            <a:avLst>
              <a:gd name="adj" fmla="val 31034"/>
            </a:avLst>
          </a:prstGeom>
          <a:solidFill>
            <a:srgbClr val="D71928"/>
          </a:solidFill>
          <a:ln w="12700">
            <a:solidFill>
              <a:srgbClr val="D71928">
                <a:alpha val="0"/>
              </a:srgbClr>
            </a:solidFill>
            <a:prstDash val="solid"/>
          </a:ln>
        </p:spPr>
      </p:sp>
      <p:sp>
        <p:nvSpPr>
          <p:cNvPr id="305" name="Text 303"/>
          <p:cNvSpPr/>
          <p:nvPr/>
        </p:nvSpPr>
        <p:spPr>
          <a:xfrm>
            <a:off x="9445752" y="3108960"/>
            <a:ext cx="1051560" cy="21945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PT Mono" pitchFamily="34" charset="0"/>
                <a:ea typeface="PT Mono" pitchFamily="34" charset="-122"/>
                <a:cs typeface="PT Mono" pitchFamily="34" charset="-120"/>
              </a:rPr>
              <a:t>DEPLOY</a:t>
            </a:r>
            <a:endParaRPr lang="en-US" sz="1100" dirty="0"/>
          </a:p>
        </p:txBody>
      </p:sp>
      <p:sp>
        <p:nvSpPr>
          <p:cNvPr id="306" name="Shape 304"/>
          <p:cNvSpPr/>
          <p:nvPr/>
        </p:nvSpPr>
        <p:spPr>
          <a:xfrm>
            <a:off x="9957816" y="3566160"/>
            <a:ext cx="0" cy="429768"/>
          </a:xfrm>
          <a:prstGeom prst="line">
            <a:avLst/>
          </a:prstGeom>
          <a:noFill/>
          <a:ln w="25400">
            <a:solidFill>
              <a:srgbClr val="B91622"/>
            </a:solidFill>
            <a:prstDash val="solid"/>
            <a:headEnd type="none"/>
            <a:tailEnd type="triangle"/>
          </a:ln>
        </p:spPr>
      </p:sp>
      <p:sp>
        <p:nvSpPr>
          <p:cNvPr id="307" name="Shape 305"/>
          <p:cNvSpPr/>
          <p:nvPr/>
        </p:nvSpPr>
        <p:spPr>
          <a:xfrm>
            <a:off x="9308592" y="4032504"/>
            <a:ext cx="1307592" cy="530352"/>
          </a:xfrm>
          <a:prstGeom prst="roundRect">
            <a:avLst>
              <a:gd name="adj" fmla="val 31034"/>
            </a:avLst>
          </a:prstGeom>
          <a:solidFill>
            <a:srgbClr val="FFFFFF"/>
          </a:solidFill>
          <a:ln w="12700">
            <a:solidFill>
              <a:srgbClr val="FFFFFF">
                <a:alpha val="0"/>
              </a:srgbClr>
            </a:solidFill>
            <a:prstDash val="solid"/>
          </a:ln>
        </p:spPr>
      </p:sp>
      <p:sp>
        <p:nvSpPr>
          <p:cNvPr id="308" name="Text 306"/>
          <p:cNvSpPr/>
          <p:nvPr/>
        </p:nvSpPr>
        <p:spPr>
          <a:xfrm>
            <a:off x="9445752" y="4133088"/>
            <a:ext cx="1051560" cy="219456"/>
          </a:xfrm>
          <a:prstGeom prst="rect">
            <a:avLst/>
          </a:prstGeom>
          <a:noFill/>
          <a:ln/>
        </p:spPr>
        <p:txBody>
          <a:bodyPr wrap="square" lIns="0" tIns="0" rIns="0" bIns="0" rtlCol="0" anchor="ctr">
            <a:normAutofit/>
          </a:bodyPr>
          <a:lstStyle/>
          <a:p>
            <a:pPr algn="ctr" indent="0" marL="0">
              <a:buNone/>
            </a:pPr>
            <a:r>
              <a:rPr lang="en-US" sz="1100" b="1" dirty="0">
                <a:solidFill>
                  <a:srgbClr val="575753"/>
                </a:solidFill>
                <a:latin typeface="PT Mono" pitchFamily="34" charset="0"/>
                <a:ea typeface="PT Mono" pitchFamily="34" charset="-122"/>
                <a:cs typeface="PT Mono" pitchFamily="34" charset="-120"/>
              </a:rPr>
              <a:t>OBSERVE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01 / PRODUCT STORY</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The problem → the product</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Small teams need reliable stock levels, consistent updates, and an auditable change history.</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02 / 16</a:t>
            </a:r>
            <a:endParaRPr lang="en-US" sz="850" dirty="0"/>
          </a:p>
        </p:txBody>
      </p:sp>
      <p:sp>
        <p:nvSpPr>
          <p:cNvPr id="48" name="Shape 46"/>
          <p:cNvSpPr/>
          <p:nvPr/>
        </p:nvSpPr>
        <p:spPr>
          <a:xfrm>
            <a:off x="585216" y="1792224"/>
            <a:ext cx="5157216" cy="987552"/>
          </a:xfrm>
          <a:prstGeom prst="roundRect">
            <a:avLst>
              <a:gd name="adj" fmla="val 5093"/>
            </a:avLst>
          </a:prstGeom>
          <a:solidFill>
            <a:srgbClr val="FFFFFF"/>
          </a:solidFill>
          <a:ln w="10160">
            <a:solidFill>
              <a:srgbClr val="D0D0CB"/>
            </a:solidFill>
            <a:prstDash val="solid"/>
          </a:ln>
        </p:spPr>
      </p:sp>
      <p:sp>
        <p:nvSpPr>
          <p:cNvPr id="49" name="Shape 47"/>
          <p:cNvSpPr/>
          <p:nvPr/>
        </p:nvSpPr>
        <p:spPr>
          <a:xfrm>
            <a:off x="822960" y="1993392"/>
            <a:ext cx="594360" cy="310896"/>
          </a:xfrm>
          <a:prstGeom prst="roundRect">
            <a:avLst>
              <a:gd name="adj" fmla="val 50000"/>
            </a:avLst>
          </a:prstGeom>
          <a:solidFill>
            <a:srgbClr val="ECECEA"/>
          </a:solidFill>
          <a:ln w="12700">
            <a:solidFill>
              <a:srgbClr val="ECECEA">
                <a:alpha val="0"/>
              </a:srgbClr>
            </a:solidFill>
            <a:prstDash val="solid"/>
          </a:ln>
        </p:spPr>
      </p:sp>
      <p:sp>
        <p:nvSpPr>
          <p:cNvPr id="50" name="Text 48"/>
          <p:cNvSpPr/>
          <p:nvPr/>
        </p:nvSpPr>
        <p:spPr>
          <a:xfrm>
            <a:off x="932688" y="2011680"/>
            <a:ext cx="374904" cy="274320"/>
          </a:xfrm>
          <a:prstGeom prst="rect">
            <a:avLst/>
          </a:prstGeom>
          <a:noFill/>
          <a:ln/>
        </p:spPr>
        <p:txBody>
          <a:bodyPr wrap="square" lIns="0" tIns="0" rIns="0" bIns="0" rtlCol="0" anchor="ctr">
            <a:normAutofit/>
          </a:bodyPr>
          <a:lstStyle/>
          <a:p>
            <a:pPr algn="ctr" indent="0" marL="0">
              <a:buNone/>
            </a:pPr>
            <a:r>
              <a:rPr lang="en-US" sz="1100" b="1" dirty="0">
                <a:solidFill>
                  <a:srgbClr val="D71928"/>
                </a:solidFill>
                <a:latin typeface="PT Mono" pitchFamily="34" charset="0"/>
                <a:ea typeface="PT Mono" pitchFamily="34" charset="-122"/>
                <a:cs typeface="PT Mono" pitchFamily="34" charset="-120"/>
              </a:rPr>
              <a:t>01</a:t>
            </a:r>
            <a:endParaRPr lang="en-US" sz="1100" dirty="0"/>
          </a:p>
        </p:txBody>
      </p:sp>
      <p:sp>
        <p:nvSpPr>
          <p:cNvPr id="51" name="Text 49"/>
          <p:cNvSpPr/>
          <p:nvPr/>
        </p:nvSpPr>
        <p:spPr>
          <a:xfrm>
            <a:off x="1636776" y="1929384"/>
            <a:ext cx="3621024" cy="265176"/>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Stock uncertainty</a:t>
            </a:r>
            <a:endParaRPr lang="en-US" sz="1600" dirty="0"/>
          </a:p>
        </p:txBody>
      </p:sp>
      <p:sp>
        <p:nvSpPr>
          <p:cNvPr id="52" name="Text 50"/>
          <p:cNvSpPr/>
          <p:nvPr/>
        </p:nvSpPr>
        <p:spPr>
          <a:xfrm>
            <a:off x="1636776" y="2276856"/>
            <a:ext cx="3721608" cy="292608"/>
          </a:xfrm>
          <a:prstGeom prst="rect">
            <a:avLst/>
          </a:prstGeom>
          <a:noFill/>
          <a:ln/>
        </p:spPr>
        <p:txBody>
          <a:bodyPr wrap="square" lIns="0" tIns="0" rIns="0" bIns="0" rtlCol="0" anchor="ctr">
            <a:normAutofit/>
          </a:bodyPr>
          <a:lstStyle/>
          <a:p>
            <a:pPr indent="0" marL="0">
              <a:buNone/>
            </a:pPr>
            <a:r>
              <a:rPr lang="en-US" sz="1040" dirty="0">
                <a:solidFill>
                  <a:srgbClr val="575753"/>
                </a:solidFill>
                <a:latin typeface="PT Mono" pitchFamily="34" charset="0"/>
                <a:ea typeface="PT Mono" pitchFamily="34" charset="-122"/>
                <a:cs typeface="PT Mono" pitchFamily="34" charset="-120"/>
              </a:rPr>
              <a:t>Manual counts and spreadsheets make availability hard to trust.</a:t>
            </a:r>
            <a:endParaRPr lang="en-US" sz="1040" dirty="0"/>
          </a:p>
        </p:txBody>
      </p:sp>
      <p:sp>
        <p:nvSpPr>
          <p:cNvPr id="53" name="Shape 51"/>
          <p:cNvSpPr/>
          <p:nvPr/>
        </p:nvSpPr>
        <p:spPr>
          <a:xfrm>
            <a:off x="585216" y="2971800"/>
            <a:ext cx="5157216" cy="987552"/>
          </a:xfrm>
          <a:prstGeom prst="roundRect">
            <a:avLst>
              <a:gd name="adj" fmla="val 5093"/>
            </a:avLst>
          </a:prstGeom>
          <a:solidFill>
            <a:srgbClr val="FFFFFF"/>
          </a:solidFill>
          <a:ln w="10160">
            <a:solidFill>
              <a:srgbClr val="D0D0CB"/>
            </a:solidFill>
            <a:prstDash val="solid"/>
          </a:ln>
        </p:spPr>
      </p:sp>
      <p:sp>
        <p:nvSpPr>
          <p:cNvPr id="54" name="Shape 52"/>
          <p:cNvSpPr/>
          <p:nvPr/>
        </p:nvSpPr>
        <p:spPr>
          <a:xfrm>
            <a:off x="822960" y="3172968"/>
            <a:ext cx="594360" cy="310896"/>
          </a:xfrm>
          <a:prstGeom prst="roundRect">
            <a:avLst>
              <a:gd name="adj" fmla="val 50000"/>
            </a:avLst>
          </a:prstGeom>
          <a:solidFill>
            <a:srgbClr val="ECECEA"/>
          </a:solidFill>
          <a:ln w="12700">
            <a:solidFill>
              <a:srgbClr val="ECECEA">
                <a:alpha val="0"/>
              </a:srgbClr>
            </a:solidFill>
            <a:prstDash val="solid"/>
          </a:ln>
        </p:spPr>
      </p:sp>
      <p:sp>
        <p:nvSpPr>
          <p:cNvPr id="55" name="Text 53"/>
          <p:cNvSpPr/>
          <p:nvPr/>
        </p:nvSpPr>
        <p:spPr>
          <a:xfrm>
            <a:off x="932688" y="3191256"/>
            <a:ext cx="374904" cy="274320"/>
          </a:xfrm>
          <a:prstGeom prst="rect">
            <a:avLst/>
          </a:prstGeom>
          <a:noFill/>
          <a:ln/>
        </p:spPr>
        <p:txBody>
          <a:bodyPr wrap="square" lIns="0" tIns="0" rIns="0" bIns="0" rtlCol="0" anchor="ctr">
            <a:normAutofit/>
          </a:bodyPr>
          <a:lstStyle/>
          <a:p>
            <a:pPr algn="ctr" indent="0" marL="0">
              <a:buNone/>
            </a:pPr>
            <a:r>
              <a:rPr lang="en-US" sz="1100" b="1" dirty="0">
                <a:solidFill>
                  <a:srgbClr val="D71928"/>
                </a:solidFill>
                <a:latin typeface="PT Mono" pitchFamily="34" charset="0"/>
                <a:ea typeface="PT Mono" pitchFamily="34" charset="-122"/>
                <a:cs typeface="PT Mono" pitchFamily="34" charset="-120"/>
              </a:rPr>
              <a:t>02</a:t>
            </a:r>
            <a:endParaRPr lang="en-US" sz="1100" dirty="0"/>
          </a:p>
        </p:txBody>
      </p:sp>
      <p:sp>
        <p:nvSpPr>
          <p:cNvPr id="56" name="Text 54"/>
          <p:cNvSpPr/>
          <p:nvPr/>
        </p:nvSpPr>
        <p:spPr>
          <a:xfrm>
            <a:off x="1636776" y="3108960"/>
            <a:ext cx="3621024" cy="265176"/>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Overselling risk</a:t>
            </a:r>
            <a:endParaRPr lang="en-US" sz="1600" dirty="0"/>
          </a:p>
        </p:txBody>
      </p:sp>
      <p:sp>
        <p:nvSpPr>
          <p:cNvPr id="57" name="Text 55"/>
          <p:cNvSpPr/>
          <p:nvPr/>
        </p:nvSpPr>
        <p:spPr>
          <a:xfrm>
            <a:off x="1636776" y="3456432"/>
            <a:ext cx="3721608" cy="292608"/>
          </a:xfrm>
          <a:prstGeom prst="rect">
            <a:avLst/>
          </a:prstGeom>
          <a:noFill/>
          <a:ln/>
        </p:spPr>
        <p:txBody>
          <a:bodyPr wrap="square" lIns="0" tIns="0" rIns="0" bIns="0" rtlCol="0" anchor="ctr">
            <a:normAutofit/>
          </a:bodyPr>
          <a:lstStyle/>
          <a:p>
            <a:pPr indent="0" marL="0">
              <a:buNone/>
            </a:pPr>
            <a:r>
              <a:rPr lang="en-US" sz="1040" dirty="0">
                <a:solidFill>
                  <a:srgbClr val="575753"/>
                </a:solidFill>
                <a:latin typeface="PT Mono" pitchFamily="34" charset="0"/>
                <a:ea typeface="PT Mono" pitchFamily="34" charset="-122"/>
                <a:cs typeface="PT Mono" pitchFamily="34" charset="-120"/>
              </a:rPr>
              <a:t>Concurrent adjustments can drive stock below zero.</a:t>
            </a:r>
            <a:endParaRPr lang="en-US" sz="1040" dirty="0"/>
          </a:p>
        </p:txBody>
      </p:sp>
      <p:sp>
        <p:nvSpPr>
          <p:cNvPr id="58" name="Shape 56"/>
          <p:cNvSpPr/>
          <p:nvPr/>
        </p:nvSpPr>
        <p:spPr>
          <a:xfrm>
            <a:off x="585216" y="4151376"/>
            <a:ext cx="5157216" cy="987552"/>
          </a:xfrm>
          <a:prstGeom prst="roundRect">
            <a:avLst>
              <a:gd name="adj" fmla="val 5093"/>
            </a:avLst>
          </a:prstGeom>
          <a:solidFill>
            <a:srgbClr val="FFFFFF"/>
          </a:solidFill>
          <a:ln w="10160">
            <a:solidFill>
              <a:srgbClr val="D0D0CB"/>
            </a:solidFill>
            <a:prstDash val="solid"/>
          </a:ln>
        </p:spPr>
      </p:sp>
      <p:sp>
        <p:nvSpPr>
          <p:cNvPr id="59" name="Shape 57"/>
          <p:cNvSpPr/>
          <p:nvPr/>
        </p:nvSpPr>
        <p:spPr>
          <a:xfrm>
            <a:off x="822960" y="4352544"/>
            <a:ext cx="594360" cy="310896"/>
          </a:xfrm>
          <a:prstGeom prst="roundRect">
            <a:avLst>
              <a:gd name="adj" fmla="val 50000"/>
            </a:avLst>
          </a:prstGeom>
          <a:solidFill>
            <a:srgbClr val="ECECEA"/>
          </a:solidFill>
          <a:ln w="12700">
            <a:solidFill>
              <a:srgbClr val="ECECEA">
                <a:alpha val="0"/>
              </a:srgbClr>
            </a:solidFill>
            <a:prstDash val="solid"/>
          </a:ln>
        </p:spPr>
      </p:sp>
      <p:sp>
        <p:nvSpPr>
          <p:cNvPr id="60" name="Text 58"/>
          <p:cNvSpPr/>
          <p:nvPr/>
        </p:nvSpPr>
        <p:spPr>
          <a:xfrm>
            <a:off x="932688" y="4370832"/>
            <a:ext cx="374904" cy="274320"/>
          </a:xfrm>
          <a:prstGeom prst="rect">
            <a:avLst/>
          </a:prstGeom>
          <a:noFill/>
          <a:ln/>
        </p:spPr>
        <p:txBody>
          <a:bodyPr wrap="square" lIns="0" tIns="0" rIns="0" bIns="0" rtlCol="0" anchor="ctr">
            <a:normAutofit/>
          </a:bodyPr>
          <a:lstStyle/>
          <a:p>
            <a:pPr algn="ctr" indent="0" marL="0">
              <a:buNone/>
            </a:pPr>
            <a:r>
              <a:rPr lang="en-US" sz="1100" b="1" dirty="0">
                <a:solidFill>
                  <a:srgbClr val="D71928"/>
                </a:solidFill>
                <a:latin typeface="PT Mono" pitchFamily="34" charset="0"/>
                <a:ea typeface="PT Mono" pitchFamily="34" charset="-122"/>
                <a:cs typeface="PT Mono" pitchFamily="34" charset="-120"/>
              </a:rPr>
              <a:t>03</a:t>
            </a:r>
            <a:endParaRPr lang="en-US" sz="1100" dirty="0"/>
          </a:p>
        </p:txBody>
      </p:sp>
      <p:sp>
        <p:nvSpPr>
          <p:cNvPr id="61" name="Text 59"/>
          <p:cNvSpPr/>
          <p:nvPr/>
        </p:nvSpPr>
        <p:spPr>
          <a:xfrm>
            <a:off x="1636776" y="4288536"/>
            <a:ext cx="3621024" cy="265176"/>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Missing history</a:t>
            </a:r>
            <a:endParaRPr lang="en-US" sz="1600" dirty="0"/>
          </a:p>
        </p:txBody>
      </p:sp>
      <p:sp>
        <p:nvSpPr>
          <p:cNvPr id="62" name="Text 60"/>
          <p:cNvSpPr/>
          <p:nvPr/>
        </p:nvSpPr>
        <p:spPr>
          <a:xfrm>
            <a:off x="1636776" y="4636008"/>
            <a:ext cx="3721608" cy="292608"/>
          </a:xfrm>
          <a:prstGeom prst="rect">
            <a:avLst/>
          </a:prstGeom>
          <a:noFill/>
          <a:ln/>
        </p:spPr>
        <p:txBody>
          <a:bodyPr wrap="square" lIns="0" tIns="0" rIns="0" bIns="0" rtlCol="0" anchor="ctr">
            <a:normAutofit/>
          </a:bodyPr>
          <a:lstStyle/>
          <a:p>
            <a:pPr indent="0" marL="0">
              <a:buNone/>
            </a:pPr>
            <a:r>
              <a:rPr lang="en-US" sz="1040" dirty="0">
                <a:solidFill>
                  <a:srgbClr val="575753"/>
                </a:solidFill>
                <a:latin typeface="PT Mono" pitchFamily="34" charset="0"/>
                <a:ea typeface="PT Mono" pitchFamily="34" charset="-122"/>
                <a:cs typeface="PT Mono" pitchFamily="34" charset="-120"/>
              </a:rPr>
              <a:t>A changing catalog should not erase previous movements.</a:t>
            </a:r>
            <a:endParaRPr lang="en-US" sz="1040" dirty="0"/>
          </a:p>
        </p:txBody>
      </p:sp>
      <p:sp>
        <p:nvSpPr>
          <p:cNvPr id="63" name="Shape 61"/>
          <p:cNvSpPr/>
          <p:nvPr/>
        </p:nvSpPr>
        <p:spPr>
          <a:xfrm>
            <a:off x="6044184" y="1792224"/>
            <a:ext cx="5413248" cy="3364992"/>
          </a:xfrm>
          <a:prstGeom prst="roundRect">
            <a:avLst>
              <a:gd name="adj" fmla="val 5435"/>
            </a:avLst>
          </a:prstGeom>
          <a:solidFill>
            <a:srgbClr val="E9E9E6"/>
          </a:solidFill>
          <a:ln w="10160">
            <a:solidFill>
              <a:srgbClr val="D0D0CB"/>
            </a:solidFill>
            <a:prstDash val="solid"/>
          </a:ln>
        </p:spPr>
      </p:sp>
      <p:sp>
        <p:nvSpPr>
          <p:cNvPr id="64" name="Text 62"/>
          <p:cNvSpPr/>
          <p:nvPr/>
        </p:nvSpPr>
        <p:spPr>
          <a:xfrm>
            <a:off x="6345936" y="2029968"/>
            <a:ext cx="4846320" cy="356616"/>
          </a:xfrm>
          <a:prstGeom prst="rect">
            <a:avLst/>
          </a:prstGeom>
          <a:noFill/>
          <a:ln/>
        </p:spPr>
        <p:txBody>
          <a:bodyPr wrap="square" lIns="0" tIns="0" rIns="0" bIns="0" rtlCol="0" anchor="ctr">
            <a:normAutofit/>
          </a:bodyPr>
          <a:lstStyle/>
          <a:p>
            <a:pPr indent="0" marL="0">
              <a:buNone/>
            </a:pPr>
            <a:r>
              <a:rPr lang="en-US" sz="1900" b="1" dirty="0">
                <a:solidFill>
                  <a:srgbClr val="101010"/>
                </a:solidFill>
                <a:latin typeface="Inter Display" pitchFamily="34" charset="0"/>
                <a:ea typeface="Inter Display" pitchFamily="34" charset="-122"/>
                <a:cs typeface="Inter Display" pitchFamily="34" charset="-120"/>
              </a:rPr>
              <a:t>StockPilot turns it into a workflow</a:t>
            </a:r>
            <a:endParaRPr lang="en-US" sz="1900" dirty="0"/>
          </a:p>
        </p:txBody>
      </p:sp>
      <p:sp>
        <p:nvSpPr>
          <p:cNvPr id="65" name="Shape 63"/>
          <p:cNvSpPr/>
          <p:nvPr/>
        </p:nvSpPr>
        <p:spPr>
          <a:xfrm>
            <a:off x="6391656" y="2706624"/>
            <a:ext cx="118872" cy="118872"/>
          </a:xfrm>
          <a:prstGeom prst="ellipse">
            <a:avLst/>
          </a:prstGeom>
          <a:solidFill>
            <a:srgbClr val="B91622"/>
          </a:solidFill>
          <a:ln w="12700">
            <a:solidFill>
              <a:srgbClr val="B91622">
                <a:alpha val="0"/>
              </a:srgbClr>
            </a:solidFill>
            <a:prstDash val="solid"/>
          </a:ln>
        </p:spPr>
      </p:sp>
      <p:sp>
        <p:nvSpPr>
          <p:cNvPr id="66" name="Text 64"/>
          <p:cNvSpPr/>
          <p:nvPr/>
        </p:nvSpPr>
        <p:spPr>
          <a:xfrm>
            <a:off x="6684264" y="2615184"/>
            <a:ext cx="950976" cy="246888"/>
          </a:xfrm>
          <a:prstGeom prst="rect">
            <a:avLst/>
          </a:prstGeom>
          <a:noFill/>
          <a:ln/>
        </p:spPr>
        <p:txBody>
          <a:bodyPr wrap="square" lIns="0" tIns="0" rIns="0" bIns="0" rtlCol="0" anchor="ctr">
            <a:normAutofit/>
          </a:bodyPr>
          <a:lstStyle/>
          <a:p>
            <a:pPr indent="0" marL="0">
              <a:buNone/>
            </a:pPr>
            <a:r>
              <a:rPr lang="en-US" sz="1000" b="1" dirty="0">
                <a:solidFill>
                  <a:srgbClr val="D71928"/>
                </a:solidFill>
                <a:latin typeface="PT Mono" pitchFamily="34" charset="0"/>
                <a:ea typeface="PT Mono" pitchFamily="34" charset="-122"/>
                <a:cs typeface="PT Mono" pitchFamily="34" charset="-120"/>
              </a:rPr>
              <a:t>CATALOG</a:t>
            </a:r>
            <a:endParaRPr lang="en-US" sz="1000" dirty="0"/>
          </a:p>
        </p:txBody>
      </p:sp>
      <p:sp>
        <p:nvSpPr>
          <p:cNvPr id="67" name="Text 65"/>
          <p:cNvSpPr/>
          <p:nvPr/>
        </p:nvSpPr>
        <p:spPr>
          <a:xfrm>
            <a:off x="7690104" y="2615184"/>
            <a:ext cx="3264408" cy="256032"/>
          </a:xfrm>
          <a:prstGeom prst="rect">
            <a:avLst/>
          </a:prstGeom>
          <a:noFill/>
          <a:ln/>
        </p:spPr>
        <p:txBody>
          <a:bodyPr wrap="square" lIns="0" tIns="0" rIns="0" bIns="0" rtlCol="0" anchor="ctr">
            <a:normAutofit/>
          </a:bodyPr>
          <a:lstStyle/>
          <a:p>
            <a:pPr indent="0" marL="0">
              <a:buNone/>
            </a:pPr>
            <a:r>
              <a:rPr lang="en-US" sz="1200" dirty="0">
                <a:solidFill>
                  <a:srgbClr val="303030"/>
                </a:solidFill>
                <a:latin typeface="Inter" pitchFamily="34" charset="0"/>
                <a:ea typeface="Inter" pitchFamily="34" charset="-122"/>
                <a:cs typeface="Inter" pitchFamily="34" charset="-120"/>
              </a:rPr>
              <a:t>SKU-based product management</a:t>
            </a:r>
            <a:endParaRPr lang="en-US" sz="1200" dirty="0"/>
          </a:p>
        </p:txBody>
      </p:sp>
      <p:sp>
        <p:nvSpPr>
          <p:cNvPr id="68" name="Shape 66"/>
          <p:cNvSpPr/>
          <p:nvPr/>
        </p:nvSpPr>
        <p:spPr>
          <a:xfrm>
            <a:off x="6391656" y="3209544"/>
            <a:ext cx="118872" cy="118872"/>
          </a:xfrm>
          <a:prstGeom prst="ellipse">
            <a:avLst/>
          </a:prstGeom>
          <a:solidFill>
            <a:srgbClr val="D71928"/>
          </a:solidFill>
          <a:ln w="12700">
            <a:solidFill>
              <a:srgbClr val="D71928">
                <a:alpha val="0"/>
              </a:srgbClr>
            </a:solidFill>
            <a:prstDash val="solid"/>
          </a:ln>
        </p:spPr>
      </p:sp>
      <p:sp>
        <p:nvSpPr>
          <p:cNvPr id="69" name="Text 67"/>
          <p:cNvSpPr/>
          <p:nvPr/>
        </p:nvSpPr>
        <p:spPr>
          <a:xfrm>
            <a:off x="6684264" y="3118104"/>
            <a:ext cx="950976" cy="246888"/>
          </a:xfrm>
          <a:prstGeom prst="rect">
            <a:avLst/>
          </a:prstGeom>
          <a:noFill/>
          <a:ln/>
        </p:spPr>
        <p:txBody>
          <a:bodyPr wrap="square" lIns="0" tIns="0" rIns="0" bIns="0" rtlCol="0" anchor="ctr">
            <a:normAutofit/>
          </a:bodyPr>
          <a:lstStyle/>
          <a:p>
            <a:pPr indent="0" marL="0">
              <a:buNone/>
            </a:pPr>
            <a:r>
              <a:rPr lang="en-US" sz="1000" b="1" dirty="0">
                <a:solidFill>
                  <a:srgbClr val="D71928"/>
                </a:solidFill>
                <a:latin typeface="PT Mono" pitchFamily="34" charset="0"/>
                <a:ea typeface="PT Mono" pitchFamily="34" charset="-122"/>
                <a:cs typeface="PT Mono" pitchFamily="34" charset="-120"/>
              </a:rPr>
              <a:t>CONTROL</a:t>
            </a:r>
            <a:endParaRPr lang="en-US" sz="1000" dirty="0"/>
          </a:p>
        </p:txBody>
      </p:sp>
      <p:sp>
        <p:nvSpPr>
          <p:cNvPr id="70" name="Text 68"/>
          <p:cNvSpPr/>
          <p:nvPr/>
        </p:nvSpPr>
        <p:spPr>
          <a:xfrm>
            <a:off x="7690104" y="3118104"/>
            <a:ext cx="3264408" cy="256032"/>
          </a:xfrm>
          <a:prstGeom prst="rect">
            <a:avLst/>
          </a:prstGeom>
          <a:noFill/>
          <a:ln/>
        </p:spPr>
        <p:txBody>
          <a:bodyPr wrap="square" lIns="0" tIns="0" rIns="0" bIns="0" rtlCol="0" anchor="ctr">
            <a:normAutofit/>
          </a:bodyPr>
          <a:lstStyle/>
          <a:p>
            <a:pPr indent="0" marL="0">
              <a:buNone/>
            </a:pPr>
            <a:r>
              <a:rPr lang="en-US" sz="1200" dirty="0">
                <a:solidFill>
                  <a:srgbClr val="303030"/>
                </a:solidFill>
                <a:latin typeface="Inter" pitchFamily="34" charset="0"/>
                <a:ea typeface="Inter" pitchFamily="34" charset="-122"/>
                <a:cs typeface="Inter" pitchFamily="34" charset="-120"/>
              </a:rPr>
              <a:t>Atomic stock adjustments</a:t>
            </a:r>
            <a:endParaRPr lang="en-US" sz="1200" dirty="0"/>
          </a:p>
        </p:txBody>
      </p:sp>
      <p:sp>
        <p:nvSpPr>
          <p:cNvPr id="71" name="Shape 69"/>
          <p:cNvSpPr/>
          <p:nvPr/>
        </p:nvSpPr>
        <p:spPr>
          <a:xfrm>
            <a:off x="6391656" y="3712464"/>
            <a:ext cx="118872" cy="118872"/>
          </a:xfrm>
          <a:prstGeom prst="ellipse">
            <a:avLst/>
          </a:prstGeom>
          <a:solidFill>
            <a:srgbClr val="B91622"/>
          </a:solidFill>
          <a:ln w="12700">
            <a:solidFill>
              <a:srgbClr val="B91622">
                <a:alpha val="0"/>
              </a:srgbClr>
            </a:solidFill>
            <a:prstDash val="solid"/>
          </a:ln>
        </p:spPr>
      </p:sp>
      <p:sp>
        <p:nvSpPr>
          <p:cNvPr id="72" name="Text 70"/>
          <p:cNvSpPr/>
          <p:nvPr/>
        </p:nvSpPr>
        <p:spPr>
          <a:xfrm>
            <a:off x="6684264" y="3621024"/>
            <a:ext cx="950976" cy="246888"/>
          </a:xfrm>
          <a:prstGeom prst="rect">
            <a:avLst/>
          </a:prstGeom>
          <a:noFill/>
          <a:ln/>
        </p:spPr>
        <p:txBody>
          <a:bodyPr wrap="square" lIns="0" tIns="0" rIns="0" bIns="0" rtlCol="0" anchor="ctr">
            <a:normAutofit/>
          </a:bodyPr>
          <a:lstStyle/>
          <a:p>
            <a:pPr indent="0" marL="0">
              <a:buNone/>
            </a:pPr>
            <a:r>
              <a:rPr lang="en-US" sz="1000" b="1" dirty="0">
                <a:solidFill>
                  <a:srgbClr val="D71928"/>
                </a:solidFill>
                <a:latin typeface="PT Mono" pitchFamily="34" charset="0"/>
                <a:ea typeface="PT Mono" pitchFamily="34" charset="-122"/>
                <a:cs typeface="PT Mono" pitchFamily="34" charset="-120"/>
              </a:rPr>
              <a:t>AUDIT</a:t>
            </a:r>
            <a:endParaRPr lang="en-US" sz="1000" dirty="0"/>
          </a:p>
        </p:txBody>
      </p:sp>
      <p:sp>
        <p:nvSpPr>
          <p:cNvPr id="73" name="Text 71"/>
          <p:cNvSpPr/>
          <p:nvPr/>
        </p:nvSpPr>
        <p:spPr>
          <a:xfrm>
            <a:off x="7690104" y="3621024"/>
            <a:ext cx="3264408" cy="256032"/>
          </a:xfrm>
          <a:prstGeom prst="rect">
            <a:avLst/>
          </a:prstGeom>
          <a:noFill/>
          <a:ln/>
        </p:spPr>
        <p:txBody>
          <a:bodyPr wrap="square" lIns="0" tIns="0" rIns="0" bIns="0" rtlCol="0" anchor="ctr">
            <a:normAutofit/>
          </a:bodyPr>
          <a:lstStyle/>
          <a:p>
            <a:pPr indent="0" marL="0">
              <a:buNone/>
            </a:pPr>
            <a:r>
              <a:rPr lang="en-US" sz="1200" dirty="0">
                <a:solidFill>
                  <a:srgbClr val="303030"/>
                </a:solidFill>
                <a:latin typeface="Inter" pitchFamily="34" charset="0"/>
                <a:ea typeface="Inter" pitchFamily="34" charset="-122"/>
                <a:cs typeface="Inter" pitchFamily="34" charset="-120"/>
              </a:rPr>
              <a:t>Retained movement ledger</a:t>
            </a:r>
            <a:endParaRPr lang="en-US" sz="1200" dirty="0"/>
          </a:p>
        </p:txBody>
      </p:sp>
      <p:sp>
        <p:nvSpPr>
          <p:cNvPr id="74" name="Shape 72"/>
          <p:cNvSpPr/>
          <p:nvPr/>
        </p:nvSpPr>
        <p:spPr>
          <a:xfrm>
            <a:off x="6391656" y="4215384"/>
            <a:ext cx="118872" cy="118872"/>
          </a:xfrm>
          <a:prstGeom prst="ellipse">
            <a:avLst/>
          </a:prstGeom>
          <a:solidFill>
            <a:srgbClr val="B91622"/>
          </a:solidFill>
          <a:ln w="12700">
            <a:solidFill>
              <a:srgbClr val="B91622">
                <a:alpha val="0"/>
              </a:srgbClr>
            </a:solidFill>
            <a:prstDash val="solid"/>
          </a:ln>
        </p:spPr>
      </p:sp>
      <p:sp>
        <p:nvSpPr>
          <p:cNvPr id="75" name="Text 73"/>
          <p:cNvSpPr/>
          <p:nvPr/>
        </p:nvSpPr>
        <p:spPr>
          <a:xfrm>
            <a:off x="6684264" y="4123944"/>
            <a:ext cx="950976" cy="246888"/>
          </a:xfrm>
          <a:prstGeom prst="rect">
            <a:avLst/>
          </a:prstGeom>
          <a:noFill/>
          <a:ln/>
        </p:spPr>
        <p:txBody>
          <a:bodyPr wrap="square" lIns="0" tIns="0" rIns="0" bIns="0" rtlCol="0" anchor="ctr">
            <a:normAutofit/>
          </a:bodyPr>
          <a:lstStyle/>
          <a:p>
            <a:pPr indent="0" marL="0">
              <a:buNone/>
            </a:pPr>
            <a:r>
              <a:rPr lang="en-US" sz="1000" b="1" dirty="0">
                <a:solidFill>
                  <a:srgbClr val="D71928"/>
                </a:solidFill>
                <a:latin typeface="PT Mono" pitchFamily="34" charset="0"/>
                <a:ea typeface="PT Mono" pitchFamily="34" charset="-122"/>
                <a:cs typeface="PT Mono" pitchFamily="34" charset="-120"/>
              </a:rPr>
              <a:t>INSIGHT</a:t>
            </a:r>
            <a:endParaRPr lang="en-US" sz="1000" dirty="0"/>
          </a:p>
        </p:txBody>
      </p:sp>
      <p:sp>
        <p:nvSpPr>
          <p:cNvPr id="76" name="Text 74"/>
          <p:cNvSpPr/>
          <p:nvPr/>
        </p:nvSpPr>
        <p:spPr>
          <a:xfrm>
            <a:off x="7690104" y="4123944"/>
            <a:ext cx="3264408" cy="256032"/>
          </a:xfrm>
          <a:prstGeom prst="rect">
            <a:avLst/>
          </a:prstGeom>
          <a:noFill/>
          <a:ln/>
        </p:spPr>
        <p:txBody>
          <a:bodyPr wrap="square" lIns="0" tIns="0" rIns="0" bIns="0" rtlCol="0" anchor="ctr">
            <a:normAutofit/>
          </a:bodyPr>
          <a:lstStyle/>
          <a:p>
            <a:pPr indent="0" marL="0">
              <a:buNone/>
            </a:pPr>
            <a:r>
              <a:rPr lang="en-US" sz="1200" dirty="0">
                <a:solidFill>
                  <a:srgbClr val="303030"/>
                </a:solidFill>
                <a:latin typeface="Inter" pitchFamily="34" charset="0"/>
                <a:ea typeface="Inter" pitchFamily="34" charset="-122"/>
                <a:cs typeface="Inter" pitchFamily="34" charset="-120"/>
              </a:rPr>
              <a:t>Real dashboard statistics</a:t>
            </a:r>
            <a:endParaRPr lang="en-US" sz="1200" dirty="0"/>
          </a:p>
        </p:txBody>
      </p:sp>
      <p:sp>
        <p:nvSpPr>
          <p:cNvPr id="77" name="Text 75">
            <a:hlinkClick r:id="rId1" tooltip=""/>
          </p:cNvPr>
          <p:cNvSpPr/>
          <p:nvPr/>
        </p:nvSpPr>
        <p:spPr>
          <a:xfrm>
            <a:off x="6336792" y="5504688"/>
            <a:ext cx="4846320" cy="301752"/>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Explore the actual application screenshots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02 / USER EXPERIENCE</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Product experience: inventory at a glance</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A responsive dashboard and consistent CRUD workflow backed by real API data.</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03 / 16</a:t>
            </a:r>
            <a:endParaRPr lang="en-US" sz="850" dirty="0"/>
          </a:p>
        </p:txBody>
      </p:sp>
      <p:sp>
        <p:nvSpPr>
          <p:cNvPr id="48" name="Shape 46"/>
          <p:cNvSpPr/>
          <p:nvPr/>
        </p:nvSpPr>
        <p:spPr>
          <a:xfrm>
            <a:off x="603504" y="1691640"/>
            <a:ext cx="8348472" cy="4389120"/>
          </a:xfrm>
          <a:prstGeom prst="roundRect">
            <a:avLst>
              <a:gd name="adj" fmla="val 3542"/>
            </a:avLst>
          </a:prstGeom>
          <a:solidFill>
            <a:srgbClr val="FAFAF8"/>
          </a:solidFill>
          <a:ln w="10160">
            <a:solidFill>
              <a:srgbClr val="C9C9C6"/>
            </a:solidFill>
            <a:prstDash val="solid"/>
          </a:ln>
        </p:spPr>
      </p:sp>
      <p:sp>
        <p:nvSpPr>
          <p:cNvPr id="49" name="Shape 47"/>
          <p:cNvSpPr/>
          <p:nvPr/>
        </p:nvSpPr>
        <p:spPr>
          <a:xfrm>
            <a:off x="603504" y="1691640"/>
            <a:ext cx="8348472" cy="429768"/>
          </a:xfrm>
          <a:prstGeom prst="roundRect">
            <a:avLst>
              <a:gd name="adj" fmla="val 34043"/>
            </a:avLst>
          </a:prstGeom>
          <a:solidFill>
            <a:srgbClr val="EFEFED"/>
          </a:solidFill>
          <a:ln w="12700">
            <a:solidFill>
              <a:srgbClr val="EFEFED">
                <a:alpha val="0"/>
              </a:srgbClr>
            </a:solidFill>
            <a:prstDash val="solid"/>
          </a:ln>
        </p:spPr>
      </p:sp>
      <p:sp>
        <p:nvSpPr>
          <p:cNvPr id="50" name="Shape 48"/>
          <p:cNvSpPr/>
          <p:nvPr/>
        </p:nvSpPr>
        <p:spPr>
          <a:xfrm>
            <a:off x="822960" y="1847088"/>
            <a:ext cx="91440" cy="91440"/>
          </a:xfrm>
          <a:prstGeom prst="ellipse">
            <a:avLst/>
          </a:prstGeom>
          <a:solidFill>
            <a:srgbClr val="D71928"/>
          </a:solidFill>
          <a:ln w="12700">
            <a:solidFill>
              <a:srgbClr val="D71928">
                <a:alpha val="0"/>
              </a:srgbClr>
            </a:solidFill>
            <a:prstDash val="solid"/>
          </a:ln>
        </p:spPr>
      </p:sp>
      <p:sp>
        <p:nvSpPr>
          <p:cNvPr id="51" name="Shape 49"/>
          <p:cNvSpPr/>
          <p:nvPr/>
        </p:nvSpPr>
        <p:spPr>
          <a:xfrm>
            <a:off x="1033272" y="1847088"/>
            <a:ext cx="91440" cy="91440"/>
          </a:xfrm>
          <a:prstGeom prst="ellipse">
            <a:avLst/>
          </a:prstGeom>
          <a:solidFill>
            <a:srgbClr val="A3A3A0"/>
          </a:solidFill>
          <a:ln w="12700">
            <a:solidFill>
              <a:srgbClr val="A3A3A0">
                <a:alpha val="0"/>
              </a:srgbClr>
            </a:solidFill>
            <a:prstDash val="solid"/>
          </a:ln>
        </p:spPr>
      </p:sp>
      <p:sp>
        <p:nvSpPr>
          <p:cNvPr id="52" name="Shape 50"/>
          <p:cNvSpPr/>
          <p:nvPr/>
        </p:nvSpPr>
        <p:spPr>
          <a:xfrm>
            <a:off x="1243584" y="1847088"/>
            <a:ext cx="91440" cy="91440"/>
          </a:xfrm>
          <a:prstGeom prst="ellipse">
            <a:avLst/>
          </a:prstGeom>
          <a:solidFill>
            <a:srgbClr val="444444"/>
          </a:solidFill>
          <a:ln w="12700">
            <a:solidFill>
              <a:srgbClr val="444444">
                <a:alpha val="0"/>
              </a:srgbClr>
            </a:solidFill>
            <a:prstDash val="solid"/>
          </a:ln>
        </p:spPr>
      </p:sp>
      <p:sp>
        <p:nvSpPr>
          <p:cNvPr id="53" name="Shape 51"/>
          <p:cNvSpPr/>
          <p:nvPr/>
        </p:nvSpPr>
        <p:spPr>
          <a:xfrm>
            <a:off x="603504" y="2121408"/>
            <a:ext cx="1490472" cy="3959352"/>
          </a:xfrm>
          <a:prstGeom prst="rect">
            <a:avLst/>
          </a:prstGeom>
          <a:solidFill>
            <a:srgbClr val="1A1A1A"/>
          </a:solidFill>
          <a:ln w="12700">
            <a:solidFill>
              <a:srgbClr val="1A1A1A">
                <a:alpha val="0"/>
              </a:srgbClr>
            </a:solidFill>
            <a:prstDash val="solid"/>
          </a:ln>
        </p:spPr>
      </p:sp>
      <p:sp>
        <p:nvSpPr>
          <p:cNvPr id="54" name="Shape 52"/>
          <p:cNvSpPr/>
          <p:nvPr/>
        </p:nvSpPr>
        <p:spPr>
          <a:xfrm>
            <a:off x="777240" y="2331720"/>
            <a:ext cx="256032" cy="256032"/>
          </a:xfrm>
          <a:prstGeom prst="roundRect">
            <a:avLst>
              <a:gd name="adj" fmla="val 25000"/>
            </a:avLst>
          </a:prstGeom>
          <a:solidFill>
            <a:srgbClr val="D71928"/>
          </a:solidFill>
          <a:ln w="12700">
            <a:solidFill>
              <a:srgbClr val="D71928">
                <a:alpha val="0"/>
              </a:srgbClr>
            </a:solidFill>
            <a:prstDash val="solid"/>
          </a:ln>
        </p:spPr>
      </p:sp>
      <p:sp>
        <p:nvSpPr>
          <p:cNvPr id="55" name="Text 53"/>
          <p:cNvSpPr/>
          <p:nvPr/>
        </p:nvSpPr>
        <p:spPr>
          <a:xfrm>
            <a:off x="804672" y="2359152"/>
            <a:ext cx="173736" cy="164592"/>
          </a:xfrm>
          <a:prstGeom prst="rect">
            <a:avLst/>
          </a:prstGeom>
          <a:noFill/>
          <a:ln/>
        </p:spPr>
        <p:txBody>
          <a:bodyPr wrap="square" lIns="0" tIns="0" rIns="0" bIns="0" rtlCol="0" anchor="ctr">
            <a:normAutofit/>
          </a:bodyPr>
          <a:lstStyle/>
          <a:p>
            <a:pPr indent="0" marL="0">
              <a:buNone/>
            </a:pPr>
            <a:r>
              <a:rPr lang="en-US" sz="1000" b="1" dirty="0">
                <a:solidFill>
                  <a:srgbClr val="1A1A1A"/>
                </a:solidFill>
                <a:latin typeface="PT Mono" pitchFamily="34" charset="0"/>
                <a:ea typeface="PT Mono" pitchFamily="34" charset="-122"/>
                <a:cs typeface="PT Mono" pitchFamily="34" charset="-120"/>
              </a:rPr>
              <a:t>SP</a:t>
            </a:r>
            <a:endParaRPr lang="en-US" sz="1000" dirty="0"/>
          </a:p>
        </p:txBody>
      </p:sp>
      <p:sp>
        <p:nvSpPr>
          <p:cNvPr id="56" name="Text 54"/>
          <p:cNvSpPr/>
          <p:nvPr/>
        </p:nvSpPr>
        <p:spPr>
          <a:xfrm>
            <a:off x="1097280" y="2331720"/>
            <a:ext cx="923544" cy="256032"/>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PT Mono" pitchFamily="34" charset="0"/>
                <a:ea typeface="PT Mono" pitchFamily="34" charset="-122"/>
                <a:cs typeface="PT Mono" pitchFamily="34" charset="-120"/>
              </a:rPr>
              <a:t>StockPilot</a:t>
            </a:r>
            <a:endParaRPr lang="en-US" sz="1000" dirty="0"/>
          </a:p>
        </p:txBody>
      </p:sp>
      <p:sp>
        <p:nvSpPr>
          <p:cNvPr id="57" name="Shape 55"/>
          <p:cNvSpPr/>
          <p:nvPr/>
        </p:nvSpPr>
        <p:spPr>
          <a:xfrm>
            <a:off x="713232" y="2962656"/>
            <a:ext cx="1261872" cy="310896"/>
          </a:xfrm>
          <a:prstGeom prst="roundRect">
            <a:avLst>
              <a:gd name="adj" fmla="val 17647"/>
            </a:avLst>
          </a:prstGeom>
          <a:solidFill>
            <a:srgbClr val="313131"/>
          </a:solidFill>
          <a:ln w="12700">
            <a:solidFill>
              <a:srgbClr val="313131">
                <a:alpha val="0"/>
              </a:srgbClr>
            </a:solidFill>
            <a:prstDash val="solid"/>
          </a:ln>
        </p:spPr>
      </p:sp>
      <p:sp>
        <p:nvSpPr>
          <p:cNvPr id="58" name="Text 56"/>
          <p:cNvSpPr/>
          <p:nvPr/>
        </p:nvSpPr>
        <p:spPr>
          <a:xfrm>
            <a:off x="923544" y="2990088"/>
            <a:ext cx="987552" cy="246888"/>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PT Mono" pitchFamily="34" charset="0"/>
                <a:ea typeface="PT Mono" pitchFamily="34" charset="-122"/>
                <a:cs typeface="PT Mono" pitchFamily="34" charset="-120"/>
              </a:rPr>
              <a:t>Overview</a:t>
            </a:r>
            <a:endParaRPr lang="en-US" sz="900" dirty="0"/>
          </a:p>
        </p:txBody>
      </p:sp>
      <p:sp>
        <p:nvSpPr>
          <p:cNvPr id="59" name="Text 57"/>
          <p:cNvSpPr/>
          <p:nvPr/>
        </p:nvSpPr>
        <p:spPr>
          <a:xfrm>
            <a:off x="923544" y="3447288"/>
            <a:ext cx="987552" cy="246888"/>
          </a:xfrm>
          <a:prstGeom prst="rect">
            <a:avLst/>
          </a:prstGeom>
          <a:noFill/>
          <a:ln/>
        </p:spPr>
        <p:txBody>
          <a:bodyPr wrap="square" lIns="0" tIns="0" rIns="0" bIns="0" rtlCol="0" anchor="ctr">
            <a:normAutofit/>
          </a:bodyPr>
          <a:lstStyle/>
          <a:p>
            <a:pPr indent="0" marL="0">
              <a:buNone/>
            </a:pPr>
            <a:r>
              <a:rPr lang="en-US" sz="900" dirty="0">
                <a:solidFill>
                  <a:srgbClr val="AFAFAF"/>
                </a:solidFill>
                <a:latin typeface="PT Mono" pitchFamily="34" charset="0"/>
                <a:ea typeface="PT Mono" pitchFamily="34" charset="-122"/>
                <a:cs typeface="PT Mono" pitchFamily="34" charset="-120"/>
              </a:rPr>
              <a:t>Products</a:t>
            </a:r>
            <a:endParaRPr lang="en-US" sz="900" dirty="0"/>
          </a:p>
        </p:txBody>
      </p:sp>
      <p:sp>
        <p:nvSpPr>
          <p:cNvPr id="60" name="Text 58"/>
          <p:cNvSpPr/>
          <p:nvPr/>
        </p:nvSpPr>
        <p:spPr>
          <a:xfrm>
            <a:off x="923544" y="3904488"/>
            <a:ext cx="987552" cy="246888"/>
          </a:xfrm>
          <a:prstGeom prst="rect">
            <a:avLst/>
          </a:prstGeom>
          <a:noFill/>
          <a:ln/>
        </p:spPr>
        <p:txBody>
          <a:bodyPr wrap="square" lIns="0" tIns="0" rIns="0" bIns="0" rtlCol="0" anchor="ctr">
            <a:normAutofit/>
          </a:bodyPr>
          <a:lstStyle/>
          <a:p>
            <a:pPr indent="0" marL="0">
              <a:buNone/>
            </a:pPr>
            <a:r>
              <a:rPr lang="en-US" sz="900" dirty="0">
                <a:solidFill>
                  <a:srgbClr val="AFAFAF"/>
                </a:solidFill>
                <a:latin typeface="PT Mono" pitchFamily="34" charset="0"/>
                <a:ea typeface="PT Mono" pitchFamily="34" charset="-122"/>
                <a:cs typeface="PT Mono" pitchFamily="34" charset="-120"/>
              </a:rPr>
              <a:t>Stock ledger</a:t>
            </a:r>
            <a:endParaRPr lang="en-US" sz="900" dirty="0"/>
          </a:p>
        </p:txBody>
      </p:sp>
      <p:sp>
        <p:nvSpPr>
          <p:cNvPr id="61" name="Text 59"/>
          <p:cNvSpPr/>
          <p:nvPr/>
        </p:nvSpPr>
        <p:spPr>
          <a:xfrm>
            <a:off x="923544" y="4361688"/>
            <a:ext cx="987552" cy="246888"/>
          </a:xfrm>
          <a:prstGeom prst="rect">
            <a:avLst/>
          </a:prstGeom>
          <a:noFill/>
          <a:ln/>
        </p:spPr>
        <p:txBody>
          <a:bodyPr wrap="square" lIns="0" tIns="0" rIns="0" bIns="0" rtlCol="0" anchor="ctr">
            <a:normAutofit/>
          </a:bodyPr>
          <a:lstStyle/>
          <a:p>
            <a:pPr indent="0" marL="0">
              <a:buNone/>
            </a:pPr>
            <a:r>
              <a:rPr lang="en-US" sz="900" dirty="0">
                <a:solidFill>
                  <a:srgbClr val="AFAFAF"/>
                </a:solidFill>
                <a:latin typeface="PT Mono" pitchFamily="34" charset="0"/>
                <a:ea typeface="PT Mono" pitchFamily="34" charset="-122"/>
                <a:cs typeface="PT Mono" pitchFamily="34" charset="-120"/>
              </a:rPr>
              <a:t>Analytics</a:t>
            </a:r>
            <a:endParaRPr lang="en-US" sz="900" dirty="0"/>
          </a:p>
        </p:txBody>
      </p:sp>
      <p:sp>
        <p:nvSpPr>
          <p:cNvPr id="62" name="Text 60"/>
          <p:cNvSpPr/>
          <p:nvPr/>
        </p:nvSpPr>
        <p:spPr>
          <a:xfrm>
            <a:off x="923544" y="4818888"/>
            <a:ext cx="987552" cy="246888"/>
          </a:xfrm>
          <a:prstGeom prst="rect">
            <a:avLst/>
          </a:prstGeom>
          <a:noFill/>
          <a:ln/>
        </p:spPr>
        <p:txBody>
          <a:bodyPr wrap="square" lIns="0" tIns="0" rIns="0" bIns="0" rtlCol="0" anchor="ctr">
            <a:normAutofit/>
          </a:bodyPr>
          <a:lstStyle/>
          <a:p>
            <a:pPr indent="0" marL="0">
              <a:buNone/>
            </a:pPr>
            <a:r>
              <a:rPr lang="en-US" sz="900" dirty="0">
                <a:solidFill>
                  <a:srgbClr val="AFAFAF"/>
                </a:solidFill>
                <a:latin typeface="PT Mono" pitchFamily="34" charset="0"/>
                <a:ea typeface="PT Mono" pitchFamily="34" charset="-122"/>
                <a:cs typeface="PT Mono" pitchFamily="34" charset="-120"/>
              </a:rPr>
              <a:t>Settings</a:t>
            </a:r>
            <a:endParaRPr lang="en-US" sz="900" dirty="0"/>
          </a:p>
        </p:txBody>
      </p:sp>
      <p:sp>
        <p:nvSpPr>
          <p:cNvPr id="63" name="Text 61"/>
          <p:cNvSpPr/>
          <p:nvPr/>
        </p:nvSpPr>
        <p:spPr>
          <a:xfrm>
            <a:off x="2377440" y="2377440"/>
            <a:ext cx="3840480" cy="210312"/>
          </a:xfrm>
          <a:prstGeom prst="rect">
            <a:avLst/>
          </a:prstGeom>
          <a:noFill/>
          <a:ln/>
        </p:spPr>
        <p:txBody>
          <a:bodyPr wrap="square" lIns="0" tIns="0" rIns="0" bIns="0" rtlCol="0" anchor="ctr">
            <a:normAutofit/>
          </a:bodyPr>
          <a:lstStyle/>
          <a:p>
            <a:pPr indent="0" marL="0">
              <a:buNone/>
            </a:pPr>
            <a:r>
              <a:rPr lang="en-US" sz="900" b="1" spc="100" kern="0" dirty="0">
                <a:solidFill>
                  <a:srgbClr val="686868"/>
                </a:solidFill>
                <a:latin typeface="PT Mono" pitchFamily="34" charset="0"/>
                <a:ea typeface="PT Mono" pitchFamily="34" charset="-122"/>
                <a:cs typeface="PT Mono" pitchFamily="34" charset="-120"/>
              </a:rPr>
              <a:t>OPERATIONAL WORKSPACE</a:t>
            </a:r>
            <a:endParaRPr lang="en-US" sz="900" dirty="0"/>
          </a:p>
        </p:txBody>
      </p:sp>
      <p:sp>
        <p:nvSpPr>
          <p:cNvPr id="64" name="Text 62"/>
          <p:cNvSpPr/>
          <p:nvPr/>
        </p:nvSpPr>
        <p:spPr>
          <a:xfrm>
            <a:off x="2377440" y="2615184"/>
            <a:ext cx="5138928" cy="347472"/>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Inter Display" pitchFamily="34" charset="0"/>
                <a:ea typeface="Inter Display" pitchFamily="34" charset="-122"/>
                <a:cs typeface="Inter Display" pitchFamily="34" charset="-120"/>
              </a:rPr>
              <a:t>Inventory overview</a:t>
            </a:r>
            <a:endParaRPr lang="en-US" sz="2000" dirty="0"/>
          </a:p>
        </p:txBody>
      </p:sp>
      <p:sp>
        <p:nvSpPr>
          <p:cNvPr id="65" name="Shape 63"/>
          <p:cNvSpPr/>
          <p:nvPr/>
        </p:nvSpPr>
        <p:spPr>
          <a:xfrm>
            <a:off x="2377440" y="3172968"/>
            <a:ext cx="1901952" cy="859536"/>
          </a:xfrm>
          <a:prstGeom prst="roundRect">
            <a:avLst>
              <a:gd name="adj" fmla="val 10638"/>
            </a:avLst>
          </a:prstGeom>
          <a:solidFill>
            <a:srgbClr val="FFFFFF"/>
          </a:solidFill>
          <a:ln w="10160">
            <a:solidFill>
              <a:srgbClr val="D5D5D2"/>
            </a:solidFill>
            <a:prstDash val="solid"/>
          </a:ln>
        </p:spPr>
      </p:sp>
      <p:sp>
        <p:nvSpPr>
          <p:cNvPr id="66" name="Text 64"/>
          <p:cNvSpPr/>
          <p:nvPr/>
        </p:nvSpPr>
        <p:spPr>
          <a:xfrm>
            <a:off x="2523744" y="3273552"/>
            <a:ext cx="1618488" cy="182880"/>
          </a:xfrm>
          <a:prstGeom prst="rect">
            <a:avLst/>
          </a:prstGeom>
          <a:noFill/>
          <a:ln/>
        </p:spPr>
        <p:txBody>
          <a:bodyPr wrap="square" lIns="0" tIns="0" rIns="0" bIns="0" rtlCol="0" anchor="ctr">
            <a:normAutofit/>
          </a:bodyPr>
          <a:lstStyle/>
          <a:p>
            <a:pPr indent="0" marL="0">
              <a:buNone/>
            </a:pPr>
            <a:r>
              <a:rPr lang="en-US" sz="800" b="1" dirty="0">
                <a:solidFill>
                  <a:srgbClr val="727272"/>
                </a:solidFill>
                <a:latin typeface="PT Mono" pitchFamily="34" charset="0"/>
                <a:ea typeface="PT Mono" pitchFamily="34" charset="-122"/>
                <a:cs typeface="PT Mono" pitchFamily="34" charset="-120"/>
              </a:rPr>
              <a:t>PRODUCTS</a:t>
            </a:r>
            <a:endParaRPr lang="en-US" sz="800" dirty="0"/>
          </a:p>
        </p:txBody>
      </p:sp>
      <p:sp>
        <p:nvSpPr>
          <p:cNvPr id="67" name="Text 65"/>
          <p:cNvSpPr/>
          <p:nvPr/>
        </p:nvSpPr>
        <p:spPr>
          <a:xfrm>
            <a:off x="2523744" y="3538728"/>
            <a:ext cx="1645920" cy="292608"/>
          </a:xfrm>
          <a:prstGeom prst="rect">
            <a:avLst/>
          </a:prstGeom>
          <a:noFill/>
          <a:ln/>
        </p:spPr>
        <p:txBody>
          <a:bodyPr wrap="square" lIns="0" tIns="0" rIns="0" bIns="0" rtlCol="0" anchor="ctr">
            <a:normAutofit/>
          </a:bodyPr>
          <a:lstStyle/>
          <a:p>
            <a:pPr indent="0" marL="0">
              <a:buNone/>
            </a:pPr>
            <a:r>
              <a:rPr lang="en-US" sz="2100" b="1" dirty="0">
                <a:solidFill>
                  <a:srgbClr val="121212"/>
                </a:solidFill>
                <a:latin typeface="Inter Display" pitchFamily="34" charset="0"/>
                <a:ea typeface="Inter Display" pitchFamily="34" charset="-122"/>
                <a:cs typeface="Inter Display" pitchFamily="34" charset="-120"/>
              </a:rPr>
              <a:t>128</a:t>
            </a:r>
            <a:endParaRPr lang="en-US" sz="2100" dirty="0"/>
          </a:p>
        </p:txBody>
      </p:sp>
      <p:sp>
        <p:nvSpPr>
          <p:cNvPr id="68" name="Shape 66"/>
          <p:cNvSpPr/>
          <p:nvPr/>
        </p:nvSpPr>
        <p:spPr>
          <a:xfrm>
            <a:off x="4434840" y="3172968"/>
            <a:ext cx="1901952" cy="859536"/>
          </a:xfrm>
          <a:prstGeom prst="roundRect">
            <a:avLst>
              <a:gd name="adj" fmla="val 10638"/>
            </a:avLst>
          </a:prstGeom>
          <a:solidFill>
            <a:srgbClr val="FFFFFF"/>
          </a:solidFill>
          <a:ln w="10160">
            <a:solidFill>
              <a:srgbClr val="D5D5D2"/>
            </a:solidFill>
            <a:prstDash val="solid"/>
          </a:ln>
        </p:spPr>
      </p:sp>
      <p:sp>
        <p:nvSpPr>
          <p:cNvPr id="69" name="Text 67"/>
          <p:cNvSpPr/>
          <p:nvPr/>
        </p:nvSpPr>
        <p:spPr>
          <a:xfrm>
            <a:off x="4581144" y="3273552"/>
            <a:ext cx="1618488" cy="182880"/>
          </a:xfrm>
          <a:prstGeom prst="rect">
            <a:avLst/>
          </a:prstGeom>
          <a:noFill/>
          <a:ln/>
        </p:spPr>
        <p:txBody>
          <a:bodyPr wrap="square" lIns="0" tIns="0" rIns="0" bIns="0" rtlCol="0" anchor="ctr">
            <a:normAutofit/>
          </a:bodyPr>
          <a:lstStyle/>
          <a:p>
            <a:pPr indent="0" marL="0">
              <a:buNone/>
            </a:pPr>
            <a:r>
              <a:rPr lang="en-US" sz="800" b="1" dirty="0">
                <a:solidFill>
                  <a:srgbClr val="727272"/>
                </a:solidFill>
                <a:latin typeface="PT Mono" pitchFamily="34" charset="0"/>
                <a:ea typeface="PT Mono" pitchFamily="34" charset="-122"/>
                <a:cs typeface="PT Mono" pitchFamily="34" charset="-120"/>
              </a:rPr>
              <a:t>UNITS IN STOCK</a:t>
            </a:r>
            <a:endParaRPr lang="en-US" sz="800" dirty="0"/>
          </a:p>
        </p:txBody>
      </p:sp>
      <p:sp>
        <p:nvSpPr>
          <p:cNvPr id="70" name="Text 68"/>
          <p:cNvSpPr/>
          <p:nvPr/>
        </p:nvSpPr>
        <p:spPr>
          <a:xfrm>
            <a:off x="4581144" y="3538728"/>
            <a:ext cx="1645920" cy="292608"/>
          </a:xfrm>
          <a:prstGeom prst="rect">
            <a:avLst/>
          </a:prstGeom>
          <a:noFill/>
          <a:ln/>
        </p:spPr>
        <p:txBody>
          <a:bodyPr wrap="square" lIns="0" tIns="0" rIns="0" bIns="0" rtlCol="0" anchor="ctr">
            <a:normAutofit/>
          </a:bodyPr>
          <a:lstStyle/>
          <a:p>
            <a:pPr indent="0" marL="0">
              <a:buNone/>
            </a:pPr>
            <a:r>
              <a:rPr lang="en-US" sz="2100" b="1" dirty="0">
                <a:solidFill>
                  <a:srgbClr val="121212"/>
                </a:solidFill>
                <a:latin typeface="Inter Display" pitchFamily="34" charset="0"/>
                <a:ea typeface="Inter Display" pitchFamily="34" charset="-122"/>
                <a:cs typeface="Inter Display" pitchFamily="34" charset="-120"/>
              </a:rPr>
              <a:t>5,420</a:t>
            </a:r>
            <a:endParaRPr lang="en-US" sz="2100" dirty="0"/>
          </a:p>
        </p:txBody>
      </p:sp>
      <p:sp>
        <p:nvSpPr>
          <p:cNvPr id="71" name="Shape 69"/>
          <p:cNvSpPr/>
          <p:nvPr/>
        </p:nvSpPr>
        <p:spPr>
          <a:xfrm>
            <a:off x="6492240" y="3172968"/>
            <a:ext cx="1901952" cy="859536"/>
          </a:xfrm>
          <a:prstGeom prst="roundRect">
            <a:avLst>
              <a:gd name="adj" fmla="val 10638"/>
            </a:avLst>
          </a:prstGeom>
          <a:solidFill>
            <a:srgbClr val="FFFFFF"/>
          </a:solidFill>
          <a:ln w="10160">
            <a:solidFill>
              <a:srgbClr val="D5D5D2"/>
            </a:solidFill>
            <a:prstDash val="solid"/>
          </a:ln>
        </p:spPr>
      </p:sp>
      <p:sp>
        <p:nvSpPr>
          <p:cNvPr id="72" name="Text 70"/>
          <p:cNvSpPr/>
          <p:nvPr/>
        </p:nvSpPr>
        <p:spPr>
          <a:xfrm>
            <a:off x="6638544" y="3273552"/>
            <a:ext cx="1618488" cy="182880"/>
          </a:xfrm>
          <a:prstGeom prst="rect">
            <a:avLst/>
          </a:prstGeom>
          <a:noFill/>
          <a:ln/>
        </p:spPr>
        <p:txBody>
          <a:bodyPr wrap="square" lIns="0" tIns="0" rIns="0" bIns="0" rtlCol="0" anchor="ctr">
            <a:normAutofit/>
          </a:bodyPr>
          <a:lstStyle/>
          <a:p>
            <a:pPr indent="0" marL="0">
              <a:buNone/>
            </a:pPr>
            <a:r>
              <a:rPr lang="en-US" sz="800" b="1" dirty="0">
                <a:solidFill>
                  <a:srgbClr val="727272"/>
                </a:solidFill>
                <a:latin typeface="PT Mono" pitchFamily="34" charset="0"/>
                <a:ea typeface="PT Mono" pitchFamily="34" charset="-122"/>
                <a:cs typeface="PT Mono" pitchFamily="34" charset="-120"/>
              </a:rPr>
              <a:t>REORDER ALERTS</a:t>
            </a:r>
            <a:endParaRPr lang="en-US" sz="800" dirty="0"/>
          </a:p>
        </p:txBody>
      </p:sp>
      <p:sp>
        <p:nvSpPr>
          <p:cNvPr id="73" name="Text 71"/>
          <p:cNvSpPr/>
          <p:nvPr/>
        </p:nvSpPr>
        <p:spPr>
          <a:xfrm>
            <a:off x="6638544" y="3538728"/>
            <a:ext cx="1645920" cy="292608"/>
          </a:xfrm>
          <a:prstGeom prst="rect">
            <a:avLst/>
          </a:prstGeom>
          <a:noFill/>
          <a:ln/>
        </p:spPr>
        <p:txBody>
          <a:bodyPr wrap="square" lIns="0" tIns="0" rIns="0" bIns="0" rtlCol="0" anchor="ctr">
            <a:normAutofit/>
          </a:bodyPr>
          <a:lstStyle/>
          <a:p>
            <a:pPr indent="0" marL="0">
              <a:buNone/>
            </a:pPr>
            <a:r>
              <a:rPr lang="en-US" sz="2100" b="1" dirty="0">
                <a:solidFill>
                  <a:srgbClr val="121212"/>
                </a:solidFill>
                <a:latin typeface="Inter Display" pitchFamily="34" charset="0"/>
                <a:ea typeface="Inter Display" pitchFamily="34" charset="-122"/>
                <a:cs typeface="Inter Display" pitchFamily="34" charset="-120"/>
              </a:rPr>
              <a:t>12</a:t>
            </a:r>
            <a:endParaRPr lang="en-US" sz="2100" dirty="0"/>
          </a:p>
        </p:txBody>
      </p:sp>
      <p:sp>
        <p:nvSpPr>
          <p:cNvPr id="74" name="Shape 72"/>
          <p:cNvSpPr/>
          <p:nvPr/>
        </p:nvSpPr>
        <p:spPr>
          <a:xfrm>
            <a:off x="2377440" y="4233672"/>
            <a:ext cx="6153912" cy="1472184"/>
          </a:xfrm>
          <a:prstGeom prst="roundRect">
            <a:avLst>
              <a:gd name="adj" fmla="val 6211"/>
            </a:avLst>
          </a:prstGeom>
          <a:solidFill>
            <a:srgbClr val="FFFFFF"/>
          </a:solidFill>
          <a:ln w="10160">
            <a:solidFill>
              <a:srgbClr val="D5D5D2"/>
            </a:solidFill>
            <a:prstDash val="solid"/>
          </a:ln>
        </p:spPr>
      </p:sp>
      <p:sp>
        <p:nvSpPr>
          <p:cNvPr id="75" name="Text 73"/>
          <p:cNvSpPr/>
          <p:nvPr/>
        </p:nvSpPr>
        <p:spPr>
          <a:xfrm>
            <a:off x="2532888" y="4325112"/>
            <a:ext cx="3931920" cy="274320"/>
          </a:xfrm>
          <a:prstGeom prst="rect">
            <a:avLst/>
          </a:prstGeom>
          <a:noFill/>
          <a:ln/>
        </p:spPr>
        <p:txBody>
          <a:bodyPr wrap="square" lIns="0" tIns="0" rIns="0" bIns="0" rtlCol="0" anchor="ctr">
            <a:normAutofit/>
          </a:bodyPr>
          <a:lstStyle/>
          <a:p>
            <a:pPr indent="0" marL="0">
              <a:buNone/>
            </a:pPr>
            <a:r>
              <a:rPr lang="en-US" sz="1000" b="1" dirty="0">
                <a:solidFill>
                  <a:srgbClr val="343434"/>
                </a:solidFill>
                <a:latin typeface="PT Mono" pitchFamily="34" charset="0"/>
                <a:ea typeface="PT Mono" pitchFamily="34" charset="-122"/>
                <a:cs typeface="PT Mono" pitchFamily="34" charset="-120"/>
              </a:rPr>
              <a:t>Stock health  ·  Sample layout</a:t>
            </a:r>
            <a:endParaRPr lang="en-US" sz="1000" dirty="0"/>
          </a:p>
        </p:txBody>
      </p:sp>
      <p:sp>
        <p:nvSpPr>
          <p:cNvPr id="76" name="Shape 74"/>
          <p:cNvSpPr/>
          <p:nvPr/>
        </p:nvSpPr>
        <p:spPr>
          <a:xfrm>
            <a:off x="2523744" y="4613148"/>
            <a:ext cx="5733288" cy="246888"/>
          </a:xfrm>
          <a:prstGeom prst="roundRect">
            <a:avLst>
              <a:gd name="adj" fmla="val 14815"/>
            </a:avLst>
          </a:prstGeom>
          <a:solidFill>
            <a:srgbClr val="F0F0EE"/>
          </a:solidFill>
          <a:ln w="12700">
            <a:solidFill>
              <a:srgbClr val="F0F0EE">
                <a:alpha val="0"/>
              </a:srgbClr>
            </a:solidFill>
            <a:prstDash val="solid"/>
          </a:ln>
        </p:spPr>
      </p:sp>
      <p:sp>
        <p:nvSpPr>
          <p:cNvPr id="77" name="Text 75"/>
          <p:cNvSpPr/>
          <p:nvPr/>
        </p:nvSpPr>
        <p:spPr>
          <a:xfrm>
            <a:off x="2596896" y="4636008"/>
            <a:ext cx="1115568" cy="182880"/>
          </a:xfrm>
          <a:prstGeom prst="rect">
            <a:avLst/>
          </a:prstGeom>
          <a:noFill/>
          <a:ln/>
        </p:spPr>
        <p:txBody>
          <a:bodyPr wrap="square" lIns="0" tIns="0" rIns="0" bIns="0" rtlCol="0" anchor="ctr">
            <a:normAutofit/>
          </a:bodyPr>
          <a:lstStyle/>
          <a:p>
            <a:pPr indent="0" marL="0">
              <a:buNone/>
            </a:pPr>
            <a:r>
              <a:rPr lang="en-US" sz="800" b="1" dirty="0">
                <a:solidFill>
                  <a:srgbClr val="6A6A6A"/>
                </a:solidFill>
                <a:latin typeface="PT Mono" pitchFamily="34" charset="0"/>
                <a:ea typeface="PT Mono" pitchFamily="34" charset="-122"/>
                <a:cs typeface="PT Mono" pitchFamily="34" charset="-120"/>
              </a:rPr>
              <a:t>SKU</a:t>
            </a:r>
            <a:endParaRPr lang="en-US" sz="800" dirty="0"/>
          </a:p>
        </p:txBody>
      </p:sp>
      <p:sp>
        <p:nvSpPr>
          <p:cNvPr id="78" name="Text 76"/>
          <p:cNvSpPr/>
          <p:nvPr/>
        </p:nvSpPr>
        <p:spPr>
          <a:xfrm>
            <a:off x="3776472" y="4636008"/>
            <a:ext cx="2011680" cy="182880"/>
          </a:xfrm>
          <a:prstGeom prst="rect">
            <a:avLst/>
          </a:prstGeom>
          <a:noFill/>
          <a:ln/>
        </p:spPr>
        <p:txBody>
          <a:bodyPr wrap="square" lIns="0" tIns="0" rIns="0" bIns="0" rtlCol="0" anchor="ctr">
            <a:normAutofit/>
          </a:bodyPr>
          <a:lstStyle/>
          <a:p>
            <a:pPr indent="0" marL="0">
              <a:buNone/>
            </a:pPr>
            <a:r>
              <a:rPr lang="en-US" sz="800" b="1" dirty="0">
                <a:solidFill>
                  <a:srgbClr val="6A6A6A"/>
                </a:solidFill>
                <a:latin typeface="PT Mono" pitchFamily="34" charset="0"/>
                <a:ea typeface="PT Mono" pitchFamily="34" charset="-122"/>
                <a:cs typeface="PT Mono" pitchFamily="34" charset="-120"/>
              </a:rPr>
              <a:t>PRODUCT</a:t>
            </a:r>
            <a:endParaRPr lang="en-US" sz="800" dirty="0"/>
          </a:p>
        </p:txBody>
      </p:sp>
      <p:sp>
        <p:nvSpPr>
          <p:cNvPr id="79" name="Text 77"/>
          <p:cNvSpPr/>
          <p:nvPr/>
        </p:nvSpPr>
        <p:spPr>
          <a:xfrm>
            <a:off x="5861304" y="4636008"/>
            <a:ext cx="749808" cy="182880"/>
          </a:xfrm>
          <a:prstGeom prst="rect">
            <a:avLst/>
          </a:prstGeom>
          <a:noFill/>
          <a:ln/>
        </p:spPr>
        <p:txBody>
          <a:bodyPr wrap="square" lIns="0" tIns="0" rIns="0" bIns="0" rtlCol="0" anchor="ctr">
            <a:normAutofit/>
          </a:bodyPr>
          <a:lstStyle/>
          <a:p>
            <a:pPr indent="0" marL="0">
              <a:buNone/>
            </a:pPr>
            <a:r>
              <a:rPr lang="en-US" sz="800" b="1" dirty="0">
                <a:solidFill>
                  <a:srgbClr val="6A6A6A"/>
                </a:solidFill>
                <a:latin typeface="PT Mono" pitchFamily="34" charset="0"/>
                <a:ea typeface="PT Mono" pitchFamily="34" charset="-122"/>
                <a:cs typeface="PT Mono" pitchFamily="34" charset="-120"/>
              </a:rPr>
              <a:t>STOCK</a:t>
            </a:r>
            <a:endParaRPr lang="en-US" sz="800" dirty="0"/>
          </a:p>
        </p:txBody>
      </p:sp>
      <p:sp>
        <p:nvSpPr>
          <p:cNvPr id="80" name="Text 78"/>
          <p:cNvSpPr/>
          <p:nvPr/>
        </p:nvSpPr>
        <p:spPr>
          <a:xfrm>
            <a:off x="6684264" y="4636008"/>
            <a:ext cx="1563624" cy="182880"/>
          </a:xfrm>
          <a:prstGeom prst="rect">
            <a:avLst/>
          </a:prstGeom>
          <a:noFill/>
          <a:ln/>
        </p:spPr>
        <p:txBody>
          <a:bodyPr wrap="square" lIns="0" tIns="0" rIns="0" bIns="0" rtlCol="0" anchor="ctr">
            <a:normAutofit/>
          </a:bodyPr>
          <a:lstStyle/>
          <a:p>
            <a:pPr indent="0" marL="0">
              <a:buNone/>
            </a:pPr>
            <a:r>
              <a:rPr lang="en-US" sz="800" b="1" dirty="0">
                <a:solidFill>
                  <a:srgbClr val="6A6A6A"/>
                </a:solidFill>
                <a:latin typeface="PT Mono" pitchFamily="34" charset="0"/>
                <a:ea typeface="PT Mono" pitchFamily="34" charset="-122"/>
                <a:cs typeface="PT Mono" pitchFamily="34" charset="-120"/>
              </a:rPr>
              <a:t>STATUS</a:t>
            </a:r>
            <a:endParaRPr lang="en-US" sz="800" dirty="0"/>
          </a:p>
        </p:txBody>
      </p:sp>
      <p:sp>
        <p:nvSpPr>
          <p:cNvPr id="81" name="Text 79"/>
          <p:cNvSpPr/>
          <p:nvPr/>
        </p:nvSpPr>
        <p:spPr>
          <a:xfrm>
            <a:off x="2596896" y="4896612"/>
            <a:ext cx="1115568"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SP-001</a:t>
            </a:r>
            <a:endParaRPr lang="en-US" sz="800" dirty="0"/>
          </a:p>
        </p:txBody>
      </p:sp>
      <p:sp>
        <p:nvSpPr>
          <p:cNvPr id="82" name="Text 80"/>
          <p:cNvSpPr/>
          <p:nvPr/>
        </p:nvSpPr>
        <p:spPr>
          <a:xfrm>
            <a:off x="3776472" y="4896612"/>
            <a:ext cx="2011680"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Wireless Mouse</a:t>
            </a:r>
            <a:endParaRPr lang="en-US" sz="800" dirty="0"/>
          </a:p>
        </p:txBody>
      </p:sp>
      <p:sp>
        <p:nvSpPr>
          <p:cNvPr id="83" name="Text 81"/>
          <p:cNvSpPr/>
          <p:nvPr/>
        </p:nvSpPr>
        <p:spPr>
          <a:xfrm>
            <a:off x="5861304" y="4896612"/>
            <a:ext cx="749808"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48</a:t>
            </a:r>
            <a:endParaRPr lang="en-US" sz="800" dirty="0"/>
          </a:p>
        </p:txBody>
      </p:sp>
      <p:sp>
        <p:nvSpPr>
          <p:cNvPr id="84" name="Text 82"/>
          <p:cNvSpPr/>
          <p:nvPr/>
        </p:nvSpPr>
        <p:spPr>
          <a:xfrm>
            <a:off x="6684264" y="4896612"/>
            <a:ext cx="1563624" cy="182880"/>
          </a:xfrm>
          <a:prstGeom prst="rect">
            <a:avLst/>
          </a:prstGeom>
          <a:noFill/>
          <a:ln/>
        </p:spPr>
        <p:txBody>
          <a:bodyPr wrap="square" lIns="0" tIns="0" rIns="0" bIns="0" rtlCol="0" anchor="ctr">
            <a:normAutofit/>
          </a:bodyPr>
          <a:lstStyle/>
          <a:p>
            <a:pPr indent="0" marL="0">
              <a:buNone/>
            </a:pPr>
            <a:r>
              <a:rPr lang="en-US" sz="800" dirty="0">
                <a:solidFill>
                  <a:srgbClr val="288465"/>
                </a:solidFill>
                <a:latin typeface="PT Mono" pitchFamily="34" charset="0"/>
                <a:ea typeface="PT Mono" pitchFamily="34" charset="-122"/>
                <a:cs typeface="PT Mono" pitchFamily="34" charset="-120"/>
              </a:rPr>
              <a:t>Healthy</a:t>
            </a:r>
            <a:endParaRPr lang="en-US" sz="800" dirty="0"/>
          </a:p>
        </p:txBody>
      </p:sp>
      <p:sp>
        <p:nvSpPr>
          <p:cNvPr id="85" name="Text 83"/>
          <p:cNvSpPr/>
          <p:nvPr/>
        </p:nvSpPr>
        <p:spPr>
          <a:xfrm>
            <a:off x="2596896" y="5157216"/>
            <a:ext cx="1115568"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SP-002</a:t>
            </a:r>
            <a:endParaRPr lang="en-US" sz="800" dirty="0"/>
          </a:p>
        </p:txBody>
      </p:sp>
      <p:sp>
        <p:nvSpPr>
          <p:cNvPr id="86" name="Text 84"/>
          <p:cNvSpPr/>
          <p:nvPr/>
        </p:nvSpPr>
        <p:spPr>
          <a:xfrm>
            <a:off x="3776472" y="5157216"/>
            <a:ext cx="2011680"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USB-C Hub</a:t>
            </a:r>
            <a:endParaRPr lang="en-US" sz="800" dirty="0"/>
          </a:p>
        </p:txBody>
      </p:sp>
      <p:sp>
        <p:nvSpPr>
          <p:cNvPr id="87" name="Text 85"/>
          <p:cNvSpPr/>
          <p:nvPr/>
        </p:nvSpPr>
        <p:spPr>
          <a:xfrm>
            <a:off x="5861304" y="5157216"/>
            <a:ext cx="749808"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6</a:t>
            </a:r>
            <a:endParaRPr lang="en-US" sz="800" dirty="0"/>
          </a:p>
        </p:txBody>
      </p:sp>
      <p:sp>
        <p:nvSpPr>
          <p:cNvPr id="88" name="Text 86"/>
          <p:cNvSpPr/>
          <p:nvPr/>
        </p:nvSpPr>
        <p:spPr>
          <a:xfrm>
            <a:off x="6684264" y="5157216"/>
            <a:ext cx="1563624" cy="182880"/>
          </a:xfrm>
          <a:prstGeom prst="rect">
            <a:avLst/>
          </a:prstGeom>
          <a:noFill/>
          <a:ln/>
        </p:spPr>
        <p:txBody>
          <a:bodyPr wrap="square" lIns="0" tIns="0" rIns="0" bIns="0" rtlCol="0" anchor="ctr">
            <a:normAutofit/>
          </a:bodyPr>
          <a:lstStyle/>
          <a:p>
            <a:pPr indent="0" marL="0">
              <a:buNone/>
            </a:pPr>
            <a:r>
              <a:rPr lang="en-US" sz="800" dirty="0">
                <a:solidFill>
                  <a:srgbClr val="A35E27"/>
                </a:solidFill>
                <a:latin typeface="PT Mono" pitchFamily="34" charset="0"/>
                <a:ea typeface="PT Mono" pitchFamily="34" charset="-122"/>
                <a:cs typeface="PT Mono" pitchFamily="34" charset="-120"/>
              </a:rPr>
              <a:t>Low stock</a:t>
            </a:r>
            <a:endParaRPr lang="en-US" sz="800" dirty="0"/>
          </a:p>
        </p:txBody>
      </p:sp>
      <p:sp>
        <p:nvSpPr>
          <p:cNvPr id="89" name="Text 87"/>
          <p:cNvSpPr/>
          <p:nvPr/>
        </p:nvSpPr>
        <p:spPr>
          <a:xfrm>
            <a:off x="2596896" y="5417820"/>
            <a:ext cx="1115568"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SP-003</a:t>
            </a:r>
            <a:endParaRPr lang="en-US" sz="800" dirty="0"/>
          </a:p>
        </p:txBody>
      </p:sp>
      <p:sp>
        <p:nvSpPr>
          <p:cNvPr id="90" name="Text 88"/>
          <p:cNvSpPr/>
          <p:nvPr/>
        </p:nvSpPr>
        <p:spPr>
          <a:xfrm>
            <a:off x="3776472" y="5417820"/>
            <a:ext cx="2011680"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Notebook Set</a:t>
            </a:r>
            <a:endParaRPr lang="en-US" sz="800" dirty="0"/>
          </a:p>
        </p:txBody>
      </p:sp>
      <p:sp>
        <p:nvSpPr>
          <p:cNvPr id="91" name="Text 89"/>
          <p:cNvSpPr/>
          <p:nvPr/>
        </p:nvSpPr>
        <p:spPr>
          <a:xfrm>
            <a:off x="5861304" y="5417820"/>
            <a:ext cx="749808" cy="182880"/>
          </a:xfrm>
          <a:prstGeom prst="rect">
            <a:avLst/>
          </a:prstGeom>
          <a:noFill/>
          <a:ln/>
        </p:spPr>
        <p:txBody>
          <a:bodyPr wrap="square" lIns="0" tIns="0" rIns="0" bIns="0" rtlCol="0" anchor="ctr">
            <a:normAutofit/>
          </a:bodyPr>
          <a:lstStyle/>
          <a:p>
            <a:pPr indent="0" marL="0">
              <a:buNone/>
            </a:pPr>
            <a:r>
              <a:rPr lang="en-US" sz="800" dirty="0">
                <a:solidFill>
                  <a:srgbClr val="121212"/>
                </a:solidFill>
                <a:latin typeface="PT Mono" pitchFamily="34" charset="0"/>
                <a:ea typeface="PT Mono" pitchFamily="34" charset="-122"/>
                <a:cs typeface="PT Mono" pitchFamily="34" charset="-120"/>
              </a:rPr>
              <a:t>0</a:t>
            </a:r>
            <a:endParaRPr lang="en-US" sz="800" dirty="0"/>
          </a:p>
        </p:txBody>
      </p:sp>
      <p:sp>
        <p:nvSpPr>
          <p:cNvPr id="92" name="Text 90"/>
          <p:cNvSpPr/>
          <p:nvPr/>
        </p:nvSpPr>
        <p:spPr>
          <a:xfrm>
            <a:off x="6684264" y="5417820"/>
            <a:ext cx="1563624" cy="182880"/>
          </a:xfrm>
          <a:prstGeom prst="rect">
            <a:avLst/>
          </a:prstGeom>
          <a:noFill/>
          <a:ln/>
        </p:spPr>
        <p:txBody>
          <a:bodyPr wrap="square" lIns="0" tIns="0" rIns="0" bIns="0" rtlCol="0" anchor="ctr">
            <a:normAutofit/>
          </a:bodyPr>
          <a:lstStyle/>
          <a:p>
            <a:pPr indent="0" marL="0">
              <a:buNone/>
            </a:pPr>
            <a:r>
              <a:rPr lang="en-US" sz="800" dirty="0">
                <a:solidFill>
                  <a:srgbClr val="D71928"/>
                </a:solidFill>
                <a:latin typeface="PT Mono" pitchFamily="34" charset="0"/>
                <a:ea typeface="PT Mono" pitchFamily="34" charset="-122"/>
                <a:cs typeface="PT Mono" pitchFamily="34" charset="-120"/>
              </a:rPr>
              <a:t>Out of stock</a:t>
            </a:r>
            <a:endParaRPr lang="en-US" sz="800" dirty="0"/>
          </a:p>
        </p:txBody>
      </p:sp>
      <p:sp>
        <p:nvSpPr>
          <p:cNvPr id="93" name="Shape 91"/>
          <p:cNvSpPr/>
          <p:nvPr/>
        </p:nvSpPr>
        <p:spPr>
          <a:xfrm>
            <a:off x="9189720" y="1874520"/>
            <a:ext cx="2350008" cy="3566160"/>
          </a:xfrm>
          <a:prstGeom prst="roundRect">
            <a:avLst>
              <a:gd name="adj" fmla="val 2140"/>
            </a:avLst>
          </a:prstGeom>
          <a:solidFill>
            <a:srgbClr val="FFFFFF"/>
          </a:solidFill>
          <a:ln w="10160">
            <a:solidFill>
              <a:srgbClr val="D0D0CB"/>
            </a:solidFill>
            <a:prstDash val="solid"/>
          </a:ln>
        </p:spPr>
      </p:sp>
      <p:sp>
        <p:nvSpPr>
          <p:cNvPr id="94" name="Text 92"/>
          <p:cNvSpPr/>
          <p:nvPr/>
        </p:nvSpPr>
        <p:spPr>
          <a:xfrm>
            <a:off x="9445752" y="2185416"/>
            <a:ext cx="1856232" cy="292608"/>
          </a:xfrm>
          <a:prstGeom prst="rect">
            <a:avLst/>
          </a:prstGeom>
          <a:noFill/>
          <a:ln/>
        </p:spPr>
        <p:txBody>
          <a:bodyPr wrap="square" lIns="0" tIns="0" rIns="0" bIns="0" rtlCol="0" anchor="ctr">
            <a:normAutofit/>
          </a:bodyPr>
          <a:lstStyle/>
          <a:p>
            <a:pPr indent="0" marL="0">
              <a:buNone/>
            </a:pPr>
            <a:r>
              <a:rPr lang="en-US" sz="1200" b="1" spc="100" kern="0" dirty="0">
                <a:solidFill>
                  <a:srgbClr val="B91622"/>
                </a:solidFill>
                <a:latin typeface="Inter Display" pitchFamily="34" charset="0"/>
                <a:ea typeface="Inter Display" pitchFamily="34" charset="-122"/>
                <a:cs typeface="Inter Display" pitchFamily="34" charset="-120"/>
              </a:rPr>
              <a:t>DESIGNED FOR</a:t>
            </a:r>
            <a:endParaRPr lang="en-US" sz="1200" dirty="0"/>
          </a:p>
        </p:txBody>
      </p:sp>
      <p:sp>
        <p:nvSpPr>
          <p:cNvPr id="95" name="Shape 93"/>
          <p:cNvSpPr/>
          <p:nvPr/>
        </p:nvSpPr>
        <p:spPr>
          <a:xfrm>
            <a:off x="9436608" y="2715768"/>
            <a:ext cx="109728" cy="109728"/>
          </a:xfrm>
          <a:prstGeom prst="ellipse">
            <a:avLst/>
          </a:prstGeom>
          <a:solidFill>
            <a:srgbClr val="D71928"/>
          </a:solidFill>
          <a:ln w="12700">
            <a:solidFill>
              <a:srgbClr val="D71928">
                <a:alpha val="0"/>
              </a:srgbClr>
            </a:solidFill>
            <a:prstDash val="solid"/>
          </a:ln>
        </p:spPr>
      </p:sp>
      <p:sp>
        <p:nvSpPr>
          <p:cNvPr id="96" name="Text 94"/>
          <p:cNvSpPr/>
          <p:nvPr/>
        </p:nvSpPr>
        <p:spPr>
          <a:xfrm>
            <a:off x="9683496" y="2624328"/>
            <a:ext cx="1517904" cy="228600"/>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Search / filter</a:t>
            </a:r>
            <a:endParaRPr lang="en-US" sz="1200" dirty="0"/>
          </a:p>
        </p:txBody>
      </p:sp>
      <p:sp>
        <p:nvSpPr>
          <p:cNvPr id="97" name="Text 95"/>
          <p:cNvSpPr/>
          <p:nvPr/>
        </p:nvSpPr>
        <p:spPr>
          <a:xfrm>
            <a:off x="9674352" y="2862072"/>
            <a:ext cx="1609344" cy="201168"/>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Find products quickly</a:t>
            </a:r>
            <a:endParaRPr lang="en-US" sz="900" dirty="0"/>
          </a:p>
        </p:txBody>
      </p:sp>
      <p:sp>
        <p:nvSpPr>
          <p:cNvPr id="98" name="Shape 96"/>
          <p:cNvSpPr/>
          <p:nvPr/>
        </p:nvSpPr>
        <p:spPr>
          <a:xfrm>
            <a:off x="9436608" y="3337560"/>
            <a:ext cx="109728" cy="109728"/>
          </a:xfrm>
          <a:prstGeom prst="ellipse">
            <a:avLst/>
          </a:prstGeom>
          <a:solidFill>
            <a:srgbClr val="D71928"/>
          </a:solidFill>
          <a:ln w="12700">
            <a:solidFill>
              <a:srgbClr val="D71928">
                <a:alpha val="0"/>
              </a:srgbClr>
            </a:solidFill>
            <a:prstDash val="solid"/>
          </a:ln>
        </p:spPr>
      </p:sp>
      <p:sp>
        <p:nvSpPr>
          <p:cNvPr id="99" name="Text 97"/>
          <p:cNvSpPr/>
          <p:nvPr/>
        </p:nvSpPr>
        <p:spPr>
          <a:xfrm>
            <a:off x="9683496" y="3246120"/>
            <a:ext cx="1517904" cy="228600"/>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Stock actions</a:t>
            </a:r>
            <a:endParaRPr lang="en-US" sz="1200" dirty="0"/>
          </a:p>
        </p:txBody>
      </p:sp>
      <p:sp>
        <p:nvSpPr>
          <p:cNvPr id="100" name="Text 98"/>
          <p:cNvSpPr/>
          <p:nvPr/>
        </p:nvSpPr>
        <p:spPr>
          <a:xfrm>
            <a:off x="9674352" y="3483864"/>
            <a:ext cx="1609344" cy="201168"/>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Receive and remove</a:t>
            </a:r>
            <a:endParaRPr lang="en-US" sz="900" dirty="0"/>
          </a:p>
        </p:txBody>
      </p:sp>
      <p:sp>
        <p:nvSpPr>
          <p:cNvPr id="101" name="Shape 99"/>
          <p:cNvSpPr/>
          <p:nvPr/>
        </p:nvSpPr>
        <p:spPr>
          <a:xfrm>
            <a:off x="9436608" y="3959352"/>
            <a:ext cx="109728" cy="109728"/>
          </a:xfrm>
          <a:prstGeom prst="ellipse">
            <a:avLst/>
          </a:prstGeom>
          <a:solidFill>
            <a:srgbClr val="D71928"/>
          </a:solidFill>
          <a:ln w="12700">
            <a:solidFill>
              <a:srgbClr val="D71928">
                <a:alpha val="0"/>
              </a:srgbClr>
            </a:solidFill>
            <a:prstDash val="solid"/>
          </a:ln>
        </p:spPr>
      </p:sp>
      <p:sp>
        <p:nvSpPr>
          <p:cNvPr id="102" name="Text 100"/>
          <p:cNvSpPr/>
          <p:nvPr/>
        </p:nvSpPr>
        <p:spPr>
          <a:xfrm>
            <a:off x="9683496" y="3867912"/>
            <a:ext cx="1517904" cy="228600"/>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Traceability</a:t>
            </a:r>
            <a:endParaRPr lang="en-US" sz="1200" dirty="0"/>
          </a:p>
        </p:txBody>
      </p:sp>
      <p:sp>
        <p:nvSpPr>
          <p:cNvPr id="103" name="Text 101"/>
          <p:cNvSpPr/>
          <p:nvPr/>
        </p:nvSpPr>
        <p:spPr>
          <a:xfrm>
            <a:off x="9674352" y="4105656"/>
            <a:ext cx="1609344" cy="201168"/>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History stays intact</a:t>
            </a:r>
            <a:endParaRPr lang="en-US" sz="900" dirty="0"/>
          </a:p>
        </p:txBody>
      </p:sp>
      <p:sp>
        <p:nvSpPr>
          <p:cNvPr id="104" name="Shape 102"/>
          <p:cNvSpPr/>
          <p:nvPr/>
        </p:nvSpPr>
        <p:spPr>
          <a:xfrm>
            <a:off x="9436608" y="4581144"/>
            <a:ext cx="109728" cy="109728"/>
          </a:xfrm>
          <a:prstGeom prst="ellipse">
            <a:avLst/>
          </a:prstGeom>
          <a:solidFill>
            <a:srgbClr val="D71928"/>
          </a:solidFill>
          <a:ln w="12700">
            <a:solidFill>
              <a:srgbClr val="D71928">
                <a:alpha val="0"/>
              </a:srgbClr>
            </a:solidFill>
            <a:prstDash val="solid"/>
          </a:ln>
        </p:spPr>
      </p:sp>
      <p:sp>
        <p:nvSpPr>
          <p:cNvPr id="105" name="Text 103"/>
          <p:cNvSpPr/>
          <p:nvPr/>
        </p:nvSpPr>
        <p:spPr>
          <a:xfrm>
            <a:off x="9683496" y="4489704"/>
            <a:ext cx="1517904" cy="228600"/>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Mobile layout</a:t>
            </a:r>
            <a:endParaRPr lang="en-US" sz="1200" dirty="0"/>
          </a:p>
        </p:txBody>
      </p:sp>
      <p:sp>
        <p:nvSpPr>
          <p:cNvPr id="106" name="Text 104"/>
          <p:cNvSpPr/>
          <p:nvPr/>
        </p:nvSpPr>
        <p:spPr>
          <a:xfrm>
            <a:off x="9674352" y="4727448"/>
            <a:ext cx="1609344" cy="201168"/>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Responsive screens</a:t>
            </a:r>
            <a:endParaRPr lang="en-US" sz="900" dirty="0"/>
          </a:p>
        </p:txBody>
      </p:sp>
      <p:sp>
        <p:nvSpPr>
          <p:cNvPr id="107" name="Text 105"/>
          <p:cNvSpPr/>
          <p:nvPr/>
        </p:nvSpPr>
        <p:spPr>
          <a:xfrm>
            <a:off x="685800" y="6099048"/>
            <a:ext cx="8156448" cy="146304"/>
          </a:xfrm>
          <a:prstGeom prst="rect">
            <a:avLst/>
          </a:prstGeom>
          <a:noFill/>
          <a:ln/>
        </p:spPr>
        <p:txBody>
          <a:bodyPr wrap="square" lIns="0" tIns="0" rIns="0" bIns="0" rtlCol="0" anchor="ctr">
            <a:normAutofit/>
          </a:bodyPr>
          <a:lstStyle/>
          <a:p>
            <a:pPr indent="0" marL="0">
              <a:buNone/>
            </a:pPr>
            <a:r>
              <a:rPr lang="en-US" sz="800" dirty="0">
                <a:solidFill>
                  <a:srgbClr val="81817B"/>
                </a:solidFill>
                <a:latin typeface="PT Mono" pitchFamily="34" charset="0"/>
                <a:ea typeface="PT Mono" pitchFamily="34" charset="-122"/>
                <a:cs typeface="PT Mono" pitchFamily="34" charset="-120"/>
              </a:rPr>
              <a:t>Editable interface illustration — not a screenshot</a:t>
            </a:r>
            <a:endParaRPr lang="en-US" sz="800" dirty="0"/>
          </a:p>
        </p:txBody>
      </p:sp>
      <p:sp>
        <p:nvSpPr>
          <p:cNvPr id="108" name="Text 106">
            <a:hlinkClick r:id="rId1" tooltip=""/>
          </p:cNvPr>
          <p:cNvSpPr/>
          <p:nvPr/>
        </p:nvSpPr>
        <p:spPr>
          <a:xfrm>
            <a:off x="9235440" y="5632704"/>
            <a:ext cx="2103120" cy="210312"/>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Verified EKS desktop  ↗</a:t>
            </a:r>
            <a:endParaRPr lang="en-US" sz="1000" dirty="0"/>
          </a:p>
        </p:txBody>
      </p:sp>
      <p:sp>
        <p:nvSpPr>
          <p:cNvPr id="109" name="Text 107">
            <a:hlinkClick r:id="rId2" tooltip=""/>
          </p:cNvPr>
          <p:cNvSpPr/>
          <p:nvPr/>
        </p:nvSpPr>
        <p:spPr>
          <a:xfrm>
            <a:off x="9235440" y="5916168"/>
            <a:ext cx="2103120" cy="210312"/>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Verified EKS mobile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03 / LIVE USER STORY</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One stock adjustment. Full traceability.</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Demonstrate the business behavior instead of just navigating screens.</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04 / 16</a:t>
            </a:r>
            <a:endParaRPr lang="en-US" sz="850" dirty="0"/>
          </a:p>
        </p:txBody>
      </p:sp>
      <p:sp>
        <p:nvSpPr>
          <p:cNvPr id="48" name="Shape 46"/>
          <p:cNvSpPr/>
          <p:nvPr/>
        </p:nvSpPr>
        <p:spPr>
          <a:xfrm>
            <a:off x="621792" y="1865376"/>
            <a:ext cx="2615184" cy="1325880"/>
          </a:xfrm>
          <a:prstGeom prst="roundRect">
            <a:avLst>
              <a:gd name="adj" fmla="val 3793"/>
            </a:avLst>
          </a:prstGeom>
          <a:solidFill>
            <a:srgbClr val="FFFFFF"/>
          </a:solidFill>
          <a:ln w="10160">
            <a:solidFill>
              <a:srgbClr val="D0D0CB"/>
            </a:solidFill>
            <a:prstDash val="solid"/>
          </a:ln>
        </p:spPr>
      </p:sp>
      <p:sp>
        <p:nvSpPr>
          <p:cNvPr id="49" name="Shape 47"/>
          <p:cNvSpPr/>
          <p:nvPr/>
        </p:nvSpPr>
        <p:spPr>
          <a:xfrm>
            <a:off x="813816" y="2066544"/>
            <a:ext cx="512064" cy="292608"/>
          </a:xfrm>
          <a:prstGeom prst="roundRect">
            <a:avLst>
              <a:gd name="adj" fmla="val 50000"/>
            </a:avLst>
          </a:prstGeom>
          <a:solidFill>
            <a:srgbClr val="ECECEA"/>
          </a:solidFill>
          <a:ln w="12700">
            <a:solidFill>
              <a:srgbClr val="ECECEA">
                <a:alpha val="0"/>
              </a:srgbClr>
            </a:solidFill>
            <a:prstDash val="solid"/>
          </a:ln>
        </p:spPr>
      </p:sp>
      <p:sp>
        <p:nvSpPr>
          <p:cNvPr id="50" name="Text 48"/>
          <p:cNvSpPr/>
          <p:nvPr/>
        </p:nvSpPr>
        <p:spPr>
          <a:xfrm>
            <a:off x="923544" y="2084832"/>
            <a:ext cx="292608" cy="256032"/>
          </a:xfrm>
          <a:prstGeom prst="rect">
            <a:avLst/>
          </a:prstGeom>
          <a:noFill/>
          <a:ln/>
        </p:spPr>
        <p:txBody>
          <a:bodyPr wrap="square" lIns="0" tIns="0" rIns="0" bIns="0" rtlCol="0" anchor="ctr">
            <a:normAutofit/>
          </a:bodyPr>
          <a:lstStyle/>
          <a:p>
            <a:pPr algn="ctr" indent="0" marL="0">
              <a:buNone/>
            </a:pPr>
            <a:r>
              <a:rPr lang="en-US" sz="1000" b="1" dirty="0">
                <a:solidFill>
                  <a:srgbClr val="D71928"/>
                </a:solidFill>
                <a:latin typeface="PT Mono" pitchFamily="34" charset="0"/>
                <a:ea typeface="PT Mono" pitchFamily="34" charset="-122"/>
                <a:cs typeface="PT Mono" pitchFamily="34" charset="-120"/>
              </a:rPr>
              <a:t>01</a:t>
            </a:r>
            <a:endParaRPr lang="en-US" sz="1000" dirty="0"/>
          </a:p>
        </p:txBody>
      </p:sp>
      <p:sp>
        <p:nvSpPr>
          <p:cNvPr id="51" name="Text 49"/>
          <p:cNvSpPr/>
          <p:nvPr/>
        </p:nvSpPr>
        <p:spPr>
          <a:xfrm>
            <a:off x="832104" y="2450592"/>
            <a:ext cx="2176272"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CREATE</a:t>
            </a:r>
            <a:endParaRPr lang="en-US" sz="1600" dirty="0"/>
          </a:p>
        </p:txBody>
      </p:sp>
      <p:sp>
        <p:nvSpPr>
          <p:cNvPr id="52" name="Text 50"/>
          <p:cNvSpPr/>
          <p:nvPr/>
        </p:nvSpPr>
        <p:spPr>
          <a:xfrm>
            <a:off x="832104" y="2788920"/>
            <a:ext cx="2185416" cy="201168"/>
          </a:xfrm>
          <a:prstGeom prst="rect">
            <a:avLst/>
          </a:prstGeom>
          <a:noFill/>
          <a:ln/>
        </p:spPr>
        <p:txBody>
          <a:bodyPr wrap="square" lIns="0" tIns="0" rIns="0" bIns="0" rtlCol="0" anchor="ctr">
            <a:normAutofit/>
          </a:bodyPr>
          <a:lstStyle/>
          <a:p>
            <a:pPr indent="0" marL="0">
              <a:buNone/>
            </a:pPr>
            <a:r>
              <a:rPr lang="en-US" sz="960" dirty="0">
                <a:solidFill>
                  <a:srgbClr val="575753"/>
                </a:solidFill>
                <a:latin typeface="PT Mono" pitchFamily="34" charset="0"/>
                <a:ea typeface="PT Mono" pitchFamily="34" charset="-122"/>
                <a:cs typeface="PT Mono" pitchFamily="34" charset="-120"/>
              </a:rPr>
              <a:t>SKU + opening stock</a:t>
            </a:r>
            <a:endParaRPr lang="en-US" sz="960" dirty="0"/>
          </a:p>
        </p:txBody>
      </p:sp>
      <p:sp>
        <p:nvSpPr>
          <p:cNvPr id="53" name="Shape 51"/>
          <p:cNvSpPr/>
          <p:nvPr/>
        </p:nvSpPr>
        <p:spPr>
          <a:xfrm>
            <a:off x="3273552" y="2487168"/>
            <a:ext cx="210312" cy="0"/>
          </a:xfrm>
          <a:prstGeom prst="line">
            <a:avLst/>
          </a:prstGeom>
          <a:noFill/>
          <a:ln w="22860">
            <a:solidFill>
              <a:srgbClr val="B91622"/>
            </a:solidFill>
            <a:prstDash val="solid"/>
            <a:headEnd type="none"/>
            <a:tailEnd type="triangle"/>
          </a:ln>
        </p:spPr>
      </p:sp>
      <p:sp>
        <p:nvSpPr>
          <p:cNvPr id="54" name="Shape 52"/>
          <p:cNvSpPr/>
          <p:nvPr/>
        </p:nvSpPr>
        <p:spPr>
          <a:xfrm>
            <a:off x="3511296" y="1865376"/>
            <a:ext cx="2615184" cy="1325880"/>
          </a:xfrm>
          <a:prstGeom prst="roundRect">
            <a:avLst>
              <a:gd name="adj" fmla="val 3793"/>
            </a:avLst>
          </a:prstGeom>
          <a:solidFill>
            <a:srgbClr val="FFFFFF"/>
          </a:solidFill>
          <a:ln w="10160">
            <a:solidFill>
              <a:srgbClr val="D0D0CB"/>
            </a:solidFill>
            <a:prstDash val="solid"/>
          </a:ln>
        </p:spPr>
      </p:sp>
      <p:sp>
        <p:nvSpPr>
          <p:cNvPr id="55" name="Shape 53"/>
          <p:cNvSpPr/>
          <p:nvPr/>
        </p:nvSpPr>
        <p:spPr>
          <a:xfrm>
            <a:off x="3703320" y="2066544"/>
            <a:ext cx="512064" cy="292608"/>
          </a:xfrm>
          <a:prstGeom prst="roundRect">
            <a:avLst>
              <a:gd name="adj" fmla="val 50000"/>
            </a:avLst>
          </a:prstGeom>
          <a:solidFill>
            <a:srgbClr val="ECECEA"/>
          </a:solidFill>
          <a:ln w="12700">
            <a:solidFill>
              <a:srgbClr val="ECECEA">
                <a:alpha val="0"/>
              </a:srgbClr>
            </a:solidFill>
            <a:prstDash val="solid"/>
          </a:ln>
        </p:spPr>
      </p:sp>
      <p:sp>
        <p:nvSpPr>
          <p:cNvPr id="56" name="Text 54"/>
          <p:cNvSpPr/>
          <p:nvPr/>
        </p:nvSpPr>
        <p:spPr>
          <a:xfrm>
            <a:off x="3813048" y="2084832"/>
            <a:ext cx="292608" cy="256032"/>
          </a:xfrm>
          <a:prstGeom prst="rect">
            <a:avLst/>
          </a:prstGeom>
          <a:noFill/>
          <a:ln/>
        </p:spPr>
        <p:txBody>
          <a:bodyPr wrap="square" lIns="0" tIns="0" rIns="0" bIns="0" rtlCol="0" anchor="ctr">
            <a:normAutofit/>
          </a:bodyPr>
          <a:lstStyle/>
          <a:p>
            <a:pPr algn="ctr" indent="0" marL="0">
              <a:buNone/>
            </a:pPr>
            <a:r>
              <a:rPr lang="en-US" sz="1000" b="1" dirty="0">
                <a:solidFill>
                  <a:srgbClr val="D71928"/>
                </a:solidFill>
                <a:latin typeface="PT Mono" pitchFamily="34" charset="0"/>
                <a:ea typeface="PT Mono" pitchFamily="34" charset="-122"/>
                <a:cs typeface="PT Mono" pitchFamily="34" charset="-120"/>
              </a:rPr>
              <a:t>02</a:t>
            </a:r>
            <a:endParaRPr lang="en-US" sz="1000" dirty="0"/>
          </a:p>
        </p:txBody>
      </p:sp>
      <p:sp>
        <p:nvSpPr>
          <p:cNvPr id="57" name="Text 55"/>
          <p:cNvSpPr/>
          <p:nvPr/>
        </p:nvSpPr>
        <p:spPr>
          <a:xfrm>
            <a:off x="3721608" y="2450592"/>
            <a:ext cx="2176272"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EDIT</a:t>
            </a:r>
            <a:endParaRPr lang="en-US" sz="1600" dirty="0"/>
          </a:p>
        </p:txBody>
      </p:sp>
      <p:sp>
        <p:nvSpPr>
          <p:cNvPr id="58" name="Text 56"/>
          <p:cNvSpPr/>
          <p:nvPr/>
        </p:nvSpPr>
        <p:spPr>
          <a:xfrm>
            <a:off x="3721608" y="2788920"/>
            <a:ext cx="2185416" cy="201168"/>
          </a:xfrm>
          <a:prstGeom prst="rect">
            <a:avLst/>
          </a:prstGeom>
          <a:noFill/>
          <a:ln/>
        </p:spPr>
        <p:txBody>
          <a:bodyPr wrap="square" lIns="0" tIns="0" rIns="0" bIns="0" rtlCol="0" anchor="ctr">
            <a:normAutofit/>
          </a:bodyPr>
          <a:lstStyle/>
          <a:p>
            <a:pPr indent="0" marL="0">
              <a:buNone/>
            </a:pPr>
            <a:r>
              <a:rPr lang="en-US" sz="960" dirty="0">
                <a:solidFill>
                  <a:srgbClr val="575753"/>
                </a:solidFill>
                <a:latin typeface="PT Mono" pitchFamily="34" charset="0"/>
                <a:ea typeface="PT Mono" pitchFamily="34" charset="-122"/>
                <a:cs typeface="PT Mono" pitchFamily="34" charset="-120"/>
              </a:rPr>
              <a:t>Details, price, threshold</a:t>
            </a:r>
            <a:endParaRPr lang="en-US" sz="960" dirty="0"/>
          </a:p>
        </p:txBody>
      </p:sp>
      <p:sp>
        <p:nvSpPr>
          <p:cNvPr id="59" name="Shape 57"/>
          <p:cNvSpPr/>
          <p:nvPr/>
        </p:nvSpPr>
        <p:spPr>
          <a:xfrm>
            <a:off x="6163056" y="2487168"/>
            <a:ext cx="210312" cy="0"/>
          </a:xfrm>
          <a:prstGeom prst="line">
            <a:avLst/>
          </a:prstGeom>
          <a:noFill/>
          <a:ln w="22860">
            <a:solidFill>
              <a:srgbClr val="B91622"/>
            </a:solidFill>
            <a:prstDash val="solid"/>
            <a:headEnd type="none"/>
            <a:tailEnd type="triangle"/>
          </a:ln>
        </p:spPr>
      </p:sp>
      <p:sp>
        <p:nvSpPr>
          <p:cNvPr id="60" name="Shape 58"/>
          <p:cNvSpPr/>
          <p:nvPr/>
        </p:nvSpPr>
        <p:spPr>
          <a:xfrm>
            <a:off x="6400800" y="1865376"/>
            <a:ext cx="2615184" cy="1325880"/>
          </a:xfrm>
          <a:prstGeom prst="roundRect">
            <a:avLst>
              <a:gd name="adj" fmla="val 3793"/>
            </a:avLst>
          </a:prstGeom>
          <a:solidFill>
            <a:srgbClr val="FFFFFF"/>
          </a:solidFill>
          <a:ln w="10160">
            <a:solidFill>
              <a:srgbClr val="D0D0CB"/>
            </a:solidFill>
            <a:prstDash val="solid"/>
          </a:ln>
        </p:spPr>
      </p:sp>
      <p:sp>
        <p:nvSpPr>
          <p:cNvPr id="61" name="Shape 59"/>
          <p:cNvSpPr/>
          <p:nvPr/>
        </p:nvSpPr>
        <p:spPr>
          <a:xfrm>
            <a:off x="6592824" y="2066544"/>
            <a:ext cx="512064" cy="292608"/>
          </a:xfrm>
          <a:prstGeom prst="roundRect">
            <a:avLst>
              <a:gd name="adj" fmla="val 50000"/>
            </a:avLst>
          </a:prstGeom>
          <a:solidFill>
            <a:srgbClr val="ECECEA"/>
          </a:solidFill>
          <a:ln w="12700">
            <a:solidFill>
              <a:srgbClr val="ECECEA">
                <a:alpha val="0"/>
              </a:srgbClr>
            </a:solidFill>
            <a:prstDash val="solid"/>
          </a:ln>
        </p:spPr>
      </p:sp>
      <p:sp>
        <p:nvSpPr>
          <p:cNvPr id="62" name="Text 60"/>
          <p:cNvSpPr/>
          <p:nvPr/>
        </p:nvSpPr>
        <p:spPr>
          <a:xfrm>
            <a:off x="6702552" y="2084832"/>
            <a:ext cx="292608" cy="256032"/>
          </a:xfrm>
          <a:prstGeom prst="rect">
            <a:avLst/>
          </a:prstGeom>
          <a:noFill/>
          <a:ln/>
        </p:spPr>
        <p:txBody>
          <a:bodyPr wrap="square" lIns="0" tIns="0" rIns="0" bIns="0" rtlCol="0" anchor="ctr">
            <a:normAutofit/>
          </a:bodyPr>
          <a:lstStyle/>
          <a:p>
            <a:pPr algn="ctr" indent="0" marL="0">
              <a:buNone/>
            </a:pPr>
            <a:r>
              <a:rPr lang="en-US" sz="1000" b="1" dirty="0">
                <a:solidFill>
                  <a:srgbClr val="D71928"/>
                </a:solidFill>
                <a:latin typeface="PT Mono" pitchFamily="34" charset="0"/>
                <a:ea typeface="PT Mono" pitchFamily="34" charset="-122"/>
                <a:cs typeface="PT Mono" pitchFamily="34" charset="-120"/>
              </a:rPr>
              <a:t>03</a:t>
            </a:r>
            <a:endParaRPr lang="en-US" sz="1000" dirty="0"/>
          </a:p>
        </p:txBody>
      </p:sp>
      <p:sp>
        <p:nvSpPr>
          <p:cNvPr id="63" name="Text 61"/>
          <p:cNvSpPr/>
          <p:nvPr/>
        </p:nvSpPr>
        <p:spPr>
          <a:xfrm>
            <a:off x="6611112" y="2450592"/>
            <a:ext cx="2176272"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ADJUST</a:t>
            </a:r>
            <a:endParaRPr lang="en-US" sz="1600" dirty="0"/>
          </a:p>
        </p:txBody>
      </p:sp>
      <p:sp>
        <p:nvSpPr>
          <p:cNvPr id="64" name="Text 62"/>
          <p:cNvSpPr/>
          <p:nvPr/>
        </p:nvSpPr>
        <p:spPr>
          <a:xfrm>
            <a:off x="6611112" y="2788920"/>
            <a:ext cx="2185416" cy="201168"/>
          </a:xfrm>
          <a:prstGeom prst="rect">
            <a:avLst/>
          </a:prstGeom>
          <a:noFill/>
          <a:ln/>
        </p:spPr>
        <p:txBody>
          <a:bodyPr wrap="square" lIns="0" tIns="0" rIns="0" bIns="0" rtlCol="0" anchor="ctr">
            <a:normAutofit/>
          </a:bodyPr>
          <a:lstStyle/>
          <a:p>
            <a:pPr indent="0" marL="0">
              <a:buNone/>
            </a:pPr>
            <a:r>
              <a:rPr lang="en-US" sz="960" dirty="0">
                <a:solidFill>
                  <a:srgbClr val="575753"/>
                </a:solidFill>
                <a:latin typeface="PT Mono" pitchFamily="34" charset="0"/>
                <a:ea typeface="PT Mono" pitchFamily="34" charset="-122"/>
                <a:cs typeface="PT Mono" pitchFamily="34" charset="-120"/>
              </a:rPr>
              <a:t>-4 units + reason</a:t>
            </a:r>
            <a:endParaRPr lang="en-US" sz="960" dirty="0"/>
          </a:p>
        </p:txBody>
      </p:sp>
      <p:sp>
        <p:nvSpPr>
          <p:cNvPr id="65" name="Shape 63"/>
          <p:cNvSpPr/>
          <p:nvPr/>
        </p:nvSpPr>
        <p:spPr>
          <a:xfrm>
            <a:off x="9052560" y="2487168"/>
            <a:ext cx="210312" cy="0"/>
          </a:xfrm>
          <a:prstGeom prst="line">
            <a:avLst/>
          </a:prstGeom>
          <a:noFill/>
          <a:ln w="22860">
            <a:solidFill>
              <a:srgbClr val="B91622"/>
            </a:solidFill>
            <a:prstDash val="solid"/>
            <a:headEnd type="none"/>
            <a:tailEnd type="triangle"/>
          </a:ln>
        </p:spPr>
      </p:sp>
      <p:sp>
        <p:nvSpPr>
          <p:cNvPr id="66" name="Shape 64"/>
          <p:cNvSpPr/>
          <p:nvPr/>
        </p:nvSpPr>
        <p:spPr>
          <a:xfrm>
            <a:off x="9290304" y="1865376"/>
            <a:ext cx="2615184" cy="1325880"/>
          </a:xfrm>
          <a:prstGeom prst="roundRect">
            <a:avLst>
              <a:gd name="adj" fmla="val 3793"/>
            </a:avLst>
          </a:prstGeom>
          <a:solidFill>
            <a:srgbClr val="FFFFFF"/>
          </a:solidFill>
          <a:ln w="10160">
            <a:solidFill>
              <a:srgbClr val="D0D0CB"/>
            </a:solidFill>
            <a:prstDash val="solid"/>
          </a:ln>
        </p:spPr>
      </p:sp>
      <p:sp>
        <p:nvSpPr>
          <p:cNvPr id="67" name="Shape 65"/>
          <p:cNvSpPr/>
          <p:nvPr/>
        </p:nvSpPr>
        <p:spPr>
          <a:xfrm>
            <a:off x="9482328" y="2066544"/>
            <a:ext cx="512064" cy="292608"/>
          </a:xfrm>
          <a:prstGeom prst="roundRect">
            <a:avLst>
              <a:gd name="adj" fmla="val 50000"/>
            </a:avLst>
          </a:prstGeom>
          <a:solidFill>
            <a:srgbClr val="ECECEA"/>
          </a:solidFill>
          <a:ln w="12700">
            <a:solidFill>
              <a:srgbClr val="ECECEA">
                <a:alpha val="0"/>
              </a:srgbClr>
            </a:solidFill>
            <a:prstDash val="solid"/>
          </a:ln>
        </p:spPr>
      </p:sp>
      <p:sp>
        <p:nvSpPr>
          <p:cNvPr id="68" name="Text 66"/>
          <p:cNvSpPr/>
          <p:nvPr/>
        </p:nvSpPr>
        <p:spPr>
          <a:xfrm>
            <a:off x="9592056" y="2084832"/>
            <a:ext cx="292608" cy="256032"/>
          </a:xfrm>
          <a:prstGeom prst="rect">
            <a:avLst/>
          </a:prstGeom>
          <a:noFill/>
          <a:ln/>
        </p:spPr>
        <p:txBody>
          <a:bodyPr wrap="square" lIns="0" tIns="0" rIns="0" bIns="0" rtlCol="0" anchor="ctr">
            <a:normAutofit/>
          </a:bodyPr>
          <a:lstStyle/>
          <a:p>
            <a:pPr algn="ctr" indent="0" marL="0">
              <a:buNone/>
            </a:pPr>
            <a:r>
              <a:rPr lang="en-US" sz="1000" b="1" dirty="0">
                <a:solidFill>
                  <a:srgbClr val="D71928"/>
                </a:solidFill>
                <a:latin typeface="PT Mono" pitchFamily="34" charset="0"/>
                <a:ea typeface="PT Mono" pitchFamily="34" charset="-122"/>
                <a:cs typeface="PT Mono" pitchFamily="34" charset="-120"/>
              </a:rPr>
              <a:t>04</a:t>
            </a:r>
            <a:endParaRPr lang="en-US" sz="1000" dirty="0"/>
          </a:p>
        </p:txBody>
      </p:sp>
      <p:sp>
        <p:nvSpPr>
          <p:cNvPr id="69" name="Text 67"/>
          <p:cNvSpPr/>
          <p:nvPr/>
        </p:nvSpPr>
        <p:spPr>
          <a:xfrm>
            <a:off x="9500616" y="2450592"/>
            <a:ext cx="2176272"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AUDIT</a:t>
            </a:r>
            <a:endParaRPr lang="en-US" sz="1600" dirty="0"/>
          </a:p>
        </p:txBody>
      </p:sp>
      <p:sp>
        <p:nvSpPr>
          <p:cNvPr id="70" name="Text 68"/>
          <p:cNvSpPr/>
          <p:nvPr/>
        </p:nvSpPr>
        <p:spPr>
          <a:xfrm>
            <a:off x="9500616" y="2788920"/>
            <a:ext cx="2185416" cy="201168"/>
          </a:xfrm>
          <a:prstGeom prst="rect">
            <a:avLst/>
          </a:prstGeom>
          <a:noFill/>
          <a:ln/>
        </p:spPr>
        <p:txBody>
          <a:bodyPr wrap="square" lIns="0" tIns="0" rIns="0" bIns="0" rtlCol="0" anchor="ctr">
            <a:normAutofit/>
          </a:bodyPr>
          <a:lstStyle/>
          <a:p>
            <a:pPr indent="0" marL="0">
              <a:buNone/>
            </a:pPr>
            <a:r>
              <a:rPr lang="en-US" sz="960" dirty="0">
                <a:solidFill>
                  <a:srgbClr val="575753"/>
                </a:solidFill>
                <a:latin typeface="PT Mono" pitchFamily="34" charset="0"/>
                <a:ea typeface="PT Mono" pitchFamily="34" charset="-122"/>
                <a:cs typeface="PT Mono" pitchFamily="34" charset="-120"/>
              </a:rPr>
              <a:t>Ledger preserves event</a:t>
            </a:r>
            <a:endParaRPr lang="en-US" sz="960" dirty="0"/>
          </a:p>
        </p:txBody>
      </p:sp>
      <p:sp>
        <p:nvSpPr>
          <p:cNvPr id="71" name="Shape 69"/>
          <p:cNvSpPr/>
          <p:nvPr/>
        </p:nvSpPr>
        <p:spPr>
          <a:xfrm>
            <a:off x="649224" y="3529584"/>
            <a:ext cx="6739128" cy="1993392"/>
          </a:xfrm>
          <a:prstGeom prst="roundRect">
            <a:avLst>
              <a:gd name="adj" fmla="val 8257"/>
            </a:avLst>
          </a:prstGeom>
          <a:solidFill>
            <a:srgbClr val="E9E9E6"/>
          </a:solidFill>
          <a:ln w="10160">
            <a:solidFill>
              <a:srgbClr val="D0D0CB"/>
            </a:solidFill>
            <a:prstDash val="solid"/>
          </a:ln>
        </p:spPr>
      </p:sp>
      <p:sp>
        <p:nvSpPr>
          <p:cNvPr id="72" name="Text 70"/>
          <p:cNvSpPr/>
          <p:nvPr/>
        </p:nvSpPr>
        <p:spPr>
          <a:xfrm>
            <a:off x="941832" y="3776472"/>
            <a:ext cx="6080760" cy="374904"/>
          </a:xfrm>
          <a:prstGeom prst="rect">
            <a:avLst/>
          </a:prstGeom>
          <a:noFill/>
          <a:ln/>
        </p:spPr>
        <p:txBody>
          <a:bodyPr wrap="square" lIns="0" tIns="0" rIns="0" bIns="0" rtlCol="0" anchor="ctr">
            <a:normAutofit/>
          </a:bodyPr>
          <a:lstStyle/>
          <a:p>
            <a:pPr indent="0" marL="0">
              <a:buNone/>
            </a:pPr>
            <a:r>
              <a:rPr lang="en-US" sz="2100" b="1" dirty="0">
                <a:solidFill>
                  <a:srgbClr val="101010"/>
                </a:solidFill>
                <a:latin typeface="Inter Display" pitchFamily="34" charset="0"/>
                <a:ea typeface="Inter Display" pitchFamily="34" charset="-122"/>
                <a:cs typeface="Inter Display" pitchFamily="34" charset="-120"/>
              </a:rPr>
              <a:t>Example: from 6 units to 2</a:t>
            </a:r>
            <a:endParaRPr lang="en-US" sz="2100" dirty="0"/>
          </a:p>
        </p:txBody>
      </p:sp>
      <p:sp>
        <p:nvSpPr>
          <p:cNvPr id="73" name="Text 71"/>
          <p:cNvSpPr/>
          <p:nvPr/>
        </p:nvSpPr>
        <p:spPr>
          <a:xfrm>
            <a:off x="1005840" y="4306824"/>
            <a:ext cx="1444752" cy="475488"/>
          </a:xfrm>
          <a:prstGeom prst="rect">
            <a:avLst/>
          </a:prstGeom>
          <a:noFill/>
          <a:ln/>
        </p:spPr>
        <p:txBody>
          <a:bodyPr wrap="square" lIns="0" tIns="0" rIns="0" bIns="0" rtlCol="0" anchor="ctr">
            <a:normAutofit/>
          </a:bodyPr>
          <a:lstStyle/>
          <a:p>
            <a:pPr algn="ctr" indent="0" marL="0">
              <a:buNone/>
            </a:pPr>
            <a:r>
              <a:rPr lang="en-US" sz="2700" b="1" dirty="0">
                <a:solidFill>
                  <a:srgbClr val="B91622"/>
                </a:solidFill>
                <a:latin typeface="Inter Display" pitchFamily="34" charset="0"/>
                <a:ea typeface="Inter Display" pitchFamily="34" charset="-122"/>
                <a:cs typeface="Inter Display" pitchFamily="34" charset="-120"/>
              </a:rPr>
              <a:t>6</a:t>
            </a:r>
            <a:endParaRPr lang="en-US" sz="2700" dirty="0"/>
          </a:p>
        </p:txBody>
      </p:sp>
      <p:sp>
        <p:nvSpPr>
          <p:cNvPr id="74" name="Text 72"/>
          <p:cNvSpPr/>
          <p:nvPr/>
        </p:nvSpPr>
        <p:spPr>
          <a:xfrm>
            <a:off x="987552" y="4855464"/>
            <a:ext cx="1472184" cy="329184"/>
          </a:xfrm>
          <a:prstGeom prst="rect">
            <a:avLst/>
          </a:prstGeom>
          <a:noFill/>
          <a:ln/>
        </p:spPr>
        <p:txBody>
          <a:bodyPr wrap="square" lIns="0" tIns="0" rIns="0" bIns="0" rtlCol="0" anchor="ctr">
            <a:normAutofit/>
          </a:bodyPr>
          <a:lstStyle/>
          <a:p>
            <a:pPr algn="ctr" indent="0" marL="0">
              <a:buNone/>
            </a:pPr>
            <a:r>
              <a:rPr lang="en-US" sz="1000" dirty="0">
                <a:solidFill>
                  <a:srgbClr val="575753"/>
                </a:solidFill>
                <a:latin typeface="PT Mono" pitchFamily="34" charset="0"/>
                <a:ea typeface="PT Mono" pitchFamily="34" charset="-122"/>
                <a:cs typeface="PT Mono" pitchFamily="34" charset="-120"/>
              </a:rPr>
              <a:t>Opening balance</a:t>
            </a:r>
            <a:endParaRPr lang="en-US" sz="1000" dirty="0"/>
          </a:p>
        </p:txBody>
      </p:sp>
      <p:sp>
        <p:nvSpPr>
          <p:cNvPr id="75" name="Text 73"/>
          <p:cNvSpPr/>
          <p:nvPr/>
        </p:nvSpPr>
        <p:spPr>
          <a:xfrm>
            <a:off x="3145536" y="4306824"/>
            <a:ext cx="1444752" cy="475488"/>
          </a:xfrm>
          <a:prstGeom prst="rect">
            <a:avLst/>
          </a:prstGeom>
          <a:noFill/>
          <a:ln/>
        </p:spPr>
        <p:txBody>
          <a:bodyPr wrap="square" lIns="0" tIns="0" rIns="0" bIns="0" rtlCol="0" anchor="ctr">
            <a:normAutofit/>
          </a:bodyPr>
          <a:lstStyle/>
          <a:p>
            <a:pPr algn="ctr" indent="0" marL="0">
              <a:buNone/>
            </a:pPr>
            <a:r>
              <a:rPr lang="en-US" sz="2700" b="1" dirty="0">
                <a:solidFill>
                  <a:srgbClr val="B91622"/>
                </a:solidFill>
                <a:latin typeface="Inter Display" pitchFamily="34" charset="0"/>
                <a:ea typeface="Inter Display" pitchFamily="34" charset="-122"/>
                <a:cs typeface="Inter Display" pitchFamily="34" charset="-120"/>
              </a:rPr>
              <a:t>−4</a:t>
            </a:r>
            <a:endParaRPr lang="en-US" sz="2700" dirty="0"/>
          </a:p>
        </p:txBody>
      </p:sp>
      <p:sp>
        <p:nvSpPr>
          <p:cNvPr id="76" name="Text 74"/>
          <p:cNvSpPr/>
          <p:nvPr/>
        </p:nvSpPr>
        <p:spPr>
          <a:xfrm>
            <a:off x="3127248" y="4855464"/>
            <a:ext cx="1472184" cy="329184"/>
          </a:xfrm>
          <a:prstGeom prst="rect">
            <a:avLst/>
          </a:prstGeom>
          <a:noFill/>
          <a:ln/>
        </p:spPr>
        <p:txBody>
          <a:bodyPr wrap="square" lIns="0" tIns="0" rIns="0" bIns="0" rtlCol="0" anchor="ctr">
            <a:normAutofit/>
          </a:bodyPr>
          <a:lstStyle/>
          <a:p>
            <a:pPr algn="ctr" indent="0" marL="0">
              <a:buNone/>
            </a:pPr>
            <a:r>
              <a:rPr lang="en-US" sz="1000" dirty="0">
                <a:solidFill>
                  <a:srgbClr val="575753"/>
                </a:solidFill>
                <a:latin typeface="PT Mono" pitchFamily="34" charset="0"/>
                <a:ea typeface="PT Mono" pitchFamily="34" charset="-122"/>
                <a:cs typeface="PT Mono" pitchFamily="34" charset="-120"/>
              </a:rPr>
              <a:t>Customer order</a:t>
            </a:r>
            <a:endParaRPr lang="en-US" sz="1000" dirty="0"/>
          </a:p>
        </p:txBody>
      </p:sp>
      <p:sp>
        <p:nvSpPr>
          <p:cNvPr id="77" name="Text 75"/>
          <p:cNvSpPr/>
          <p:nvPr/>
        </p:nvSpPr>
        <p:spPr>
          <a:xfrm>
            <a:off x="5285232" y="4306824"/>
            <a:ext cx="1444752" cy="475488"/>
          </a:xfrm>
          <a:prstGeom prst="rect">
            <a:avLst/>
          </a:prstGeom>
          <a:noFill/>
          <a:ln/>
        </p:spPr>
        <p:txBody>
          <a:bodyPr wrap="square" lIns="0" tIns="0" rIns="0" bIns="0" rtlCol="0" anchor="ctr">
            <a:normAutofit/>
          </a:bodyPr>
          <a:lstStyle/>
          <a:p>
            <a:pPr algn="ctr" indent="0" marL="0">
              <a:buNone/>
            </a:pPr>
            <a:r>
              <a:rPr lang="en-US" sz="2700" b="1" dirty="0">
                <a:solidFill>
                  <a:srgbClr val="D71928"/>
                </a:solidFill>
                <a:latin typeface="Inter Display" pitchFamily="34" charset="0"/>
                <a:ea typeface="Inter Display" pitchFamily="34" charset="-122"/>
                <a:cs typeface="Inter Display" pitchFamily="34" charset="-120"/>
              </a:rPr>
              <a:t>2</a:t>
            </a:r>
            <a:endParaRPr lang="en-US" sz="2700" dirty="0"/>
          </a:p>
        </p:txBody>
      </p:sp>
      <p:sp>
        <p:nvSpPr>
          <p:cNvPr id="78" name="Text 76"/>
          <p:cNvSpPr/>
          <p:nvPr/>
        </p:nvSpPr>
        <p:spPr>
          <a:xfrm>
            <a:off x="5266944" y="4855464"/>
            <a:ext cx="1472184" cy="329184"/>
          </a:xfrm>
          <a:prstGeom prst="rect">
            <a:avLst/>
          </a:prstGeom>
          <a:noFill/>
          <a:ln/>
        </p:spPr>
        <p:txBody>
          <a:bodyPr wrap="square" lIns="0" tIns="0" rIns="0" bIns="0" rtlCol="0" anchor="ctr">
            <a:normAutofit/>
          </a:bodyPr>
          <a:lstStyle/>
          <a:p>
            <a:pPr algn="ctr" indent="0" marL="0">
              <a:buNone/>
            </a:pPr>
            <a:r>
              <a:rPr lang="en-US" sz="1000" dirty="0">
                <a:solidFill>
                  <a:srgbClr val="575753"/>
                </a:solidFill>
                <a:latin typeface="PT Mono" pitchFamily="34" charset="0"/>
                <a:ea typeface="PT Mono" pitchFamily="34" charset="-122"/>
                <a:cs typeface="PT Mono" pitchFamily="34" charset="-120"/>
              </a:rPr>
              <a:t>New balance</a:t>
            </a:r>
            <a:endParaRPr lang="en-US" sz="1000" dirty="0"/>
          </a:p>
        </p:txBody>
      </p:sp>
      <p:sp>
        <p:nvSpPr>
          <p:cNvPr id="79" name="Shape 77"/>
          <p:cNvSpPr/>
          <p:nvPr/>
        </p:nvSpPr>
        <p:spPr>
          <a:xfrm>
            <a:off x="7626096" y="3529584"/>
            <a:ext cx="3822192" cy="1993392"/>
          </a:xfrm>
          <a:prstGeom prst="roundRect">
            <a:avLst>
              <a:gd name="adj" fmla="val 2523"/>
            </a:avLst>
          </a:prstGeom>
          <a:solidFill>
            <a:srgbClr val="FFFFFF"/>
          </a:solidFill>
          <a:ln w="10160">
            <a:solidFill>
              <a:srgbClr val="D0D0CB"/>
            </a:solidFill>
            <a:prstDash val="solid"/>
          </a:ln>
        </p:spPr>
      </p:sp>
      <p:sp>
        <p:nvSpPr>
          <p:cNvPr id="80" name="Shape 78"/>
          <p:cNvSpPr/>
          <p:nvPr/>
        </p:nvSpPr>
        <p:spPr>
          <a:xfrm>
            <a:off x="7909560" y="3758184"/>
            <a:ext cx="1527048" cy="329184"/>
          </a:xfrm>
          <a:prstGeom prst="roundRect">
            <a:avLst>
              <a:gd name="adj" fmla="val 50000"/>
            </a:avLst>
          </a:prstGeom>
          <a:solidFill>
            <a:srgbClr val="33232A"/>
          </a:solidFill>
          <a:ln w="12700">
            <a:solidFill>
              <a:srgbClr val="33232A">
                <a:alpha val="0"/>
              </a:srgbClr>
            </a:solidFill>
            <a:prstDash val="solid"/>
          </a:ln>
        </p:spPr>
      </p:sp>
      <p:sp>
        <p:nvSpPr>
          <p:cNvPr id="81" name="Text 79"/>
          <p:cNvSpPr/>
          <p:nvPr/>
        </p:nvSpPr>
        <p:spPr>
          <a:xfrm>
            <a:off x="8019288" y="3776472"/>
            <a:ext cx="1307592" cy="292608"/>
          </a:xfrm>
          <a:prstGeom prst="rect">
            <a:avLst/>
          </a:prstGeom>
          <a:noFill/>
          <a:ln/>
        </p:spPr>
        <p:txBody>
          <a:bodyPr wrap="square" lIns="0" tIns="0" rIns="0" bIns="0" rtlCol="0" anchor="ctr">
            <a:normAutofit/>
          </a:bodyPr>
          <a:lstStyle/>
          <a:p>
            <a:pPr algn="ctr" indent="0" marL="0">
              <a:buNone/>
            </a:pPr>
            <a:r>
              <a:rPr lang="en-US" sz="1100" b="1" dirty="0">
                <a:solidFill>
                  <a:srgbClr val="D71928"/>
                </a:solidFill>
                <a:latin typeface="PT Mono" pitchFamily="34" charset="0"/>
                <a:ea typeface="PT Mono" pitchFamily="34" charset="-122"/>
                <a:cs typeface="PT Mono" pitchFamily="34" charset="-120"/>
              </a:rPr>
              <a:t>409 CONFLICT</a:t>
            </a:r>
            <a:endParaRPr lang="en-US" sz="1100" dirty="0"/>
          </a:p>
        </p:txBody>
      </p:sp>
      <p:sp>
        <p:nvSpPr>
          <p:cNvPr id="82" name="Text 80"/>
          <p:cNvSpPr/>
          <p:nvPr/>
        </p:nvSpPr>
        <p:spPr>
          <a:xfrm>
            <a:off x="7936992" y="4251960"/>
            <a:ext cx="3127248" cy="329184"/>
          </a:xfrm>
          <a:prstGeom prst="rect">
            <a:avLst/>
          </a:prstGeom>
          <a:noFill/>
          <a:ln/>
        </p:spPr>
        <p:txBody>
          <a:bodyPr wrap="square" lIns="0" tIns="0" rIns="0" bIns="0" rtlCol="0" anchor="ctr">
            <a:normAutofit/>
          </a:bodyPr>
          <a:lstStyle/>
          <a:p>
            <a:pPr indent="0" marL="0">
              <a:buNone/>
            </a:pPr>
            <a:r>
              <a:rPr lang="en-US" sz="1700" b="1" dirty="0">
                <a:solidFill>
                  <a:srgbClr val="101010"/>
                </a:solidFill>
                <a:latin typeface="Inter Display" pitchFamily="34" charset="0"/>
                <a:ea typeface="Inter Display" pitchFamily="34" charset="-122"/>
                <a:cs typeface="Inter Display" pitchFamily="34" charset="-120"/>
              </a:rPr>
              <a:t>Attempt to remove 99?</a:t>
            </a:r>
            <a:endParaRPr lang="en-US" sz="1700" dirty="0"/>
          </a:p>
        </p:txBody>
      </p:sp>
      <p:sp>
        <p:nvSpPr>
          <p:cNvPr id="83" name="Text 81"/>
          <p:cNvSpPr/>
          <p:nvPr/>
        </p:nvSpPr>
        <p:spPr>
          <a:xfrm>
            <a:off x="7946136" y="4700016"/>
            <a:ext cx="3017520" cy="585216"/>
          </a:xfrm>
          <a:prstGeom prst="rect">
            <a:avLst/>
          </a:prstGeom>
          <a:noFill/>
          <a:ln/>
        </p:spPr>
        <p:txBody>
          <a:bodyPr wrap="square" lIns="0" tIns="0" rIns="0" bIns="0" rtlCol="0" anchor="ctr">
            <a:normAutofit/>
          </a:bodyPr>
          <a:lstStyle/>
          <a:p>
            <a:pPr indent="0" marL="0">
              <a:buNone/>
            </a:pPr>
            <a:r>
              <a:rPr lang="en-US" sz="1200" dirty="0">
                <a:solidFill>
                  <a:srgbClr val="575753"/>
                </a:solidFill>
                <a:latin typeface="Inter" pitchFamily="34" charset="0"/>
                <a:ea typeface="Inter" pitchFamily="34" charset="-122"/>
                <a:cs typeface="Inter" pitchFamily="34" charset="-120"/>
              </a:rPr>
              <a:t>Rejected atomically. No negative balance. No incorrect ledger entry.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04 / SYSTEM DESIGN</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Architecture: one system, multiple layers</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Relative /api routing connects browser, service, database, and monitoring.</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05 / 16</a:t>
            </a:r>
            <a:endParaRPr lang="en-US" sz="850" dirty="0"/>
          </a:p>
        </p:txBody>
      </p:sp>
      <p:sp>
        <p:nvSpPr>
          <p:cNvPr id="48" name="Shape 46"/>
          <p:cNvSpPr/>
          <p:nvPr/>
        </p:nvSpPr>
        <p:spPr>
          <a:xfrm>
            <a:off x="585216" y="1664208"/>
            <a:ext cx="11036808" cy="4352544"/>
          </a:xfrm>
          <a:prstGeom prst="roundRect">
            <a:avLst>
              <a:gd name="adj" fmla="val 3571"/>
            </a:avLst>
          </a:prstGeom>
          <a:solidFill>
            <a:srgbClr val="FFFFFF"/>
          </a:solidFill>
          <a:ln w="10160">
            <a:solidFill>
              <a:srgbClr val="D0D0CB"/>
            </a:solidFill>
            <a:prstDash val="solid"/>
          </a:ln>
        </p:spPr>
      </p:sp>
      <p:sp>
        <p:nvSpPr>
          <p:cNvPr id="49" name="Shape 47"/>
          <p:cNvSpPr/>
          <p:nvPr/>
        </p:nvSpPr>
        <p:spPr>
          <a:xfrm>
            <a:off x="813816" y="1874520"/>
            <a:ext cx="2295144" cy="347472"/>
          </a:xfrm>
          <a:prstGeom prst="roundRect">
            <a:avLst>
              <a:gd name="adj" fmla="val 50000"/>
            </a:avLst>
          </a:prstGeom>
          <a:solidFill>
            <a:srgbClr val="ECECEA"/>
          </a:solidFill>
          <a:ln w="12700">
            <a:solidFill>
              <a:srgbClr val="ECECEA">
                <a:alpha val="0"/>
              </a:srgbClr>
            </a:solidFill>
            <a:prstDash val="solid"/>
          </a:ln>
        </p:spPr>
      </p:sp>
      <p:sp>
        <p:nvSpPr>
          <p:cNvPr id="50" name="Text 48"/>
          <p:cNvSpPr/>
          <p:nvPr/>
        </p:nvSpPr>
        <p:spPr>
          <a:xfrm>
            <a:off x="923544" y="1892808"/>
            <a:ext cx="2075688" cy="310896"/>
          </a:xfrm>
          <a:prstGeom prst="rect">
            <a:avLst/>
          </a:prstGeom>
          <a:noFill/>
          <a:ln/>
        </p:spPr>
        <p:txBody>
          <a:bodyPr wrap="square" lIns="0" tIns="0" rIns="0" bIns="0" rtlCol="0" anchor="ctr">
            <a:normAutofit/>
          </a:bodyPr>
          <a:lstStyle/>
          <a:p>
            <a:pPr algn="ctr" indent="0" marL="0">
              <a:buNone/>
            </a:pPr>
            <a:r>
              <a:rPr lang="en-US" sz="1000" b="1" dirty="0">
                <a:solidFill>
                  <a:srgbClr val="D71928"/>
                </a:solidFill>
                <a:latin typeface="PT Mono" pitchFamily="34" charset="0"/>
                <a:ea typeface="PT Mono" pitchFamily="34" charset="-122"/>
                <a:cs typeface="PT Mono" pitchFamily="34" charset="-120"/>
              </a:rPr>
              <a:t>KUBERNETES / AWS EKS</a:t>
            </a:r>
            <a:endParaRPr lang="en-US" sz="1000" dirty="0"/>
          </a:p>
        </p:txBody>
      </p:sp>
      <p:sp>
        <p:nvSpPr>
          <p:cNvPr id="51" name="Shape 49"/>
          <p:cNvSpPr/>
          <p:nvPr/>
        </p:nvSpPr>
        <p:spPr>
          <a:xfrm>
            <a:off x="896112" y="2834640"/>
            <a:ext cx="1664208" cy="1097280"/>
          </a:xfrm>
          <a:prstGeom prst="roundRect">
            <a:avLst>
              <a:gd name="adj" fmla="val 11667"/>
            </a:avLst>
          </a:prstGeom>
          <a:solidFill>
            <a:srgbClr val="ECECEA"/>
          </a:solidFill>
          <a:ln w="10160">
            <a:solidFill>
              <a:srgbClr val="D0D0CB"/>
            </a:solidFill>
            <a:prstDash val="solid"/>
          </a:ln>
        </p:spPr>
      </p:sp>
      <p:sp>
        <p:nvSpPr>
          <p:cNvPr id="52" name="Shape 50"/>
          <p:cNvSpPr/>
          <p:nvPr/>
        </p:nvSpPr>
        <p:spPr>
          <a:xfrm>
            <a:off x="996696" y="2971800"/>
            <a:ext cx="64008" cy="822960"/>
          </a:xfrm>
          <a:prstGeom prst="rect">
            <a:avLst/>
          </a:prstGeom>
          <a:solidFill>
            <a:srgbClr val="262626"/>
          </a:solidFill>
          <a:ln w="12700">
            <a:solidFill>
              <a:srgbClr val="262626">
                <a:alpha val="0"/>
              </a:srgbClr>
            </a:solidFill>
            <a:prstDash val="solid"/>
          </a:ln>
        </p:spPr>
      </p:sp>
      <p:sp>
        <p:nvSpPr>
          <p:cNvPr id="53" name="Text 51"/>
          <p:cNvSpPr/>
          <p:nvPr/>
        </p:nvSpPr>
        <p:spPr>
          <a:xfrm>
            <a:off x="1207008" y="3008376"/>
            <a:ext cx="1207008"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Browser</a:t>
            </a:r>
            <a:endParaRPr lang="en-US" sz="1600" dirty="0"/>
          </a:p>
        </p:txBody>
      </p:sp>
      <p:sp>
        <p:nvSpPr>
          <p:cNvPr id="54" name="Text 52"/>
          <p:cNvSpPr/>
          <p:nvPr/>
        </p:nvSpPr>
        <p:spPr>
          <a:xfrm>
            <a:off x="1207008" y="3383280"/>
            <a:ext cx="1216152" cy="384048"/>
          </a:xfrm>
          <a:prstGeom prst="rect">
            <a:avLst/>
          </a:prstGeom>
          <a:noFill/>
          <a:ln/>
        </p:spPr>
        <p:txBody>
          <a:bodyPr wrap="square" lIns="0" tIns="0" rIns="0" bIns="0" rtlCol="0" anchor="ctr">
            <a:normAutofit/>
          </a:bodyPr>
          <a:lstStyle/>
          <a:p>
            <a:pPr indent="0" marL="0">
              <a:buNone/>
            </a:pPr>
            <a:r>
              <a:rPr lang="en-US" sz="1000" dirty="0">
                <a:solidFill>
                  <a:srgbClr val="575753"/>
                </a:solidFill>
                <a:latin typeface="PT Mono" pitchFamily="34" charset="0"/>
                <a:ea typeface="PT Mono" pitchFamily="34" charset="-122"/>
                <a:cs typeface="PT Mono" pitchFamily="34" charset="-120"/>
              </a:rPr>
              <a:t>User / mobile</a:t>
            </a:r>
            <a:endParaRPr lang="en-US" sz="1000" dirty="0"/>
          </a:p>
        </p:txBody>
      </p:sp>
      <p:sp>
        <p:nvSpPr>
          <p:cNvPr id="55" name="Shape 53"/>
          <p:cNvSpPr/>
          <p:nvPr/>
        </p:nvSpPr>
        <p:spPr>
          <a:xfrm>
            <a:off x="2944368" y="2834640"/>
            <a:ext cx="1773936" cy="1097280"/>
          </a:xfrm>
          <a:prstGeom prst="roundRect">
            <a:avLst>
              <a:gd name="adj" fmla="val 11667"/>
            </a:avLst>
          </a:prstGeom>
          <a:solidFill>
            <a:srgbClr val="ECECEA"/>
          </a:solidFill>
          <a:ln w="10160">
            <a:solidFill>
              <a:srgbClr val="D0D0CB"/>
            </a:solidFill>
            <a:prstDash val="solid"/>
          </a:ln>
        </p:spPr>
      </p:sp>
      <p:sp>
        <p:nvSpPr>
          <p:cNvPr id="56" name="Shape 54"/>
          <p:cNvSpPr/>
          <p:nvPr/>
        </p:nvSpPr>
        <p:spPr>
          <a:xfrm>
            <a:off x="3044952" y="2971800"/>
            <a:ext cx="64008" cy="822960"/>
          </a:xfrm>
          <a:prstGeom prst="rect">
            <a:avLst/>
          </a:prstGeom>
          <a:solidFill>
            <a:srgbClr val="8C652E"/>
          </a:solidFill>
          <a:ln w="12700">
            <a:solidFill>
              <a:srgbClr val="8C652E">
                <a:alpha val="0"/>
              </a:srgbClr>
            </a:solidFill>
            <a:prstDash val="solid"/>
          </a:ln>
        </p:spPr>
      </p:sp>
      <p:sp>
        <p:nvSpPr>
          <p:cNvPr id="57" name="Text 55"/>
          <p:cNvSpPr/>
          <p:nvPr/>
        </p:nvSpPr>
        <p:spPr>
          <a:xfrm>
            <a:off x="3255264" y="3008376"/>
            <a:ext cx="1316736"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Traefik</a:t>
            </a:r>
            <a:endParaRPr lang="en-US" sz="1600" dirty="0"/>
          </a:p>
        </p:txBody>
      </p:sp>
      <p:sp>
        <p:nvSpPr>
          <p:cNvPr id="58" name="Text 56"/>
          <p:cNvSpPr/>
          <p:nvPr/>
        </p:nvSpPr>
        <p:spPr>
          <a:xfrm>
            <a:off x="3255264" y="3383280"/>
            <a:ext cx="1325880" cy="384048"/>
          </a:xfrm>
          <a:prstGeom prst="rect">
            <a:avLst/>
          </a:prstGeom>
          <a:noFill/>
          <a:ln/>
        </p:spPr>
        <p:txBody>
          <a:bodyPr wrap="square" lIns="0" tIns="0" rIns="0" bIns="0" rtlCol="0" anchor="ctr">
            <a:normAutofit/>
          </a:bodyPr>
          <a:lstStyle/>
          <a:p>
            <a:pPr indent="0" marL="0">
              <a:buNone/>
            </a:pPr>
            <a:r>
              <a:rPr lang="en-US" sz="1000" dirty="0">
                <a:solidFill>
                  <a:srgbClr val="575753"/>
                </a:solidFill>
                <a:latin typeface="PT Mono" pitchFamily="34" charset="0"/>
                <a:ea typeface="PT Mono" pitchFamily="34" charset="-122"/>
                <a:cs typeface="PT Mono" pitchFamily="34" charset="-120"/>
              </a:rPr>
              <a:t>/ and /api</a:t>
            </a:r>
            <a:endParaRPr lang="en-US" sz="1000" dirty="0"/>
          </a:p>
        </p:txBody>
      </p:sp>
      <p:sp>
        <p:nvSpPr>
          <p:cNvPr id="59" name="Shape 57"/>
          <p:cNvSpPr/>
          <p:nvPr/>
        </p:nvSpPr>
        <p:spPr>
          <a:xfrm>
            <a:off x="5102352" y="2304288"/>
            <a:ext cx="1856232" cy="1024128"/>
          </a:xfrm>
          <a:prstGeom prst="roundRect">
            <a:avLst>
              <a:gd name="adj" fmla="val 12500"/>
            </a:avLst>
          </a:prstGeom>
          <a:solidFill>
            <a:srgbClr val="ECECEA"/>
          </a:solidFill>
          <a:ln w="10160">
            <a:solidFill>
              <a:srgbClr val="D0D0CB"/>
            </a:solidFill>
            <a:prstDash val="solid"/>
          </a:ln>
        </p:spPr>
      </p:sp>
      <p:sp>
        <p:nvSpPr>
          <p:cNvPr id="60" name="Shape 58"/>
          <p:cNvSpPr/>
          <p:nvPr/>
        </p:nvSpPr>
        <p:spPr>
          <a:xfrm>
            <a:off x="5202936" y="2441448"/>
            <a:ext cx="64008" cy="749808"/>
          </a:xfrm>
          <a:prstGeom prst="rect">
            <a:avLst/>
          </a:prstGeom>
          <a:solidFill>
            <a:srgbClr val="D71928"/>
          </a:solidFill>
          <a:ln w="12700">
            <a:solidFill>
              <a:srgbClr val="D71928">
                <a:alpha val="0"/>
              </a:srgbClr>
            </a:solidFill>
            <a:prstDash val="solid"/>
          </a:ln>
        </p:spPr>
      </p:sp>
      <p:sp>
        <p:nvSpPr>
          <p:cNvPr id="61" name="Text 59"/>
          <p:cNvSpPr/>
          <p:nvPr/>
        </p:nvSpPr>
        <p:spPr>
          <a:xfrm>
            <a:off x="5413248" y="2478024"/>
            <a:ext cx="1399032"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React UI</a:t>
            </a:r>
            <a:endParaRPr lang="en-US" sz="1600" dirty="0"/>
          </a:p>
        </p:txBody>
      </p:sp>
      <p:sp>
        <p:nvSpPr>
          <p:cNvPr id="62" name="Text 60"/>
          <p:cNvSpPr/>
          <p:nvPr/>
        </p:nvSpPr>
        <p:spPr>
          <a:xfrm>
            <a:off x="5413248" y="2852928"/>
            <a:ext cx="1408176" cy="384048"/>
          </a:xfrm>
          <a:prstGeom prst="rect">
            <a:avLst/>
          </a:prstGeom>
          <a:noFill/>
          <a:ln/>
        </p:spPr>
        <p:txBody>
          <a:bodyPr wrap="square" lIns="0" tIns="0" rIns="0" bIns="0" rtlCol="0" anchor="ctr">
            <a:normAutofit/>
          </a:bodyPr>
          <a:lstStyle/>
          <a:p>
            <a:pPr indent="0" marL="0">
              <a:buNone/>
            </a:pPr>
            <a:r>
              <a:rPr lang="en-US" sz="1000" dirty="0">
                <a:solidFill>
                  <a:srgbClr val="575753"/>
                </a:solidFill>
                <a:latin typeface="PT Mono" pitchFamily="34" charset="0"/>
                <a:ea typeface="PT Mono" pitchFamily="34" charset="-122"/>
                <a:cs typeface="PT Mono" pitchFamily="34" charset="-120"/>
              </a:rPr>
              <a:t>Nginx :8080</a:t>
            </a:r>
            <a:endParaRPr lang="en-US" sz="1000" dirty="0"/>
          </a:p>
        </p:txBody>
      </p:sp>
      <p:sp>
        <p:nvSpPr>
          <p:cNvPr id="63" name="Shape 61"/>
          <p:cNvSpPr/>
          <p:nvPr/>
        </p:nvSpPr>
        <p:spPr>
          <a:xfrm>
            <a:off x="5102352" y="3712464"/>
            <a:ext cx="1856232" cy="1024128"/>
          </a:xfrm>
          <a:prstGeom prst="roundRect">
            <a:avLst>
              <a:gd name="adj" fmla="val 12500"/>
            </a:avLst>
          </a:prstGeom>
          <a:solidFill>
            <a:srgbClr val="ECECEA"/>
          </a:solidFill>
          <a:ln w="10160">
            <a:solidFill>
              <a:srgbClr val="D0D0CB"/>
            </a:solidFill>
            <a:prstDash val="solid"/>
          </a:ln>
        </p:spPr>
      </p:sp>
      <p:sp>
        <p:nvSpPr>
          <p:cNvPr id="64" name="Shape 62"/>
          <p:cNvSpPr/>
          <p:nvPr/>
        </p:nvSpPr>
        <p:spPr>
          <a:xfrm>
            <a:off x="5202936" y="3849624"/>
            <a:ext cx="64008" cy="749808"/>
          </a:xfrm>
          <a:prstGeom prst="rect">
            <a:avLst/>
          </a:prstGeom>
          <a:solidFill>
            <a:srgbClr val="B91622"/>
          </a:solidFill>
          <a:ln w="12700">
            <a:solidFill>
              <a:srgbClr val="B91622">
                <a:alpha val="0"/>
              </a:srgbClr>
            </a:solidFill>
            <a:prstDash val="solid"/>
          </a:ln>
        </p:spPr>
      </p:sp>
      <p:sp>
        <p:nvSpPr>
          <p:cNvPr id="65" name="Text 63"/>
          <p:cNvSpPr/>
          <p:nvPr/>
        </p:nvSpPr>
        <p:spPr>
          <a:xfrm>
            <a:off x="5413248" y="3886200"/>
            <a:ext cx="1399032"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FastAPI</a:t>
            </a:r>
            <a:endParaRPr lang="en-US" sz="1600" dirty="0"/>
          </a:p>
        </p:txBody>
      </p:sp>
      <p:sp>
        <p:nvSpPr>
          <p:cNvPr id="66" name="Text 64"/>
          <p:cNvSpPr/>
          <p:nvPr/>
        </p:nvSpPr>
        <p:spPr>
          <a:xfrm>
            <a:off x="5413248" y="4261104"/>
            <a:ext cx="1408176" cy="384048"/>
          </a:xfrm>
          <a:prstGeom prst="rect">
            <a:avLst/>
          </a:prstGeom>
          <a:noFill/>
          <a:ln/>
        </p:spPr>
        <p:txBody>
          <a:bodyPr wrap="square" lIns="0" tIns="0" rIns="0" bIns="0" rtlCol="0" anchor="ctr">
            <a:normAutofit/>
          </a:bodyPr>
          <a:lstStyle/>
          <a:p>
            <a:pPr indent="0" marL="0">
              <a:buNone/>
            </a:pPr>
            <a:r>
              <a:rPr lang="en-US" sz="1000" dirty="0">
                <a:solidFill>
                  <a:srgbClr val="575753"/>
                </a:solidFill>
                <a:latin typeface="PT Mono" pitchFamily="34" charset="0"/>
                <a:ea typeface="PT Mono" pitchFamily="34" charset="-122"/>
                <a:cs typeface="PT Mono" pitchFamily="34" charset="-120"/>
              </a:rPr>
              <a:t>REST :8000</a:t>
            </a:r>
            <a:endParaRPr lang="en-US" sz="1000" dirty="0"/>
          </a:p>
        </p:txBody>
      </p:sp>
      <p:sp>
        <p:nvSpPr>
          <p:cNvPr id="67" name="Shape 65"/>
          <p:cNvSpPr/>
          <p:nvPr/>
        </p:nvSpPr>
        <p:spPr>
          <a:xfrm>
            <a:off x="7479792" y="3721608"/>
            <a:ext cx="1627632" cy="1005840"/>
          </a:xfrm>
          <a:prstGeom prst="roundRect">
            <a:avLst>
              <a:gd name="adj" fmla="val 12727"/>
            </a:avLst>
          </a:prstGeom>
          <a:solidFill>
            <a:srgbClr val="ECECEA"/>
          </a:solidFill>
          <a:ln w="10160">
            <a:solidFill>
              <a:srgbClr val="D0D0CB"/>
            </a:solidFill>
            <a:prstDash val="solid"/>
          </a:ln>
        </p:spPr>
      </p:sp>
      <p:sp>
        <p:nvSpPr>
          <p:cNvPr id="68" name="Shape 66"/>
          <p:cNvSpPr/>
          <p:nvPr/>
        </p:nvSpPr>
        <p:spPr>
          <a:xfrm>
            <a:off x="7580376" y="3858768"/>
            <a:ext cx="64008" cy="731520"/>
          </a:xfrm>
          <a:prstGeom prst="rect">
            <a:avLst/>
          </a:prstGeom>
          <a:solidFill>
            <a:srgbClr val="262626"/>
          </a:solidFill>
          <a:ln w="12700">
            <a:solidFill>
              <a:srgbClr val="262626">
                <a:alpha val="0"/>
              </a:srgbClr>
            </a:solidFill>
            <a:prstDash val="solid"/>
          </a:ln>
        </p:spPr>
      </p:sp>
      <p:sp>
        <p:nvSpPr>
          <p:cNvPr id="69" name="Text 67"/>
          <p:cNvSpPr/>
          <p:nvPr/>
        </p:nvSpPr>
        <p:spPr>
          <a:xfrm>
            <a:off x="7790688" y="3895344"/>
            <a:ext cx="1170432"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Postgres</a:t>
            </a:r>
            <a:endParaRPr lang="en-US" sz="1600" dirty="0"/>
          </a:p>
        </p:txBody>
      </p:sp>
      <p:sp>
        <p:nvSpPr>
          <p:cNvPr id="70" name="Text 68"/>
          <p:cNvSpPr/>
          <p:nvPr/>
        </p:nvSpPr>
        <p:spPr>
          <a:xfrm>
            <a:off x="7790688" y="4270248"/>
            <a:ext cx="1179576" cy="384048"/>
          </a:xfrm>
          <a:prstGeom prst="rect">
            <a:avLst/>
          </a:prstGeom>
          <a:noFill/>
          <a:ln/>
        </p:spPr>
        <p:txBody>
          <a:bodyPr wrap="square" lIns="0" tIns="0" rIns="0" bIns="0" rtlCol="0" anchor="ctr">
            <a:normAutofit/>
          </a:bodyPr>
          <a:lstStyle/>
          <a:p>
            <a:pPr indent="0" marL="0">
              <a:buNone/>
            </a:pPr>
            <a:r>
              <a:rPr lang="en-US" sz="1000" dirty="0">
                <a:solidFill>
                  <a:srgbClr val="575753"/>
                </a:solidFill>
                <a:latin typeface="PT Mono" pitchFamily="34" charset="0"/>
                <a:ea typeface="PT Mono" pitchFamily="34" charset="-122"/>
                <a:cs typeface="PT Mono" pitchFamily="34" charset="-120"/>
              </a:rPr>
              <a:t>Alembic + PVC</a:t>
            </a:r>
            <a:endParaRPr lang="en-US" sz="1000" dirty="0"/>
          </a:p>
        </p:txBody>
      </p:sp>
      <p:sp>
        <p:nvSpPr>
          <p:cNvPr id="71" name="Shape 69"/>
          <p:cNvSpPr/>
          <p:nvPr/>
        </p:nvSpPr>
        <p:spPr>
          <a:xfrm>
            <a:off x="9537192" y="3739896"/>
            <a:ext cx="1655064" cy="1005840"/>
          </a:xfrm>
          <a:prstGeom prst="roundRect">
            <a:avLst>
              <a:gd name="adj" fmla="val 12727"/>
            </a:avLst>
          </a:prstGeom>
          <a:solidFill>
            <a:srgbClr val="ECECEA"/>
          </a:solidFill>
          <a:ln w="10160">
            <a:solidFill>
              <a:srgbClr val="D0D0CB"/>
            </a:solidFill>
            <a:prstDash val="solid"/>
          </a:ln>
        </p:spPr>
      </p:sp>
      <p:sp>
        <p:nvSpPr>
          <p:cNvPr id="72" name="Shape 70"/>
          <p:cNvSpPr/>
          <p:nvPr/>
        </p:nvSpPr>
        <p:spPr>
          <a:xfrm>
            <a:off x="9637776" y="3877056"/>
            <a:ext cx="64008" cy="731520"/>
          </a:xfrm>
          <a:prstGeom prst="rect">
            <a:avLst/>
          </a:prstGeom>
          <a:solidFill>
            <a:srgbClr val="B91622"/>
          </a:solidFill>
          <a:ln w="12700">
            <a:solidFill>
              <a:srgbClr val="B91622">
                <a:alpha val="0"/>
              </a:srgbClr>
            </a:solidFill>
            <a:prstDash val="solid"/>
          </a:ln>
        </p:spPr>
      </p:sp>
      <p:sp>
        <p:nvSpPr>
          <p:cNvPr id="73" name="Text 71"/>
          <p:cNvSpPr/>
          <p:nvPr/>
        </p:nvSpPr>
        <p:spPr>
          <a:xfrm>
            <a:off x="9848088" y="3913632"/>
            <a:ext cx="1197864"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Prometheus</a:t>
            </a:r>
            <a:endParaRPr lang="en-US" sz="1600" dirty="0"/>
          </a:p>
        </p:txBody>
      </p:sp>
      <p:sp>
        <p:nvSpPr>
          <p:cNvPr id="74" name="Text 72"/>
          <p:cNvSpPr/>
          <p:nvPr/>
        </p:nvSpPr>
        <p:spPr>
          <a:xfrm>
            <a:off x="9848088" y="4288536"/>
            <a:ext cx="1207008" cy="384048"/>
          </a:xfrm>
          <a:prstGeom prst="rect">
            <a:avLst/>
          </a:prstGeom>
          <a:noFill/>
          <a:ln/>
        </p:spPr>
        <p:txBody>
          <a:bodyPr wrap="square" lIns="0" tIns="0" rIns="0" bIns="0" rtlCol="0" anchor="ctr">
            <a:normAutofit/>
          </a:bodyPr>
          <a:lstStyle/>
          <a:p>
            <a:pPr indent="0" marL="0">
              <a:buNone/>
            </a:pPr>
            <a:r>
              <a:rPr lang="en-US" sz="1000" dirty="0">
                <a:solidFill>
                  <a:srgbClr val="575753"/>
                </a:solidFill>
                <a:latin typeface="PT Mono" pitchFamily="34" charset="0"/>
                <a:ea typeface="PT Mono" pitchFamily="34" charset="-122"/>
                <a:cs typeface="PT Mono" pitchFamily="34" charset="-120"/>
              </a:rPr>
              <a:t>HTTP metrics</a:t>
            </a:r>
            <a:endParaRPr lang="en-US" sz="1000" dirty="0"/>
          </a:p>
        </p:txBody>
      </p:sp>
      <p:sp>
        <p:nvSpPr>
          <p:cNvPr id="75" name="Shape 73"/>
          <p:cNvSpPr/>
          <p:nvPr/>
        </p:nvSpPr>
        <p:spPr>
          <a:xfrm>
            <a:off x="9537192" y="2304288"/>
            <a:ext cx="1655064" cy="1005840"/>
          </a:xfrm>
          <a:prstGeom prst="roundRect">
            <a:avLst>
              <a:gd name="adj" fmla="val 12727"/>
            </a:avLst>
          </a:prstGeom>
          <a:solidFill>
            <a:srgbClr val="ECECEA"/>
          </a:solidFill>
          <a:ln w="10160">
            <a:solidFill>
              <a:srgbClr val="D0D0CB"/>
            </a:solidFill>
            <a:prstDash val="solid"/>
          </a:ln>
        </p:spPr>
      </p:sp>
      <p:sp>
        <p:nvSpPr>
          <p:cNvPr id="76" name="Shape 74"/>
          <p:cNvSpPr/>
          <p:nvPr/>
        </p:nvSpPr>
        <p:spPr>
          <a:xfrm>
            <a:off x="9637776" y="2441448"/>
            <a:ext cx="64008" cy="731520"/>
          </a:xfrm>
          <a:prstGeom prst="rect">
            <a:avLst/>
          </a:prstGeom>
          <a:solidFill>
            <a:srgbClr val="D71928"/>
          </a:solidFill>
          <a:ln w="12700">
            <a:solidFill>
              <a:srgbClr val="D71928">
                <a:alpha val="0"/>
              </a:srgbClr>
            </a:solidFill>
            <a:prstDash val="solid"/>
          </a:ln>
        </p:spPr>
      </p:sp>
      <p:sp>
        <p:nvSpPr>
          <p:cNvPr id="77" name="Text 75"/>
          <p:cNvSpPr/>
          <p:nvPr/>
        </p:nvSpPr>
        <p:spPr>
          <a:xfrm>
            <a:off x="9848088" y="2478024"/>
            <a:ext cx="1197864" cy="292608"/>
          </a:xfrm>
          <a:prstGeom prst="rect">
            <a:avLst/>
          </a:prstGeom>
          <a:noFill/>
          <a:ln/>
        </p:spPr>
        <p:txBody>
          <a:bodyPr wrap="square" lIns="0" tIns="0" rIns="0" bIns="0" rtlCol="0" anchor="ctr">
            <a:normAutofit/>
          </a:bodyPr>
          <a:lstStyle/>
          <a:p>
            <a:pPr indent="0" marL="0">
              <a:buNone/>
            </a:pPr>
            <a:r>
              <a:rPr lang="en-US" sz="1600" b="1" dirty="0">
                <a:solidFill>
                  <a:srgbClr val="101010"/>
                </a:solidFill>
                <a:latin typeface="Inter Display" pitchFamily="34" charset="0"/>
                <a:ea typeface="Inter Display" pitchFamily="34" charset="-122"/>
                <a:cs typeface="Inter Display" pitchFamily="34" charset="-120"/>
              </a:rPr>
              <a:t>Grafana</a:t>
            </a:r>
            <a:endParaRPr lang="en-US" sz="1600" dirty="0"/>
          </a:p>
        </p:txBody>
      </p:sp>
      <p:sp>
        <p:nvSpPr>
          <p:cNvPr id="78" name="Text 76"/>
          <p:cNvSpPr/>
          <p:nvPr/>
        </p:nvSpPr>
        <p:spPr>
          <a:xfrm>
            <a:off x="9848088" y="2852928"/>
            <a:ext cx="1207008" cy="384048"/>
          </a:xfrm>
          <a:prstGeom prst="rect">
            <a:avLst/>
          </a:prstGeom>
          <a:noFill/>
          <a:ln/>
        </p:spPr>
        <p:txBody>
          <a:bodyPr wrap="square" lIns="0" tIns="0" rIns="0" bIns="0" rtlCol="0" anchor="ctr">
            <a:normAutofit/>
          </a:bodyPr>
          <a:lstStyle/>
          <a:p>
            <a:pPr indent="0" marL="0">
              <a:buNone/>
            </a:pPr>
            <a:r>
              <a:rPr lang="en-US" sz="1000" dirty="0">
                <a:solidFill>
                  <a:srgbClr val="575753"/>
                </a:solidFill>
                <a:latin typeface="PT Mono" pitchFamily="34" charset="0"/>
                <a:ea typeface="PT Mono" pitchFamily="34" charset="-122"/>
                <a:cs typeface="PT Mono" pitchFamily="34" charset="-120"/>
              </a:rPr>
              <a:t>Live dashboard</a:t>
            </a:r>
            <a:endParaRPr lang="en-US" sz="1000" dirty="0"/>
          </a:p>
        </p:txBody>
      </p:sp>
      <p:sp>
        <p:nvSpPr>
          <p:cNvPr id="79" name="Shape 77"/>
          <p:cNvSpPr/>
          <p:nvPr/>
        </p:nvSpPr>
        <p:spPr>
          <a:xfrm>
            <a:off x="2569464" y="3374136"/>
            <a:ext cx="356616" cy="0"/>
          </a:xfrm>
          <a:prstGeom prst="line">
            <a:avLst/>
          </a:prstGeom>
          <a:noFill/>
          <a:ln w="25400">
            <a:solidFill>
              <a:srgbClr val="B91622"/>
            </a:solidFill>
            <a:prstDash val="solid"/>
            <a:headEnd type="none"/>
            <a:tailEnd type="triangle"/>
          </a:ln>
        </p:spPr>
      </p:sp>
      <p:sp>
        <p:nvSpPr>
          <p:cNvPr id="80" name="Shape 78"/>
          <p:cNvSpPr/>
          <p:nvPr/>
        </p:nvSpPr>
        <p:spPr>
          <a:xfrm>
            <a:off x="4718304" y="3328416"/>
            <a:ext cx="219456" cy="0"/>
          </a:xfrm>
          <a:prstGeom prst="line">
            <a:avLst/>
          </a:prstGeom>
          <a:noFill/>
          <a:ln w="25400">
            <a:solidFill>
              <a:srgbClr val="B91622"/>
            </a:solidFill>
            <a:prstDash val="solid"/>
            <a:headEnd type="none"/>
            <a:tailEnd type="triangle"/>
          </a:ln>
        </p:spPr>
      </p:sp>
      <p:sp>
        <p:nvSpPr>
          <p:cNvPr id="81" name="Shape 79"/>
          <p:cNvSpPr/>
          <p:nvPr/>
        </p:nvSpPr>
        <p:spPr>
          <a:xfrm>
            <a:off x="4937760" y="3328416"/>
            <a:ext cx="0" cy="-539496"/>
          </a:xfrm>
          <a:prstGeom prst="line">
            <a:avLst/>
          </a:prstGeom>
          <a:noFill/>
          <a:ln w="21590">
            <a:solidFill>
              <a:srgbClr val="B91622"/>
            </a:solidFill>
            <a:prstDash val="solid"/>
            <a:headEnd type="none"/>
            <a:tailEnd type="none"/>
          </a:ln>
        </p:spPr>
      </p:sp>
      <p:sp>
        <p:nvSpPr>
          <p:cNvPr id="82" name="Shape 80"/>
          <p:cNvSpPr/>
          <p:nvPr/>
        </p:nvSpPr>
        <p:spPr>
          <a:xfrm>
            <a:off x="4937760" y="3328416"/>
            <a:ext cx="0" cy="886968"/>
          </a:xfrm>
          <a:prstGeom prst="line">
            <a:avLst/>
          </a:prstGeom>
          <a:noFill/>
          <a:ln w="21590">
            <a:solidFill>
              <a:srgbClr val="B91622"/>
            </a:solidFill>
            <a:prstDash val="solid"/>
            <a:headEnd type="none"/>
            <a:tailEnd type="none"/>
          </a:ln>
        </p:spPr>
      </p:sp>
      <p:sp>
        <p:nvSpPr>
          <p:cNvPr id="83" name="Shape 81"/>
          <p:cNvSpPr/>
          <p:nvPr/>
        </p:nvSpPr>
        <p:spPr>
          <a:xfrm>
            <a:off x="4937760" y="2788920"/>
            <a:ext cx="155448" cy="0"/>
          </a:xfrm>
          <a:prstGeom prst="line">
            <a:avLst/>
          </a:prstGeom>
          <a:noFill/>
          <a:ln w="21590">
            <a:solidFill>
              <a:srgbClr val="B91622"/>
            </a:solidFill>
            <a:prstDash val="solid"/>
            <a:headEnd type="none"/>
            <a:tailEnd type="triangle"/>
          </a:ln>
        </p:spPr>
      </p:sp>
      <p:sp>
        <p:nvSpPr>
          <p:cNvPr id="84" name="Shape 82"/>
          <p:cNvSpPr/>
          <p:nvPr/>
        </p:nvSpPr>
        <p:spPr>
          <a:xfrm>
            <a:off x="4937760" y="4215384"/>
            <a:ext cx="155448" cy="0"/>
          </a:xfrm>
          <a:prstGeom prst="line">
            <a:avLst/>
          </a:prstGeom>
          <a:noFill/>
          <a:ln w="21590">
            <a:solidFill>
              <a:srgbClr val="B91622"/>
            </a:solidFill>
            <a:prstDash val="solid"/>
            <a:headEnd type="none"/>
            <a:tailEnd type="triangle"/>
          </a:ln>
        </p:spPr>
      </p:sp>
      <p:sp>
        <p:nvSpPr>
          <p:cNvPr id="85" name="Shape 83"/>
          <p:cNvSpPr/>
          <p:nvPr/>
        </p:nvSpPr>
        <p:spPr>
          <a:xfrm>
            <a:off x="6958584" y="4224528"/>
            <a:ext cx="512064" cy="0"/>
          </a:xfrm>
          <a:prstGeom prst="line">
            <a:avLst/>
          </a:prstGeom>
          <a:noFill/>
          <a:ln w="25400">
            <a:solidFill>
              <a:srgbClr val="B91622"/>
            </a:solidFill>
            <a:prstDash val="solid"/>
            <a:headEnd type="none"/>
            <a:tailEnd type="triangle"/>
          </a:ln>
        </p:spPr>
      </p:sp>
      <p:sp>
        <p:nvSpPr>
          <p:cNvPr id="86" name="Shape 84"/>
          <p:cNvSpPr/>
          <p:nvPr/>
        </p:nvSpPr>
        <p:spPr>
          <a:xfrm>
            <a:off x="9107424" y="4224528"/>
            <a:ext cx="420624" cy="0"/>
          </a:xfrm>
          <a:prstGeom prst="line">
            <a:avLst/>
          </a:prstGeom>
          <a:noFill/>
          <a:ln w="21590">
            <a:solidFill>
              <a:srgbClr val="B91622"/>
            </a:solidFill>
            <a:prstDash val="solid"/>
            <a:headEnd type="none"/>
            <a:tailEnd type="triangle"/>
          </a:ln>
        </p:spPr>
      </p:sp>
      <p:sp>
        <p:nvSpPr>
          <p:cNvPr id="87" name="Shape 85"/>
          <p:cNvSpPr/>
          <p:nvPr/>
        </p:nvSpPr>
        <p:spPr>
          <a:xfrm>
            <a:off x="10360152" y="3730752"/>
            <a:ext cx="0" cy="-402336"/>
          </a:xfrm>
          <a:prstGeom prst="line">
            <a:avLst/>
          </a:prstGeom>
          <a:noFill/>
          <a:ln w="21590">
            <a:solidFill>
              <a:srgbClr val="B91622"/>
            </a:solidFill>
            <a:prstDash val="solid"/>
            <a:headEnd type="none"/>
            <a:tailEnd type="triangle"/>
          </a:ln>
        </p:spPr>
      </p:sp>
      <p:sp>
        <p:nvSpPr>
          <p:cNvPr id="88" name="Shape 86"/>
          <p:cNvSpPr/>
          <p:nvPr/>
        </p:nvSpPr>
        <p:spPr>
          <a:xfrm>
            <a:off x="5138928" y="3401568"/>
            <a:ext cx="1847088" cy="219456"/>
          </a:xfrm>
          <a:prstGeom prst="roundRect">
            <a:avLst>
              <a:gd name="adj" fmla="val 50000"/>
            </a:avLst>
          </a:prstGeom>
          <a:solidFill>
            <a:srgbClr val="E9E9E6"/>
          </a:solidFill>
          <a:ln w="12700">
            <a:solidFill>
              <a:srgbClr val="E9E9E6">
                <a:alpha val="0"/>
              </a:srgbClr>
            </a:solidFill>
            <a:prstDash val="solid"/>
          </a:ln>
        </p:spPr>
      </p:sp>
      <p:sp>
        <p:nvSpPr>
          <p:cNvPr id="89" name="Text 87"/>
          <p:cNvSpPr/>
          <p:nvPr/>
        </p:nvSpPr>
        <p:spPr>
          <a:xfrm>
            <a:off x="5248656" y="3419856"/>
            <a:ext cx="1627632" cy="182880"/>
          </a:xfrm>
          <a:prstGeom prst="rect">
            <a:avLst/>
          </a:prstGeom>
          <a:noFill/>
          <a:ln/>
        </p:spPr>
        <p:txBody>
          <a:bodyPr wrap="square" lIns="0" tIns="0" rIns="0" bIns="0" rtlCol="0" anchor="ctr">
            <a:normAutofit/>
          </a:bodyPr>
          <a:lstStyle/>
          <a:p>
            <a:pPr algn="ctr" indent="0" marL="0">
              <a:buNone/>
            </a:pPr>
            <a:r>
              <a:rPr lang="en-US" sz="800" b="1" dirty="0">
                <a:solidFill>
                  <a:srgbClr val="575753"/>
                </a:solidFill>
                <a:latin typeface="PT Mono" pitchFamily="34" charset="0"/>
                <a:ea typeface="PT Mono" pitchFamily="34" charset="-122"/>
                <a:cs typeface="PT Mono" pitchFamily="34" charset="-120"/>
              </a:rPr>
              <a:t>2 REPLICAS  /  FRONTEND</a:t>
            </a:r>
            <a:endParaRPr lang="en-US" sz="800" dirty="0"/>
          </a:p>
        </p:txBody>
      </p:sp>
      <p:sp>
        <p:nvSpPr>
          <p:cNvPr id="90" name="Shape 88"/>
          <p:cNvSpPr/>
          <p:nvPr/>
        </p:nvSpPr>
        <p:spPr>
          <a:xfrm>
            <a:off x="5138928" y="4855464"/>
            <a:ext cx="1847088" cy="219456"/>
          </a:xfrm>
          <a:prstGeom prst="roundRect">
            <a:avLst>
              <a:gd name="adj" fmla="val 50000"/>
            </a:avLst>
          </a:prstGeom>
          <a:solidFill>
            <a:srgbClr val="E9E9E6"/>
          </a:solidFill>
          <a:ln w="12700">
            <a:solidFill>
              <a:srgbClr val="E9E9E6">
                <a:alpha val="0"/>
              </a:srgbClr>
            </a:solidFill>
            <a:prstDash val="solid"/>
          </a:ln>
        </p:spPr>
      </p:sp>
      <p:sp>
        <p:nvSpPr>
          <p:cNvPr id="91" name="Text 89"/>
          <p:cNvSpPr/>
          <p:nvPr/>
        </p:nvSpPr>
        <p:spPr>
          <a:xfrm>
            <a:off x="5248656" y="4873752"/>
            <a:ext cx="1627632" cy="182880"/>
          </a:xfrm>
          <a:prstGeom prst="rect">
            <a:avLst/>
          </a:prstGeom>
          <a:noFill/>
          <a:ln/>
        </p:spPr>
        <p:txBody>
          <a:bodyPr wrap="square" lIns="0" tIns="0" rIns="0" bIns="0" rtlCol="0" anchor="ctr">
            <a:normAutofit/>
          </a:bodyPr>
          <a:lstStyle/>
          <a:p>
            <a:pPr algn="ctr" indent="0" marL="0">
              <a:buNone/>
            </a:pPr>
            <a:r>
              <a:rPr lang="en-US" sz="800" b="1" dirty="0">
                <a:solidFill>
                  <a:srgbClr val="575753"/>
                </a:solidFill>
                <a:latin typeface="PT Mono" pitchFamily="34" charset="0"/>
                <a:ea typeface="PT Mono" pitchFamily="34" charset="-122"/>
                <a:cs typeface="PT Mono" pitchFamily="34" charset="-120"/>
              </a:rPr>
              <a:t>2 REPLICAS  /  BACKEND</a:t>
            </a:r>
            <a:endParaRPr lang="en-US" sz="800" dirty="0"/>
          </a:p>
        </p:txBody>
      </p:sp>
      <p:sp>
        <p:nvSpPr>
          <p:cNvPr id="92" name="Text 90"/>
          <p:cNvSpPr/>
          <p:nvPr/>
        </p:nvSpPr>
        <p:spPr>
          <a:xfrm>
            <a:off x="914400" y="5477256"/>
            <a:ext cx="10113264" cy="265176"/>
          </a:xfrm>
          <a:prstGeom prst="rect">
            <a:avLst/>
          </a:prstGeom>
          <a:noFill/>
          <a:ln/>
        </p:spPr>
        <p:txBody>
          <a:bodyPr wrap="square" lIns="0" tIns="0" rIns="0" bIns="0" rtlCol="0" anchor="ctr">
            <a:normAutofit/>
          </a:bodyPr>
          <a:lstStyle/>
          <a:p>
            <a:pPr algn="ctr" indent="0" marL="0">
              <a:buNone/>
            </a:pPr>
            <a:r>
              <a:rPr lang="en-US" sz="1100" b="1" dirty="0">
                <a:solidFill>
                  <a:srgbClr val="575753"/>
                </a:solidFill>
                <a:latin typeface="PT Mono" pitchFamily="34" charset="0"/>
                <a:ea typeface="PT Mono" pitchFamily="34" charset="-122"/>
                <a:cs typeface="PT Mono" pitchFamily="34" charset="-120"/>
              </a:rPr>
              <a:t>Platform plane: IAM • node group • ingress • storage • namespace • Helm releases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05 / API + DATABASE</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Backend designed for correctness</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FastAPI contracts, versioned schema, and an immutable-style movement history.</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06 / 16</a:t>
            </a:r>
            <a:endParaRPr lang="en-US" sz="850" dirty="0"/>
          </a:p>
        </p:txBody>
      </p:sp>
      <p:sp>
        <p:nvSpPr>
          <p:cNvPr id="48" name="Shape 46"/>
          <p:cNvSpPr/>
          <p:nvPr/>
        </p:nvSpPr>
        <p:spPr>
          <a:xfrm>
            <a:off x="621792" y="1764792"/>
            <a:ext cx="4983480" cy="4069080"/>
          </a:xfrm>
          <a:prstGeom prst="roundRect">
            <a:avLst>
              <a:gd name="adj" fmla="val 1236"/>
            </a:avLst>
          </a:prstGeom>
          <a:solidFill>
            <a:srgbClr val="FFFFFF"/>
          </a:solidFill>
          <a:ln w="10160">
            <a:solidFill>
              <a:srgbClr val="D0D0CB"/>
            </a:solidFill>
            <a:prstDash val="solid"/>
          </a:ln>
        </p:spPr>
      </p:sp>
      <p:sp>
        <p:nvSpPr>
          <p:cNvPr id="49" name="Text 47"/>
          <p:cNvSpPr/>
          <p:nvPr/>
        </p:nvSpPr>
        <p:spPr>
          <a:xfrm>
            <a:off x="905256" y="2020824"/>
            <a:ext cx="3474720" cy="274320"/>
          </a:xfrm>
          <a:prstGeom prst="rect">
            <a:avLst/>
          </a:prstGeom>
          <a:noFill/>
          <a:ln/>
        </p:spPr>
        <p:txBody>
          <a:bodyPr wrap="square" lIns="0" tIns="0" rIns="0" bIns="0" rtlCol="0" anchor="ctr">
            <a:normAutofit/>
          </a:bodyPr>
          <a:lstStyle/>
          <a:p>
            <a:pPr indent="0" marL="0">
              <a:buNone/>
            </a:pPr>
            <a:r>
              <a:rPr lang="en-US" sz="1100" b="1" spc="60" kern="0" dirty="0">
                <a:solidFill>
                  <a:srgbClr val="575753"/>
                </a:solidFill>
                <a:latin typeface="PT Mono" pitchFamily="34" charset="0"/>
                <a:ea typeface="PT Mono" pitchFamily="34" charset="-122"/>
                <a:cs typeface="PT Mono" pitchFamily="34" charset="-120"/>
              </a:rPr>
              <a:t>REST CONTRACT</a:t>
            </a:r>
            <a:endParaRPr lang="en-US" sz="1100" dirty="0"/>
          </a:p>
        </p:txBody>
      </p:sp>
      <p:sp>
        <p:nvSpPr>
          <p:cNvPr id="50" name="Shape 48"/>
          <p:cNvSpPr/>
          <p:nvPr/>
        </p:nvSpPr>
        <p:spPr>
          <a:xfrm>
            <a:off x="896112" y="2432304"/>
            <a:ext cx="923544" cy="310896"/>
          </a:xfrm>
          <a:prstGeom prst="roundRect">
            <a:avLst>
              <a:gd name="adj" fmla="val 50000"/>
            </a:avLst>
          </a:prstGeom>
          <a:solidFill>
            <a:srgbClr val="ECECEA"/>
          </a:solidFill>
          <a:ln w="12700">
            <a:solidFill>
              <a:srgbClr val="ECECEA">
                <a:alpha val="0"/>
              </a:srgbClr>
            </a:solidFill>
            <a:prstDash val="solid"/>
          </a:ln>
        </p:spPr>
      </p:sp>
      <p:sp>
        <p:nvSpPr>
          <p:cNvPr id="51" name="Text 49"/>
          <p:cNvSpPr/>
          <p:nvPr/>
        </p:nvSpPr>
        <p:spPr>
          <a:xfrm>
            <a:off x="1005840" y="2450592"/>
            <a:ext cx="704088" cy="274320"/>
          </a:xfrm>
          <a:prstGeom prst="rect">
            <a:avLst/>
          </a:prstGeom>
          <a:noFill/>
          <a:ln/>
        </p:spPr>
        <p:txBody>
          <a:bodyPr wrap="square" lIns="0" tIns="0" rIns="0" bIns="0" rtlCol="0" anchor="ctr">
            <a:normAutofit/>
          </a:bodyPr>
          <a:lstStyle/>
          <a:p>
            <a:pPr algn="ctr" indent="0" marL="0">
              <a:buNone/>
            </a:pPr>
            <a:r>
              <a:rPr lang="en-US" sz="960" b="1" dirty="0">
                <a:solidFill>
                  <a:srgbClr val="B91622"/>
                </a:solidFill>
                <a:latin typeface="PT Mono" pitchFamily="34" charset="0"/>
                <a:ea typeface="PT Mono" pitchFamily="34" charset="-122"/>
                <a:cs typeface="PT Mono" pitchFamily="34" charset="-120"/>
              </a:rPr>
              <a:t>GET</a:t>
            </a:r>
            <a:endParaRPr lang="en-US" sz="960" dirty="0"/>
          </a:p>
        </p:txBody>
      </p:sp>
      <p:sp>
        <p:nvSpPr>
          <p:cNvPr id="52" name="Text 50"/>
          <p:cNvSpPr/>
          <p:nvPr/>
        </p:nvSpPr>
        <p:spPr>
          <a:xfrm>
            <a:off x="1993392" y="2423160"/>
            <a:ext cx="3337560" cy="201168"/>
          </a:xfrm>
          <a:prstGeom prst="rect">
            <a:avLst/>
          </a:prstGeom>
          <a:noFill/>
          <a:ln/>
        </p:spPr>
        <p:txBody>
          <a:bodyPr wrap="square" lIns="0" tIns="0" rIns="0" bIns="0" rtlCol="0" anchor="ctr">
            <a:normAutofit/>
          </a:bodyPr>
          <a:lstStyle/>
          <a:p>
            <a:pPr indent="0" marL="0">
              <a:buNone/>
            </a:pPr>
            <a:r>
              <a:rPr lang="en-US" sz="1000" b="1" dirty="0">
                <a:solidFill>
                  <a:srgbClr val="101010"/>
                </a:solidFill>
                <a:latin typeface="PT Mono" pitchFamily="34" charset="0"/>
                <a:ea typeface="PT Mono" pitchFamily="34" charset="-122"/>
                <a:cs typeface="PT Mono" pitchFamily="34" charset="-120"/>
              </a:rPr>
              <a:t>/api/products</a:t>
            </a:r>
            <a:endParaRPr lang="en-US" sz="1000" dirty="0"/>
          </a:p>
        </p:txBody>
      </p:sp>
      <p:sp>
        <p:nvSpPr>
          <p:cNvPr id="53" name="Text 51"/>
          <p:cNvSpPr/>
          <p:nvPr/>
        </p:nvSpPr>
        <p:spPr>
          <a:xfrm>
            <a:off x="2002536" y="2660904"/>
            <a:ext cx="3255264" cy="17373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Browse / filter</a:t>
            </a:r>
            <a:endParaRPr lang="en-US" sz="900" dirty="0"/>
          </a:p>
        </p:txBody>
      </p:sp>
      <p:sp>
        <p:nvSpPr>
          <p:cNvPr id="54" name="Shape 52"/>
          <p:cNvSpPr/>
          <p:nvPr/>
        </p:nvSpPr>
        <p:spPr>
          <a:xfrm>
            <a:off x="896112" y="3017520"/>
            <a:ext cx="923544" cy="310896"/>
          </a:xfrm>
          <a:prstGeom prst="roundRect">
            <a:avLst>
              <a:gd name="adj" fmla="val 50000"/>
            </a:avLst>
          </a:prstGeom>
          <a:solidFill>
            <a:srgbClr val="ECECEA"/>
          </a:solidFill>
          <a:ln w="12700">
            <a:solidFill>
              <a:srgbClr val="ECECEA">
                <a:alpha val="0"/>
              </a:srgbClr>
            </a:solidFill>
            <a:prstDash val="solid"/>
          </a:ln>
        </p:spPr>
      </p:sp>
      <p:sp>
        <p:nvSpPr>
          <p:cNvPr id="55" name="Text 53"/>
          <p:cNvSpPr/>
          <p:nvPr/>
        </p:nvSpPr>
        <p:spPr>
          <a:xfrm>
            <a:off x="1005840" y="3035808"/>
            <a:ext cx="704088" cy="274320"/>
          </a:xfrm>
          <a:prstGeom prst="rect">
            <a:avLst/>
          </a:prstGeom>
          <a:noFill/>
          <a:ln/>
        </p:spPr>
        <p:txBody>
          <a:bodyPr wrap="square" lIns="0" tIns="0" rIns="0" bIns="0" rtlCol="0" anchor="ctr">
            <a:normAutofit/>
          </a:bodyPr>
          <a:lstStyle/>
          <a:p>
            <a:pPr algn="ctr" indent="0" marL="0">
              <a:buNone/>
            </a:pPr>
            <a:r>
              <a:rPr lang="en-US" sz="960" b="1" dirty="0">
                <a:solidFill>
                  <a:srgbClr val="B91622"/>
                </a:solidFill>
                <a:latin typeface="PT Mono" pitchFamily="34" charset="0"/>
                <a:ea typeface="PT Mono" pitchFamily="34" charset="-122"/>
                <a:cs typeface="PT Mono" pitchFamily="34" charset="-120"/>
              </a:rPr>
              <a:t>POST</a:t>
            </a:r>
            <a:endParaRPr lang="en-US" sz="960" dirty="0"/>
          </a:p>
        </p:txBody>
      </p:sp>
      <p:sp>
        <p:nvSpPr>
          <p:cNvPr id="56" name="Text 54"/>
          <p:cNvSpPr/>
          <p:nvPr/>
        </p:nvSpPr>
        <p:spPr>
          <a:xfrm>
            <a:off x="1993392" y="3008376"/>
            <a:ext cx="3337560" cy="201168"/>
          </a:xfrm>
          <a:prstGeom prst="rect">
            <a:avLst/>
          </a:prstGeom>
          <a:noFill/>
          <a:ln/>
        </p:spPr>
        <p:txBody>
          <a:bodyPr wrap="square" lIns="0" tIns="0" rIns="0" bIns="0" rtlCol="0" anchor="ctr">
            <a:normAutofit/>
          </a:bodyPr>
          <a:lstStyle/>
          <a:p>
            <a:pPr indent="0" marL="0">
              <a:buNone/>
            </a:pPr>
            <a:r>
              <a:rPr lang="en-US" sz="1000" b="1" dirty="0">
                <a:solidFill>
                  <a:srgbClr val="101010"/>
                </a:solidFill>
                <a:latin typeface="PT Mono" pitchFamily="34" charset="0"/>
                <a:ea typeface="PT Mono" pitchFamily="34" charset="-122"/>
                <a:cs typeface="PT Mono" pitchFamily="34" charset="-120"/>
              </a:rPr>
              <a:t>/api/products</a:t>
            </a:r>
            <a:endParaRPr lang="en-US" sz="1000" dirty="0"/>
          </a:p>
        </p:txBody>
      </p:sp>
      <p:sp>
        <p:nvSpPr>
          <p:cNvPr id="57" name="Text 55"/>
          <p:cNvSpPr/>
          <p:nvPr/>
        </p:nvSpPr>
        <p:spPr>
          <a:xfrm>
            <a:off x="2002536" y="3246120"/>
            <a:ext cx="3255264" cy="17373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Create + opening stock</a:t>
            </a:r>
            <a:endParaRPr lang="en-US" sz="900" dirty="0"/>
          </a:p>
        </p:txBody>
      </p:sp>
      <p:sp>
        <p:nvSpPr>
          <p:cNvPr id="58" name="Shape 56"/>
          <p:cNvSpPr/>
          <p:nvPr/>
        </p:nvSpPr>
        <p:spPr>
          <a:xfrm>
            <a:off x="896112" y="3602736"/>
            <a:ext cx="923544" cy="310896"/>
          </a:xfrm>
          <a:prstGeom prst="roundRect">
            <a:avLst>
              <a:gd name="adj" fmla="val 50000"/>
            </a:avLst>
          </a:prstGeom>
          <a:solidFill>
            <a:srgbClr val="ECECEA"/>
          </a:solidFill>
          <a:ln w="12700">
            <a:solidFill>
              <a:srgbClr val="ECECEA">
                <a:alpha val="0"/>
              </a:srgbClr>
            </a:solidFill>
            <a:prstDash val="solid"/>
          </a:ln>
        </p:spPr>
      </p:sp>
      <p:sp>
        <p:nvSpPr>
          <p:cNvPr id="59" name="Text 57"/>
          <p:cNvSpPr/>
          <p:nvPr/>
        </p:nvSpPr>
        <p:spPr>
          <a:xfrm>
            <a:off x="1005840" y="3621024"/>
            <a:ext cx="704088" cy="274320"/>
          </a:xfrm>
          <a:prstGeom prst="rect">
            <a:avLst/>
          </a:prstGeom>
          <a:noFill/>
          <a:ln/>
        </p:spPr>
        <p:txBody>
          <a:bodyPr wrap="square" lIns="0" tIns="0" rIns="0" bIns="0" rtlCol="0" anchor="ctr">
            <a:normAutofit/>
          </a:bodyPr>
          <a:lstStyle/>
          <a:p>
            <a:pPr algn="ctr" indent="0" marL="0">
              <a:buNone/>
            </a:pPr>
            <a:r>
              <a:rPr lang="en-US" sz="960" b="1" dirty="0">
                <a:solidFill>
                  <a:srgbClr val="B91622"/>
                </a:solidFill>
                <a:latin typeface="PT Mono" pitchFamily="34" charset="0"/>
                <a:ea typeface="PT Mono" pitchFamily="34" charset="-122"/>
                <a:cs typeface="PT Mono" pitchFamily="34" charset="-120"/>
              </a:rPr>
              <a:t>PUT</a:t>
            </a:r>
            <a:endParaRPr lang="en-US" sz="960" dirty="0"/>
          </a:p>
        </p:txBody>
      </p:sp>
      <p:sp>
        <p:nvSpPr>
          <p:cNvPr id="60" name="Text 58"/>
          <p:cNvSpPr/>
          <p:nvPr/>
        </p:nvSpPr>
        <p:spPr>
          <a:xfrm>
            <a:off x="1993392" y="3593592"/>
            <a:ext cx="3337560" cy="201168"/>
          </a:xfrm>
          <a:prstGeom prst="rect">
            <a:avLst/>
          </a:prstGeom>
          <a:noFill/>
          <a:ln/>
        </p:spPr>
        <p:txBody>
          <a:bodyPr wrap="square" lIns="0" tIns="0" rIns="0" bIns="0" rtlCol="0" anchor="ctr">
            <a:normAutofit/>
          </a:bodyPr>
          <a:lstStyle/>
          <a:p>
            <a:pPr indent="0" marL="0">
              <a:buNone/>
            </a:pPr>
            <a:r>
              <a:rPr lang="en-US" sz="1000" b="1" dirty="0">
                <a:solidFill>
                  <a:srgbClr val="101010"/>
                </a:solidFill>
                <a:latin typeface="PT Mono" pitchFamily="34" charset="0"/>
                <a:ea typeface="PT Mono" pitchFamily="34" charset="-122"/>
                <a:cs typeface="PT Mono" pitchFamily="34" charset="-120"/>
              </a:rPr>
              <a:t>/api/products/{id}</a:t>
            </a:r>
            <a:endParaRPr lang="en-US" sz="1000" dirty="0"/>
          </a:p>
        </p:txBody>
      </p:sp>
      <p:sp>
        <p:nvSpPr>
          <p:cNvPr id="61" name="Text 59"/>
          <p:cNvSpPr/>
          <p:nvPr/>
        </p:nvSpPr>
        <p:spPr>
          <a:xfrm>
            <a:off x="2002536" y="3831336"/>
            <a:ext cx="3255264" cy="17373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Update details</a:t>
            </a:r>
            <a:endParaRPr lang="en-US" sz="900" dirty="0"/>
          </a:p>
        </p:txBody>
      </p:sp>
      <p:sp>
        <p:nvSpPr>
          <p:cNvPr id="62" name="Shape 60"/>
          <p:cNvSpPr/>
          <p:nvPr/>
        </p:nvSpPr>
        <p:spPr>
          <a:xfrm>
            <a:off x="896112" y="4187952"/>
            <a:ext cx="923544" cy="310896"/>
          </a:xfrm>
          <a:prstGeom prst="roundRect">
            <a:avLst>
              <a:gd name="adj" fmla="val 50000"/>
            </a:avLst>
          </a:prstGeom>
          <a:solidFill>
            <a:srgbClr val="36272A"/>
          </a:solidFill>
          <a:ln w="12700">
            <a:solidFill>
              <a:srgbClr val="36272A">
                <a:alpha val="0"/>
              </a:srgbClr>
            </a:solidFill>
            <a:prstDash val="solid"/>
          </a:ln>
        </p:spPr>
      </p:sp>
      <p:sp>
        <p:nvSpPr>
          <p:cNvPr id="63" name="Text 61"/>
          <p:cNvSpPr/>
          <p:nvPr/>
        </p:nvSpPr>
        <p:spPr>
          <a:xfrm>
            <a:off x="1005840" y="4206240"/>
            <a:ext cx="704088" cy="274320"/>
          </a:xfrm>
          <a:prstGeom prst="rect">
            <a:avLst/>
          </a:prstGeom>
          <a:noFill/>
          <a:ln/>
        </p:spPr>
        <p:txBody>
          <a:bodyPr wrap="square" lIns="0" tIns="0" rIns="0" bIns="0" rtlCol="0" anchor="ctr">
            <a:normAutofit/>
          </a:bodyPr>
          <a:lstStyle/>
          <a:p>
            <a:pPr algn="ctr" indent="0" marL="0">
              <a:buNone/>
            </a:pPr>
            <a:r>
              <a:rPr lang="en-US" sz="960" b="1" dirty="0">
                <a:solidFill>
                  <a:srgbClr val="D71928"/>
                </a:solidFill>
                <a:latin typeface="PT Mono" pitchFamily="34" charset="0"/>
                <a:ea typeface="PT Mono" pitchFamily="34" charset="-122"/>
                <a:cs typeface="PT Mono" pitchFamily="34" charset="-120"/>
              </a:rPr>
              <a:t>DELETE</a:t>
            </a:r>
            <a:endParaRPr lang="en-US" sz="960" dirty="0"/>
          </a:p>
        </p:txBody>
      </p:sp>
      <p:sp>
        <p:nvSpPr>
          <p:cNvPr id="64" name="Text 62"/>
          <p:cNvSpPr/>
          <p:nvPr/>
        </p:nvSpPr>
        <p:spPr>
          <a:xfrm>
            <a:off x="1993392" y="4178808"/>
            <a:ext cx="3337560" cy="201168"/>
          </a:xfrm>
          <a:prstGeom prst="rect">
            <a:avLst/>
          </a:prstGeom>
          <a:noFill/>
          <a:ln/>
        </p:spPr>
        <p:txBody>
          <a:bodyPr wrap="square" lIns="0" tIns="0" rIns="0" bIns="0" rtlCol="0" anchor="ctr">
            <a:normAutofit/>
          </a:bodyPr>
          <a:lstStyle/>
          <a:p>
            <a:pPr indent="0" marL="0">
              <a:buNone/>
            </a:pPr>
            <a:r>
              <a:rPr lang="en-US" sz="1000" b="1" dirty="0">
                <a:solidFill>
                  <a:srgbClr val="101010"/>
                </a:solidFill>
                <a:latin typeface="PT Mono" pitchFamily="34" charset="0"/>
                <a:ea typeface="PT Mono" pitchFamily="34" charset="-122"/>
                <a:cs typeface="PT Mono" pitchFamily="34" charset="-120"/>
              </a:rPr>
              <a:t>/api/products/{id}</a:t>
            </a:r>
            <a:endParaRPr lang="en-US" sz="1000" dirty="0"/>
          </a:p>
        </p:txBody>
      </p:sp>
      <p:sp>
        <p:nvSpPr>
          <p:cNvPr id="65" name="Text 63"/>
          <p:cNvSpPr/>
          <p:nvPr/>
        </p:nvSpPr>
        <p:spPr>
          <a:xfrm>
            <a:off x="2002536" y="4416552"/>
            <a:ext cx="3255264" cy="17373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Remove from catalog</a:t>
            </a:r>
            <a:endParaRPr lang="en-US" sz="900" dirty="0"/>
          </a:p>
        </p:txBody>
      </p:sp>
      <p:sp>
        <p:nvSpPr>
          <p:cNvPr id="66" name="Shape 64"/>
          <p:cNvSpPr/>
          <p:nvPr/>
        </p:nvSpPr>
        <p:spPr>
          <a:xfrm>
            <a:off x="896112" y="4773168"/>
            <a:ext cx="923544" cy="310896"/>
          </a:xfrm>
          <a:prstGeom prst="roundRect">
            <a:avLst>
              <a:gd name="adj" fmla="val 50000"/>
            </a:avLst>
          </a:prstGeom>
          <a:solidFill>
            <a:srgbClr val="ECECEA"/>
          </a:solidFill>
          <a:ln w="12700">
            <a:solidFill>
              <a:srgbClr val="ECECEA">
                <a:alpha val="0"/>
              </a:srgbClr>
            </a:solidFill>
            <a:prstDash val="solid"/>
          </a:ln>
        </p:spPr>
      </p:sp>
      <p:sp>
        <p:nvSpPr>
          <p:cNvPr id="67" name="Text 65"/>
          <p:cNvSpPr/>
          <p:nvPr/>
        </p:nvSpPr>
        <p:spPr>
          <a:xfrm>
            <a:off x="1005840" y="4791456"/>
            <a:ext cx="704088" cy="274320"/>
          </a:xfrm>
          <a:prstGeom prst="rect">
            <a:avLst/>
          </a:prstGeom>
          <a:noFill/>
          <a:ln/>
        </p:spPr>
        <p:txBody>
          <a:bodyPr wrap="square" lIns="0" tIns="0" rIns="0" bIns="0" rtlCol="0" anchor="ctr">
            <a:normAutofit/>
          </a:bodyPr>
          <a:lstStyle/>
          <a:p>
            <a:pPr algn="ctr" indent="0" marL="0">
              <a:buNone/>
            </a:pPr>
            <a:r>
              <a:rPr lang="en-US" sz="960" b="1" dirty="0">
                <a:solidFill>
                  <a:srgbClr val="B91622"/>
                </a:solidFill>
                <a:latin typeface="PT Mono" pitchFamily="34" charset="0"/>
                <a:ea typeface="PT Mono" pitchFamily="34" charset="-122"/>
                <a:cs typeface="PT Mono" pitchFamily="34" charset="-120"/>
              </a:rPr>
              <a:t>POST</a:t>
            </a:r>
            <a:endParaRPr lang="en-US" sz="960" dirty="0"/>
          </a:p>
        </p:txBody>
      </p:sp>
      <p:sp>
        <p:nvSpPr>
          <p:cNvPr id="68" name="Text 66"/>
          <p:cNvSpPr/>
          <p:nvPr/>
        </p:nvSpPr>
        <p:spPr>
          <a:xfrm>
            <a:off x="1993392" y="4764024"/>
            <a:ext cx="3337560" cy="201168"/>
          </a:xfrm>
          <a:prstGeom prst="rect">
            <a:avLst/>
          </a:prstGeom>
          <a:noFill/>
          <a:ln/>
        </p:spPr>
        <p:txBody>
          <a:bodyPr wrap="square" lIns="0" tIns="0" rIns="0" bIns="0" rtlCol="0" anchor="ctr">
            <a:normAutofit/>
          </a:bodyPr>
          <a:lstStyle/>
          <a:p>
            <a:pPr indent="0" marL="0">
              <a:buNone/>
            </a:pPr>
            <a:r>
              <a:rPr lang="en-US" sz="1000" b="1" dirty="0">
                <a:solidFill>
                  <a:srgbClr val="101010"/>
                </a:solidFill>
                <a:latin typeface="PT Mono" pitchFamily="34" charset="0"/>
                <a:ea typeface="PT Mono" pitchFamily="34" charset="-122"/>
                <a:cs typeface="PT Mono" pitchFamily="34" charset="-120"/>
              </a:rPr>
              <a:t>/api/inventory/adjustments</a:t>
            </a:r>
            <a:endParaRPr lang="en-US" sz="1000" dirty="0"/>
          </a:p>
        </p:txBody>
      </p:sp>
      <p:sp>
        <p:nvSpPr>
          <p:cNvPr id="69" name="Text 67"/>
          <p:cNvSpPr/>
          <p:nvPr/>
        </p:nvSpPr>
        <p:spPr>
          <a:xfrm>
            <a:off x="2002536" y="5001768"/>
            <a:ext cx="3255264" cy="17373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Safe quantity changes</a:t>
            </a:r>
            <a:endParaRPr lang="en-US" sz="900" dirty="0"/>
          </a:p>
        </p:txBody>
      </p:sp>
      <p:sp>
        <p:nvSpPr>
          <p:cNvPr id="70" name="Shape 68"/>
          <p:cNvSpPr/>
          <p:nvPr/>
        </p:nvSpPr>
        <p:spPr>
          <a:xfrm>
            <a:off x="5879592" y="1764792"/>
            <a:ext cx="5678424" cy="4069080"/>
          </a:xfrm>
          <a:prstGeom prst="roundRect">
            <a:avLst>
              <a:gd name="adj" fmla="val 1236"/>
            </a:avLst>
          </a:prstGeom>
          <a:solidFill>
            <a:srgbClr val="FFFFFF"/>
          </a:solidFill>
          <a:ln w="10160">
            <a:solidFill>
              <a:srgbClr val="D0D0CB"/>
            </a:solidFill>
            <a:prstDash val="solid"/>
          </a:ln>
        </p:spPr>
      </p:sp>
      <p:sp>
        <p:nvSpPr>
          <p:cNvPr id="71" name="Text 69"/>
          <p:cNvSpPr/>
          <p:nvPr/>
        </p:nvSpPr>
        <p:spPr>
          <a:xfrm>
            <a:off x="6199632" y="2020824"/>
            <a:ext cx="3474720" cy="274320"/>
          </a:xfrm>
          <a:prstGeom prst="rect">
            <a:avLst/>
          </a:prstGeom>
          <a:noFill/>
          <a:ln/>
        </p:spPr>
        <p:txBody>
          <a:bodyPr wrap="square" lIns="0" tIns="0" rIns="0" bIns="0" rtlCol="0" anchor="ctr">
            <a:normAutofit/>
          </a:bodyPr>
          <a:lstStyle/>
          <a:p>
            <a:pPr indent="0" marL="0">
              <a:buNone/>
            </a:pPr>
            <a:r>
              <a:rPr lang="en-US" sz="1100" b="1" spc="60" kern="0" dirty="0">
                <a:solidFill>
                  <a:srgbClr val="575753"/>
                </a:solidFill>
                <a:latin typeface="PT Mono" pitchFamily="34" charset="0"/>
                <a:ea typeface="PT Mono" pitchFamily="34" charset="-122"/>
                <a:cs typeface="PT Mono" pitchFamily="34" charset="-120"/>
              </a:rPr>
              <a:t>DATA MODEL</a:t>
            </a:r>
            <a:endParaRPr lang="en-US" sz="1100" dirty="0"/>
          </a:p>
        </p:txBody>
      </p:sp>
      <p:sp>
        <p:nvSpPr>
          <p:cNvPr id="72" name="Shape 70"/>
          <p:cNvSpPr/>
          <p:nvPr/>
        </p:nvSpPr>
        <p:spPr>
          <a:xfrm>
            <a:off x="6227064" y="2505456"/>
            <a:ext cx="2231136" cy="2167128"/>
          </a:xfrm>
          <a:prstGeom prst="roundRect">
            <a:avLst>
              <a:gd name="adj" fmla="val 2321"/>
            </a:avLst>
          </a:prstGeom>
          <a:solidFill>
            <a:srgbClr val="ECECEA"/>
          </a:solidFill>
          <a:ln w="10160">
            <a:solidFill>
              <a:srgbClr val="D0D0CB"/>
            </a:solidFill>
            <a:prstDash val="solid"/>
          </a:ln>
        </p:spPr>
      </p:sp>
      <p:sp>
        <p:nvSpPr>
          <p:cNvPr id="73" name="Text 71"/>
          <p:cNvSpPr/>
          <p:nvPr/>
        </p:nvSpPr>
        <p:spPr>
          <a:xfrm>
            <a:off x="6473952" y="2697480"/>
            <a:ext cx="1746504" cy="292608"/>
          </a:xfrm>
          <a:prstGeom prst="rect">
            <a:avLst/>
          </a:prstGeom>
          <a:noFill/>
          <a:ln/>
        </p:spPr>
        <p:txBody>
          <a:bodyPr wrap="square" lIns="0" tIns="0" rIns="0" bIns="0" rtlCol="0" anchor="ctr">
            <a:normAutofit/>
          </a:bodyPr>
          <a:lstStyle/>
          <a:p>
            <a:pPr indent="0" marL="0">
              <a:buNone/>
            </a:pPr>
            <a:r>
              <a:rPr lang="en-US" sz="1500" b="1" dirty="0">
                <a:solidFill>
                  <a:srgbClr val="D71928"/>
                </a:solidFill>
                <a:latin typeface="Inter Display" pitchFamily="34" charset="0"/>
                <a:ea typeface="Inter Display" pitchFamily="34" charset="-122"/>
                <a:cs typeface="Inter Display" pitchFamily="34" charset="-120"/>
              </a:rPr>
              <a:t>PRODUCTS</a:t>
            </a:r>
            <a:endParaRPr lang="en-US" sz="1500" dirty="0"/>
          </a:p>
        </p:txBody>
      </p:sp>
      <p:sp>
        <p:nvSpPr>
          <p:cNvPr id="74" name="Shape 72"/>
          <p:cNvSpPr/>
          <p:nvPr/>
        </p:nvSpPr>
        <p:spPr>
          <a:xfrm>
            <a:off x="6455664" y="3090672"/>
            <a:ext cx="1709928" cy="0"/>
          </a:xfrm>
          <a:prstGeom prst="line">
            <a:avLst/>
          </a:prstGeom>
          <a:noFill/>
          <a:ln w="12700">
            <a:solidFill>
              <a:srgbClr val="D0D0CB"/>
            </a:solidFill>
            <a:prstDash val="solid"/>
            <a:headEnd type="none"/>
            <a:tailEnd type="none"/>
          </a:ln>
        </p:spPr>
      </p:sp>
      <p:sp>
        <p:nvSpPr>
          <p:cNvPr id="75" name="Text 73"/>
          <p:cNvSpPr/>
          <p:nvPr/>
        </p:nvSpPr>
        <p:spPr>
          <a:xfrm>
            <a:off x="6455664" y="3191256"/>
            <a:ext cx="1746504" cy="228600"/>
          </a:xfrm>
          <a:prstGeom prst="rect">
            <a:avLst/>
          </a:prstGeom>
          <a:noFill/>
          <a:ln/>
        </p:spPr>
        <p:txBody>
          <a:bodyPr wrap="square" lIns="0" tIns="0" rIns="0" bIns="0" rtlCol="0" anchor="ctr">
            <a:normAutofit/>
          </a:bodyPr>
          <a:lstStyle/>
          <a:p>
            <a:pPr indent="0" marL="0">
              <a:buNone/>
            </a:pPr>
            <a:r>
              <a:rPr lang="en-US" sz="1100" dirty="0">
                <a:solidFill>
                  <a:srgbClr val="575753"/>
                </a:solidFill>
                <a:latin typeface="PT Mono" pitchFamily="34" charset="0"/>
                <a:ea typeface="PT Mono" pitchFamily="34" charset="-122"/>
                <a:cs typeface="PT Mono" pitchFamily="34" charset="-120"/>
              </a:rPr>
              <a:t>id • PK</a:t>
            </a:r>
            <a:endParaRPr lang="en-US" sz="1100" dirty="0"/>
          </a:p>
        </p:txBody>
      </p:sp>
      <p:sp>
        <p:nvSpPr>
          <p:cNvPr id="76" name="Text 74"/>
          <p:cNvSpPr/>
          <p:nvPr/>
        </p:nvSpPr>
        <p:spPr>
          <a:xfrm>
            <a:off x="6455664" y="3502152"/>
            <a:ext cx="1746504" cy="228600"/>
          </a:xfrm>
          <a:prstGeom prst="rect">
            <a:avLst/>
          </a:prstGeom>
          <a:noFill/>
          <a:ln/>
        </p:spPr>
        <p:txBody>
          <a:bodyPr wrap="square" lIns="0" tIns="0" rIns="0" bIns="0" rtlCol="0" anchor="ctr">
            <a:normAutofit/>
          </a:bodyPr>
          <a:lstStyle/>
          <a:p>
            <a:pPr indent="0" marL="0">
              <a:buNone/>
            </a:pPr>
            <a:r>
              <a:rPr lang="en-US" sz="1100" dirty="0">
                <a:solidFill>
                  <a:srgbClr val="575753"/>
                </a:solidFill>
                <a:latin typeface="PT Mono" pitchFamily="34" charset="0"/>
                <a:ea typeface="PT Mono" pitchFamily="34" charset="-122"/>
                <a:cs typeface="PT Mono" pitchFamily="34" charset="-120"/>
              </a:rPr>
              <a:t>sku • unique</a:t>
            </a:r>
            <a:endParaRPr lang="en-US" sz="1100" dirty="0"/>
          </a:p>
        </p:txBody>
      </p:sp>
      <p:sp>
        <p:nvSpPr>
          <p:cNvPr id="77" name="Text 75"/>
          <p:cNvSpPr/>
          <p:nvPr/>
        </p:nvSpPr>
        <p:spPr>
          <a:xfrm>
            <a:off x="6455664" y="3813048"/>
            <a:ext cx="1746504" cy="228600"/>
          </a:xfrm>
          <a:prstGeom prst="rect">
            <a:avLst/>
          </a:prstGeom>
          <a:noFill/>
          <a:ln/>
        </p:spPr>
        <p:txBody>
          <a:bodyPr wrap="square" lIns="0" tIns="0" rIns="0" bIns="0" rtlCol="0" anchor="ctr">
            <a:normAutofit/>
          </a:bodyPr>
          <a:lstStyle/>
          <a:p>
            <a:pPr indent="0" marL="0">
              <a:buNone/>
            </a:pPr>
            <a:r>
              <a:rPr lang="en-US" sz="1100" dirty="0">
                <a:solidFill>
                  <a:srgbClr val="575753"/>
                </a:solidFill>
                <a:latin typeface="PT Mono" pitchFamily="34" charset="0"/>
                <a:ea typeface="PT Mono" pitchFamily="34" charset="-122"/>
                <a:cs typeface="PT Mono" pitchFamily="34" charset="-120"/>
              </a:rPr>
              <a:t>stock_quantity</a:t>
            </a:r>
            <a:endParaRPr lang="en-US" sz="1100" dirty="0"/>
          </a:p>
        </p:txBody>
      </p:sp>
      <p:sp>
        <p:nvSpPr>
          <p:cNvPr id="78" name="Text 76"/>
          <p:cNvSpPr/>
          <p:nvPr/>
        </p:nvSpPr>
        <p:spPr>
          <a:xfrm>
            <a:off x="6455664" y="4123944"/>
            <a:ext cx="1746504" cy="228600"/>
          </a:xfrm>
          <a:prstGeom prst="rect">
            <a:avLst/>
          </a:prstGeom>
          <a:noFill/>
          <a:ln/>
        </p:spPr>
        <p:txBody>
          <a:bodyPr wrap="square" lIns="0" tIns="0" rIns="0" bIns="0" rtlCol="0" anchor="ctr">
            <a:normAutofit/>
          </a:bodyPr>
          <a:lstStyle/>
          <a:p>
            <a:pPr indent="0" marL="0">
              <a:buNone/>
            </a:pPr>
            <a:r>
              <a:rPr lang="en-US" sz="1100" dirty="0">
                <a:solidFill>
                  <a:srgbClr val="575753"/>
                </a:solidFill>
                <a:latin typeface="PT Mono" pitchFamily="34" charset="0"/>
                <a:ea typeface="PT Mono" pitchFamily="34" charset="-122"/>
                <a:cs typeface="PT Mono" pitchFamily="34" charset="-120"/>
              </a:rPr>
              <a:t>reorder_threshold</a:t>
            </a:r>
            <a:endParaRPr lang="en-US" sz="1100" dirty="0"/>
          </a:p>
        </p:txBody>
      </p:sp>
      <p:sp>
        <p:nvSpPr>
          <p:cNvPr id="79" name="Shape 77"/>
          <p:cNvSpPr/>
          <p:nvPr/>
        </p:nvSpPr>
        <p:spPr>
          <a:xfrm>
            <a:off x="9089136" y="2505456"/>
            <a:ext cx="2139696" cy="2167128"/>
          </a:xfrm>
          <a:prstGeom prst="roundRect">
            <a:avLst>
              <a:gd name="adj" fmla="val 2350"/>
            </a:avLst>
          </a:prstGeom>
          <a:solidFill>
            <a:srgbClr val="ECECEA"/>
          </a:solidFill>
          <a:ln w="10160">
            <a:solidFill>
              <a:srgbClr val="D0D0CB"/>
            </a:solidFill>
            <a:prstDash val="solid"/>
          </a:ln>
        </p:spPr>
      </p:sp>
      <p:sp>
        <p:nvSpPr>
          <p:cNvPr id="80" name="Text 78"/>
          <p:cNvSpPr/>
          <p:nvPr/>
        </p:nvSpPr>
        <p:spPr>
          <a:xfrm>
            <a:off x="9317736" y="2697480"/>
            <a:ext cx="1709928" cy="292608"/>
          </a:xfrm>
          <a:prstGeom prst="rect">
            <a:avLst/>
          </a:prstGeom>
          <a:noFill/>
          <a:ln/>
        </p:spPr>
        <p:txBody>
          <a:bodyPr wrap="square" lIns="0" tIns="0" rIns="0" bIns="0" rtlCol="0" anchor="ctr">
            <a:normAutofit/>
          </a:bodyPr>
          <a:lstStyle/>
          <a:p>
            <a:pPr indent="0" marL="0">
              <a:buNone/>
            </a:pPr>
            <a:r>
              <a:rPr lang="en-US" sz="1400" b="1" dirty="0">
                <a:solidFill>
                  <a:srgbClr val="B91622"/>
                </a:solidFill>
                <a:latin typeface="Inter Display" pitchFamily="34" charset="0"/>
                <a:ea typeface="Inter Display" pitchFamily="34" charset="-122"/>
                <a:cs typeface="Inter Display" pitchFamily="34" charset="-120"/>
              </a:rPr>
              <a:t>MOVEMENTS</a:t>
            </a:r>
            <a:endParaRPr lang="en-US" sz="1400" dirty="0"/>
          </a:p>
        </p:txBody>
      </p:sp>
      <p:sp>
        <p:nvSpPr>
          <p:cNvPr id="81" name="Shape 79"/>
          <p:cNvSpPr/>
          <p:nvPr/>
        </p:nvSpPr>
        <p:spPr>
          <a:xfrm>
            <a:off x="9317736" y="3090672"/>
            <a:ext cx="1655064" cy="0"/>
          </a:xfrm>
          <a:prstGeom prst="line">
            <a:avLst/>
          </a:prstGeom>
          <a:noFill/>
          <a:ln w="12700">
            <a:solidFill>
              <a:srgbClr val="D0D0CB"/>
            </a:solidFill>
            <a:prstDash val="solid"/>
            <a:headEnd type="none"/>
            <a:tailEnd type="none"/>
          </a:ln>
        </p:spPr>
      </p:sp>
      <p:sp>
        <p:nvSpPr>
          <p:cNvPr id="82" name="Text 80"/>
          <p:cNvSpPr/>
          <p:nvPr/>
        </p:nvSpPr>
        <p:spPr>
          <a:xfrm>
            <a:off x="9308592" y="3191256"/>
            <a:ext cx="1737360" cy="228600"/>
          </a:xfrm>
          <a:prstGeom prst="rect">
            <a:avLst/>
          </a:prstGeom>
          <a:noFill/>
          <a:ln/>
        </p:spPr>
        <p:txBody>
          <a:bodyPr wrap="square" lIns="0" tIns="0" rIns="0" bIns="0" rtlCol="0" anchor="ctr">
            <a:normAutofit/>
          </a:bodyPr>
          <a:lstStyle/>
          <a:p>
            <a:pPr indent="0" marL="0">
              <a:buNone/>
            </a:pPr>
            <a:r>
              <a:rPr lang="en-US" sz="1100" dirty="0">
                <a:solidFill>
                  <a:srgbClr val="575753"/>
                </a:solidFill>
                <a:latin typeface="PT Mono" pitchFamily="34" charset="0"/>
                <a:ea typeface="PT Mono" pitchFamily="34" charset="-122"/>
                <a:cs typeface="PT Mono" pitchFamily="34" charset="-120"/>
              </a:rPr>
              <a:t>product_id • FK</a:t>
            </a:r>
            <a:endParaRPr lang="en-US" sz="1100" dirty="0"/>
          </a:p>
        </p:txBody>
      </p:sp>
      <p:sp>
        <p:nvSpPr>
          <p:cNvPr id="83" name="Text 81"/>
          <p:cNvSpPr/>
          <p:nvPr/>
        </p:nvSpPr>
        <p:spPr>
          <a:xfrm>
            <a:off x="9308592" y="3502152"/>
            <a:ext cx="1737360" cy="228600"/>
          </a:xfrm>
          <a:prstGeom prst="rect">
            <a:avLst/>
          </a:prstGeom>
          <a:noFill/>
          <a:ln/>
        </p:spPr>
        <p:txBody>
          <a:bodyPr wrap="square" lIns="0" tIns="0" rIns="0" bIns="0" rtlCol="0" anchor="ctr">
            <a:normAutofit/>
          </a:bodyPr>
          <a:lstStyle/>
          <a:p>
            <a:pPr indent="0" marL="0">
              <a:buNone/>
            </a:pPr>
            <a:r>
              <a:rPr lang="en-US" sz="1100" dirty="0">
                <a:solidFill>
                  <a:srgbClr val="575753"/>
                </a:solidFill>
                <a:latin typeface="PT Mono" pitchFamily="34" charset="0"/>
                <a:ea typeface="PT Mono" pitchFamily="34" charset="-122"/>
                <a:cs typeface="PT Mono" pitchFamily="34" charset="-120"/>
              </a:rPr>
              <a:t>quantity_change</a:t>
            </a:r>
            <a:endParaRPr lang="en-US" sz="1100" dirty="0"/>
          </a:p>
        </p:txBody>
      </p:sp>
      <p:sp>
        <p:nvSpPr>
          <p:cNvPr id="84" name="Text 82"/>
          <p:cNvSpPr/>
          <p:nvPr/>
        </p:nvSpPr>
        <p:spPr>
          <a:xfrm>
            <a:off x="9308592" y="3813048"/>
            <a:ext cx="1737360" cy="228600"/>
          </a:xfrm>
          <a:prstGeom prst="rect">
            <a:avLst/>
          </a:prstGeom>
          <a:noFill/>
          <a:ln/>
        </p:spPr>
        <p:txBody>
          <a:bodyPr wrap="square" lIns="0" tIns="0" rIns="0" bIns="0" rtlCol="0" anchor="ctr">
            <a:normAutofit/>
          </a:bodyPr>
          <a:lstStyle/>
          <a:p>
            <a:pPr indent="0" marL="0">
              <a:buNone/>
            </a:pPr>
            <a:r>
              <a:rPr lang="en-US" sz="1100" dirty="0">
                <a:solidFill>
                  <a:srgbClr val="575753"/>
                </a:solidFill>
                <a:latin typeface="PT Mono" pitchFamily="34" charset="0"/>
                <a:ea typeface="PT Mono" pitchFamily="34" charset="-122"/>
                <a:cs typeface="PT Mono" pitchFamily="34" charset="-120"/>
              </a:rPr>
              <a:t>quantity_after</a:t>
            </a:r>
            <a:endParaRPr lang="en-US" sz="1100" dirty="0"/>
          </a:p>
        </p:txBody>
      </p:sp>
      <p:sp>
        <p:nvSpPr>
          <p:cNvPr id="85" name="Text 83"/>
          <p:cNvSpPr/>
          <p:nvPr/>
        </p:nvSpPr>
        <p:spPr>
          <a:xfrm>
            <a:off x="9308592" y="4123944"/>
            <a:ext cx="1737360" cy="228600"/>
          </a:xfrm>
          <a:prstGeom prst="rect">
            <a:avLst/>
          </a:prstGeom>
          <a:noFill/>
          <a:ln/>
        </p:spPr>
        <p:txBody>
          <a:bodyPr wrap="square" lIns="0" tIns="0" rIns="0" bIns="0" rtlCol="0" anchor="ctr">
            <a:normAutofit/>
          </a:bodyPr>
          <a:lstStyle/>
          <a:p>
            <a:pPr indent="0" marL="0">
              <a:buNone/>
            </a:pPr>
            <a:r>
              <a:rPr lang="en-US" sz="1100" dirty="0">
                <a:solidFill>
                  <a:srgbClr val="575753"/>
                </a:solidFill>
                <a:latin typeface="PT Mono" pitchFamily="34" charset="0"/>
                <a:ea typeface="PT Mono" pitchFamily="34" charset="-122"/>
                <a:cs typeface="PT Mono" pitchFamily="34" charset="-120"/>
              </a:rPr>
              <a:t>reason + snapshot</a:t>
            </a:r>
            <a:endParaRPr lang="en-US" sz="1100" dirty="0"/>
          </a:p>
        </p:txBody>
      </p:sp>
      <p:sp>
        <p:nvSpPr>
          <p:cNvPr id="86" name="Shape 84"/>
          <p:cNvSpPr/>
          <p:nvPr/>
        </p:nvSpPr>
        <p:spPr>
          <a:xfrm>
            <a:off x="8467344" y="3538728"/>
            <a:ext cx="603504" cy="0"/>
          </a:xfrm>
          <a:prstGeom prst="line">
            <a:avLst/>
          </a:prstGeom>
          <a:noFill/>
          <a:ln w="24130">
            <a:solidFill>
              <a:srgbClr val="B91622"/>
            </a:solidFill>
            <a:prstDash val="solid"/>
            <a:headEnd type="none"/>
            <a:tailEnd type="triangle"/>
          </a:ln>
        </p:spPr>
      </p:sp>
      <p:sp>
        <p:nvSpPr>
          <p:cNvPr id="87" name="Shape 85"/>
          <p:cNvSpPr/>
          <p:nvPr/>
        </p:nvSpPr>
        <p:spPr>
          <a:xfrm>
            <a:off x="6217920" y="4983480"/>
            <a:ext cx="5038344" cy="502920"/>
          </a:xfrm>
          <a:prstGeom prst="roundRect">
            <a:avLst>
              <a:gd name="adj" fmla="val 18182"/>
            </a:avLst>
          </a:prstGeom>
          <a:solidFill>
            <a:srgbClr val="E3E3E1"/>
          </a:solidFill>
          <a:ln w="12700">
            <a:solidFill>
              <a:srgbClr val="E3E3E1">
                <a:alpha val="0"/>
              </a:srgbClr>
            </a:solidFill>
            <a:prstDash val="solid"/>
          </a:ln>
        </p:spPr>
      </p:sp>
      <p:sp>
        <p:nvSpPr>
          <p:cNvPr id="88" name="Text 86"/>
          <p:cNvSpPr/>
          <p:nvPr/>
        </p:nvSpPr>
        <p:spPr>
          <a:xfrm>
            <a:off x="6464808" y="5093208"/>
            <a:ext cx="4645152" cy="256032"/>
          </a:xfrm>
          <a:prstGeom prst="rect">
            <a:avLst/>
          </a:prstGeom>
          <a:noFill/>
          <a:ln/>
        </p:spPr>
        <p:txBody>
          <a:bodyPr wrap="square" lIns="0" tIns="0" rIns="0" bIns="0" rtlCol="0" anchor="ctr">
            <a:normAutofit/>
          </a:bodyPr>
          <a:lstStyle/>
          <a:p>
            <a:pPr indent="0" marL="0">
              <a:buNone/>
            </a:pPr>
            <a:r>
              <a:rPr lang="en-US" sz="1100" b="1" dirty="0">
                <a:solidFill>
                  <a:srgbClr val="303030"/>
                </a:solidFill>
                <a:latin typeface="PT Mono" pitchFamily="34" charset="0"/>
                <a:ea typeface="PT Mono" pitchFamily="34" charset="-122"/>
                <a:cs typeface="PT Mono" pitchFamily="34" charset="-120"/>
              </a:rPr>
              <a:t>Atomic update + movement insert in one transaction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06 / DOCKER + TESTING</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Quality first, before images ship</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Reproducible local stack, isolated test data, and browser acceptance.</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07 / 16</a:t>
            </a:r>
            <a:endParaRPr lang="en-US" sz="850" dirty="0"/>
          </a:p>
        </p:txBody>
      </p:sp>
      <p:sp>
        <p:nvSpPr>
          <p:cNvPr id="48" name="Shape 46"/>
          <p:cNvSpPr/>
          <p:nvPr/>
        </p:nvSpPr>
        <p:spPr>
          <a:xfrm>
            <a:off x="612648" y="1792224"/>
            <a:ext cx="3566160" cy="1325880"/>
          </a:xfrm>
          <a:prstGeom prst="roundRect">
            <a:avLst>
              <a:gd name="adj" fmla="val 3793"/>
            </a:avLst>
          </a:prstGeom>
          <a:solidFill>
            <a:srgbClr val="FFFFFF"/>
          </a:solidFill>
          <a:ln w="10160">
            <a:solidFill>
              <a:srgbClr val="D0D0CB"/>
            </a:solidFill>
            <a:prstDash val="solid"/>
          </a:ln>
        </p:spPr>
      </p:sp>
      <p:sp>
        <p:nvSpPr>
          <p:cNvPr id="49" name="Text 47"/>
          <p:cNvSpPr/>
          <p:nvPr/>
        </p:nvSpPr>
        <p:spPr>
          <a:xfrm>
            <a:off x="832104" y="2002536"/>
            <a:ext cx="3163824" cy="548640"/>
          </a:xfrm>
          <a:prstGeom prst="rect">
            <a:avLst/>
          </a:prstGeom>
          <a:noFill/>
          <a:ln/>
        </p:spPr>
        <p:txBody>
          <a:bodyPr wrap="square" lIns="0" tIns="0" rIns="0" bIns="0" rtlCol="0" anchor="ctr">
            <a:normAutofit/>
          </a:bodyPr>
          <a:lstStyle/>
          <a:p>
            <a:pPr indent="0" marL="0">
              <a:buNone/>
            </a:pPr>
            <a:r>
              <a:rPr lang="en-US" sz="3500" b="1" dirty="0">
                <a:solidFill>
                  <a:srgbClr val="D71928"/>
                </a:solidFill>
                <a:latin typeface="Inter Display" pitchFamily="34" charset="0"/>
                <a:ea typeface="Inter Display" pitchFamily="34" charset="-122"/>
                <a:cs typeface="Inter Display" pitchFamily="34" charset="-120"/>
              </a:rPr>
              <a:t>44</a:t>
            </a:r>
            <a:endParaRPr lang="en-US" sz="3500" dirty="0"/>
          </a:p>
        </p:txBody>
      </p:sp>
      <p:sp>
        <p:nvSpPr>
          <p:cNvPr id="50" name="Text 48"/>
          <p:cNvSpPr/>
          <p:nvPr/>
        </p:nvSpPr>
        <p:spPr>
          <a:xfrm>
            <a:off x="850392" y="2642616"/>
            <a:ext cx="3154680" cy="246888"/>
          </a:xfrm>
          <a:prstGeom prst="rect">
            <a:avLst/>
          </a:prstGeom>
          <a:noFill/>
          <a:ln/>
        </p:spPr>
        <p:txBody>
          <a:bodyPr wrap="square" lIns="0" tIns="0" rIns="0" bIns="0" rtlCol="0" anchor="ctr">
            <a:normAutofit/>
          </a:bodyPr>
          <a:lstStyle/>
          <a:p>
            <a:pPr indent="0" marL="0">
              <a:buNone/>
            </a:pPr>
            <a:r>
              <a:rPr lang="en-US" sz="1200" b="1" dirty="0">
                <a:solidFill>
                  <a:srgbClr val="575753"/>
                </a:solidFill>
                <a:latin typeface="Inter Display" pitchFamily="34" charset="0"/>
                <a:ea typeface="Inter Display" pitchFamily="34" charset="-122"/>
                <a:cs typeface="Inter Display" pitchFamily="34" charset="-120"/>
              </a:rPr>
              <a:t>PostgreSQL tests passed</a:t>
            </a:r>
            <a:endParaRPr lang="en-US" sz="1200" dirty="0"/>
          </a:p>
        </p:txBody>
      </p:sp>
      <p:sp>
        <p:nvSpPr>
          <p:cNvPr id="51" name="Shape 49"/>
          <p:cNvSpPr/>
          <p:nvPr/>
        </p:nvSpPr>
        <p:spPr>
          <a:xfrm>
            <a:off x="4443984" y="1792224"/>
            <a:ext cx="3566160" cy="1325880"/>
          </a:xfrm>
          <a:prstGeom prst="roundRect">
            <a:avLst>
              <a:gd name="adj" fmla="val 3793"/>
            </a:avLst>
          </a:prstGeom>
          <a:solidFill>
            <a:srgbClr val="FFFFFF"/>
          </a:solidFill>
          <a:ln w="10160">
            <a:solidFill>
              <a:srgbClr val="D0D0CB"/>
            </a:solidFill>
            <a:prstDash val="solid"/>
          </a:ln>
        </p:spPr>
      </p:sp>
      <p:sp>
        <p:nvSpPr>
          <p:cNvPr id="52" name="Text 50"/>
          <p:cNvSpPr/>
          <p:nvPr/>
        </p:nvSpPr>
        <p:spPr>
          <a:xfrm>
            <a:off x="4663440" y="2002536"/>
            <a:ext cx="3163824" cy="548640"/>
          </a:xfrm>
          <a:prstGeom prst="rect">
            <a:avLst/>
          </a:prstGeom>
          <a:noFill/>
          <a:ln/>
        </p:spPr>
        <p:txBody>
          <a:bodyPr wrap="square" lIns="0" tIns="0" rIns="0" bIns="0" rtlCol="0" anchor="ctr">
            <a:normAutofit/>
          </a:bodyPr>
          <a:lstStyle/>
          <a:p>
            <a:pPr indent="0" marL="0">
              <a:buNone/>
            </a:pPr>
            <a:r>
              <a:rPr lang="en-US" sz="2900" b="1" dirty="0">
                <a:solidFill>
                  <a:srgbClr val="D71928"/>
                </a:solidFill>
                <a:latin typeface="Inter Display" pitchFamily="34" charset="0"/>
                <a:ea typeface="Inter Display" pitchFamily="34" charset="-122"/>
                <a:cs typeface="Inter Display" pitchFamily="34" charset="-120"/>
              </a:rPr>
              <a:t>97.67%</a:t>
            </a:r>
            <a:endParaRPr lang="en-US" sz="2900" dirty="0"/>
          </a:p>
        </p:txBody>
      </p:sp>
      <p:sp>
        <p:nvSpPr>
          <p:cNvPr id="53" name="Text 51"/>
          <p:cNvSpPr/>
          <p:nvPr/>
        </p:nvSpPr>
        <p:spPr>
          <a:xfrm>
            <a:off x="4681728" y="2642616"/>
            <a:ext cx="3154680" cy="246888"/>
          </a:xfrm>
          <a:prstGeom prst="rect">
            <a:avLst/>
          </a:prstGeom>
          <a:noFill/>
          <a:ln/>
        </p:spPr>
        <p:txBody>
          <a:bodyPr wrap="square" lIns="0" tIns="0" rIns="0" bIns="0" rtlCol="0" anchor="ctr">
            <a:normAutofit/>
          </a:bodyPr>
          <a:lstStyle/>
          <a:p>
            <a:pPr indent="0" marL="0">
              <a:buNone/>
            </a:pPr>
            <a:r>
              <a:rPr lang="en-US" sz="1200" b="1" dirty="0">
                <a:solidFill>
                  <a:srgbClr val="575753"/>
                </a:solidFill>
                <a:latin typeface="Inter Display" pitchFamily="34" charset="0"/>
                <a:ea typeface="Inter Display" pitchFamily="34" charset="-122"/>
                <a:cs typeface="Inter Display" pitchFamily="34" charset="-120"/>
              </a:rPr>
              <a:t>Backend coverage</a:t>
            </a:r>
            <a:endParaRPr lang="en-US" sz="1200" dirty="0"/>
          </a:p>
        </p:txBody>
      </p:sp>
      <p:sp>
        <p:nvSpPr>
          <p:cNvPr id="54" name="Shape 52"/>
          <p:cNvSpPr/>
          <p:nvPr/>
        </p:nvSpPr>
        <p:spPr>
          <a:xfrm>
            <a:off x="8275320" y="1792224"/>
            <a:ext cx="3566160" cy="1325880"/>
          </a:xfrm>
          <a:prstGeom prst="roundRect">
            <a:avLst>
              <a:gd name="adj" fmla="val 3793"/>
            </a:avLst>
          </a:prstGeom>
          <a:solidFill>
            <a:srgbClr val="FFFFFF"/>
          </a:solidFill>
          <a:ln w="10160">
            <a:solidFill>
              <a:srgbClr val="D0D0CB"/>
            </a:solidFill>
            <a:prstDash val="solid"/>
          </a:ln>
        </p:spPr>
      </p:sp>
      <p:sp>
        <p:nvSpPr>
          <p:cNvPr id="55" name="Text 53"/>
          <p:cNvSpPr/>
          <p:nvPr/>
        </p:nvSpPr>
        <p:spPr>
          <a:xfrm>
            <a:off x="8494776" y="2002536"/>
            <a:ext cx="3163824" cy="548640"/>
          </a:xfrm>
          <a:prstGeom prst="rect">
            <a:avLst/>
          </a:prstGeom>
          <a:noFill/>
          <a:ln/>
        </p:spPr>
        <p:txBody>
          <a:bodyPr wrap="square" lIns="0" tIns="0" rIns="0" bIns="0" rtlCol="0" anchor="ctr">
            <a:normAutofit/>
          </a:bodyPr>
          <a:lstStyle/>
          <a:p>
            <a:pPr indent="0" marL="0">
              <a:buNone/>
            </a:pPr>
            <a:r>
              <a:rPr lang="en-US" sz="3500" b="1" dirty="0">
                <a:solidFill>
                  <a:srgbClr val="D71928"/>
                </a:solidFill>
                <a:latin typeface="Inter Display" pitchFamily="34" charset="0"/>
                <a:ea typeface="Inter Display" pitchFamily="34" charset="-122"/>
                <a:cs typeface="Inter Display" pitchFamily="34" charset="-120"/>
              </a:rPr>
              <a:t>4</a:t>
            </a:r>
            <a:endParaRPr lang="en-US" sz="3500" dirty="0"/>
          </a:p>
        </p:txBody>
      </p:sp>
      <p:sp>
        <p:nvSpPr>
          <p:cNvPr id="56" name="Text 54"/>
          <p:cNvSpPr/>
          <p:nvPr/>
        </p:nvSpPr>
        <p:spPr>
          <a:xfrm>
            <a:off x="8513064" y="2642616"/>
            <a:ext cx="3154680" cy="246888"/>
          </a:xfrm>
          <a:prstGeom prst="rect">
            <a:avLst/>
          </a:prstGeom>
          <a:noFill/>
          <a:ln/>
        </p:spPr>
        <p:txBody>
          <a:bodyPr wrap="square" lIns="0" tIns="0" rIns="0" bIns="0" rtlCol="0" anchor="ctr">
            <a:normAutofit/>
          </a:bodyPr>
          <a:lstStyle/>
          <a:p>
            <a:pPr indent="0" marL="0">
              <a:buNone/>
            </a:pPr>
            <a:r>
              <a:rPr lang="en-US" sz="1200" b="1" dirty="0">
                <a:solidFill>
                  <a:srgbClr val="575753"/>
                </a:solidFill>
                <a:latin typeface="Inter Display" pitchFamily="34" charset="0"/>
                <a:ea typeface="Inter Display" pitchFamily="34" charset="-122"/>
                <a:cs typeface="Inter Display" pitchFamily="34" charset="-120"/>
              </a:rPr>
              <a:t>E2E browser scenarios</a:t>
            </a:r>
            <a:endParaRPr lang="en-US" sz="1200" dirty="0"/>
          </a:p>
        </p:txBody>
      </p:sp>
      <p:sp>
        <p:nvSpPr>
          <p:cNvPr id="57" name="Shape 55"/>
          <p:cNvSpPr/>
          <p:nvPr/>
        </p:nvSpPr>
        <p:spPr>
          <a:xfrm>
            <a:off x="630936" y="3438144"/>
            <a:ext cx="5303520" cy="2331720"/>
          </a:xfrm>
          <a:prstGeom prst="roundRect">
            <a:avLst>
              <a:gd name="adj" fmla="val 2157"/>
            </a:avLst>
          </a:prstGeom>
          <a:solidFill>
            <a:srgbClr val="FFFFFF"/>
          </a:solidFill>
          <a:ln w="10160">
            <a:solidFill>
              <a:srgbClr val="D0D0CB"/>
            </a:solidFill>
            <a:prstDash val="solid"/>
          </a:ln>
        </p:spPr>
      </p:sp>
      <p:sp>
        <p:nvSpPr>
          <p:cNvPr id="58" name="Text 56"/>
          <p:cNvSpPr/>
          <p:nvPr/>
        </p:nvSpPr>
        <p:spPr>
          <a:xfrm>
            <a:off x="932688" y="3703320"/>
            <a:ext cx="3950208" cy="310896"/>
          </a:xfrm>
          <a:prstGeom prst="rect">
            <a:avLst/>
          </a:prstGeom>
          <a:noFill/>
          <a:ln/>
        </p:spPr>
        <p:txBody>
          <a:bodyPr wrap="square" lIns="0" tIns="0" rIns="0" bIns="0" rtlCol="0" anchor="ctr">
            <a:normAutofit/>
          </a:bodyPr>
          <a:lstStyle/>
          <a:p>
            <a:pPr indent="0" marL="0">
              <a:buNone/>
            </a:pPr>
            <a:r>
              <a:rPr lang="en-US" sz="1300" b="1" spc="70" kern="0" dirty="0">
                <a:solidFill>
                  <a:srgbClr val="B91622"/>
                </a:solidFill>
                <a:latin typeface="Inter Display" pitchFamily="34" charset="0"/>
                <a:ea typeface="Inter Display" pitchFamily="34" charset="-122"/>
                <a:cs typeface="Inter Display" pitchFamily="34" charset="-120"/>
              </a:rPr>
              <a:t>LOCAL COMPOSE STACK</a:t>
            </a:r>
            <a:endParaRPr lang="en-US" sz="1300" dirty="0"/>
          </a:p>
        </p:txBody>
      </p:sp>
      <p:sp>
        <p:nvSpPr>
          <p:cNvPr id="59" name="Shape 57"/>
          <p:cNvSpPr/>
          <p:nvPr/>
        </p:nvSpPr>
        <p:spPr>
          <a:xfrm>
            <a:off x="932688" y="4306824"/>
            <a:ext cx="1435608" cy="822960"/>
          </a:xfrm>
          <a:prstGeom prst="roundRect">
            <a:avLst>
              <a:gd name="adj" fmla="val 13333"/>
            </a:avLst>
          </a:prstGeom>
          <a:solidFill>
            <a:srgbClr val="ECECEA"/>
          </a:solidFill>
          <a:ln w="10160">
            <a:solidFill>
              <a:srgbClr val="D0D0CB"/>
            </a:solidFill>
            <a:prstDash val="solid"/>
          </a:ln>
        </p:spPr>
      </p:sp>
      <p:sp>
        <p:nvSpPr>
          <p:cNvPr id="60" name="Text 58"/>
          <p:cNvSpPr/>
          <p:nvPr/>
        </p:nvSpPr>
        <p:spPr>
          <a:xfrm>
            <a:off x="1042416" y="4489704"/>
            <a:ext cx="1243584" cy="201168"/>
          </a:xfrm>
          <a:prstGeom prst="rect">
            <a:avLst/>
          </a:prstGeom>
          <a:noFill/>
          <a:ln/>
        </p:spPr>
        <p:txBody>
          <a:bodyPr wrap="square" lIns="0" tIns="0" rIns="0" bIns="0" rtlCol="0" anchor="ctr">
            <a:normAutofit/>
          </a:bodyPr>
          <a:lstStyle/>
          <a:p>
            <a:pPr algn="ctr" indent="0" marL="0">
              <a:buNone/>
            </a:pPr>
            <a:r>
              <a:rPr lang="en-US" sz="1000" b="1" dirty="0">
                <a:solidFill>
                  <a:srgbClr val="101010"/>
                </a:solidFill>
                <a:latin typeface="PT Mono" pitchFamily="34" charset="0"/>
                <a:ea typeface="PT Mono" pitchFamily="34" charset="-122"/>
                <a:cs typeface="PT Mono" pitchFamily="34" charset="-120"/>
              </a:rPr>
              <a:t>REACT + NGINX</a:t>
            </a:r>
            <a:endParaRPr lang="en-US" sz="1000" dirty="0"/>
          </a:p>
        </p:txBody>
      </p:sp>
      <p:sp>
        <p:nvSpPr>
          <p:cNvPr id="61" name="Text 59"/>
          <p:cNvSpPr/>
          <p:nvPr/>
        </p:nvSpPr>
        <p:spPr>
          <a:xfrm>
            <a:off x="1042416" y="4809744"/>
            <a:ext cx="1243584" cy="182880"/>
          </a:xfrm>
          <a:prstGeom prst="rect">
            <a:avLst/>
          </a:prstGeom>
          <a:noFill/>
          <a:ln/>
        </p:spPr>
        <p:txBody>
          <a:bodyPr wrap="square" lIns="0" tIns="0" rIns="0" bIns="0" rtlCol="0" anchor="ctr">
            <a:normAutofit/>
          </a:bodyPr>
          <a:lstStyle/>
          <a:p>
            <a:pPr algn="ctr" indent="0" marL="0">
              <a:buNone/>
            </a:pPr>
            <a:r>
              <a:rPr lang="en-US" sz="800" dirty="0">
                <a:solidFill>
                  <a:srgbClr val="575753"/>
                </a:solidFill>
                <a:latin typeface="PT Mono" pitchFamily="34" charset="0"/>
                <a:ea typeface="PT Mono" pitchFamily="34" charset="-122"/>
                <a:cs typeface="PT Mono" pitchFamily="34" charset="-120"/>
              </a:rPr>
              <a:t>Port 3000</a:t>
            </a:r>
            <a:endParaRPr lang="en-US" sz="800" dirty="0"/>
          </a:p>
        </p:txBody>
      </p:sp>
      <p:sp>
        <p:nvSpPr>
          <p:cNvPr id="62" name="Shape 60"/>
          <p:cNvSpPr/>
          <p:nvPr/>
        </p:nvSpPr>
        <p:spPr>
          <a:xfrm>
            <a:off x="2578608" y="4306824"/>
            <a:ext cx="1435608" cy="822960"/>
          </a:xfrm>
          <a:prstGeom prst="roundRect">
            <a:avLst>
              <a:gd name="adj" fmla="val 13333"/>
            </a:avLst>
          </a:prstGeom>
          <a:solidFill>
            <a:srgbClr val="ECECEA"/>
          </a:solidFill>
          <a:ln w="10160">
            <a:solidFill>
              <a:srgbClr val="D0D0CB"/>
            </a:solidFill>
            <a:prstDash val="solid"/>
          </a:ln>
        </p:spPr>
      </p:sp>
      <p:sp>
        <p:nvSpPr>
          <p:cNvPr id="63" name="Text 61"/>
          <p:cNvSpPr/>
          <p:nvPr/>
        </p:nvSpPr>
        <p:spPr>
          <a:xfrm>
            <a:off x="2688336" y="4489704"/>
            <a:ext cx="1243584" cy="201168"/>
          </a:xfrm>
          <a:prstGeom prst="rect">
            <a:avLst/>
          </a:prstGeom>
          <a:noFill/>
          <a:ln/>
        </p:spPr>
        <p:txBody>
          <a:bodyPr wrap="square" lIns="0" tIns="0" rIns="0" bIns="0" rtlCol="0" anchor="ctr">
            <a:normAutofit/>
          </a:bodyPr>
          <a:lstStyle/>
          <a:p>
            <a:pPr algn="ctr" indent="0" marL="0">
              <a:buNone/>
            </a:pPr>
            <a:r>
              <a:rPr lang="en-US" sz="1000" b="1" dirty="0">
                <a:solidFill>
                  <a:srgbClr val="101010"/>
                </a:solidFill>
                <a:latin typeface="PT Mono" pitchFamily="34" charset="0"/>
                <a:ea typeface="PT Mono" pitchFamily="34" charset="-122"/>
                <a:cs typeface="PT Mono" pitchFamily="34" charset="-120"/>
              </a:rPr>
              <a:t>FASTAPI</a:t>
            </a:r>
            <a:endParaRPr lang="en-US" sz="1000" dirty="0"/>
          </a:p>
        </p:txBody>
      </p:sp>
      <p:sp>
        <p:nvSpPr>
          <p:cNvPr id="64" name="Text 62"/>
          <p:cNvSpPr/>
          <p:nvPr/>
        </p:nvSpPr>
        <p:spPr>
          <a:xfrm>
            <a:off x="2688336" y="4809744"/>
            <a:ext cx="1243584" cy="182880"/>
          </a:xfrm>
          <a:prstGeom prst="rect">
            <a:avLst/>
          </a:prstGeom>
          <a:noFill/>
          <a:ln/>
        </p:spPr>
        <p:txBody>
          <a:bodyPr wrap="square" lIns="0" tIns="0" rIns="0" bIns="0" rtlCol="0" anchor="ctr">
            <a:normAutofit/>
          </a:bodyPr>
          <a:lstStyle/>
          <a:p>
            <a:pPr algn="ctr" indent="0" marL="0">
              <a:buNone/>
            </a:pPr>
            <a:r>
              <a:rPr lang="en-US" sz="800" dirty="0">
                <a:solidFill>
                  <a:srgbClr val="575753"/>
                </a:solidFill>
                <a:latin typeface="PT Mono" pitchFamily="34" charset="0"/>
                <a:ea typeface="PT Mono" pitchFamily="34" charset="-122"/>
                <a:cs typeface="PT Mono" pitchFamily="34" charset="-120"/>
              </a:rPr>
              <a:t>Port 8000</a:t>
            </a:r>
            <a:endParaRPr lang="en-US" sz="800" dirty="0"/>
          </a:p>
        </p:txBody>
      </p:sp>
      <p:sp>
        <p:nvSpPr>
          <p:cNvPr id="65" name="Shape 63"/>
          <p:cNvSpPr/>
          <p:nvPr/>
        </p:nvSpPr>
        <p:spPr>
          <a:xfrm>
            <a:off x="4224528" y="4306824"/>
            <a:ext cx="1435608" cy="822960"/>
          </a:xfrm>
          <a:prstGeom prst="roundRect">
            <a:avLst>
              <a:gd name="adj" fmla="val 13333"/>
            </a:avLst>
          </a:prstGeom>
          <a:solidFill>
            <a:srgbClr val="ECECEA"/>
          </a:solidFill>
          <a:ln w="10160">
            <a:solidFill>
              <a:srgbClr val="D0D0CB"/>
            </a:solidFill>
            <a:prstDash val="solid"/>
          </a:ln>
        </p:spPr>
      </p:sp>
      <p:sp>
        <p:nvSpPr>
          <p:cNvPr id="66" name="Text 64"/>
          <p:cNvSpPr/>
          <p:nvPr/>
        </p:nvSpPr>
        <p:spPr>
          <a:xfrm>
            <a:off x="4334256" y="4489704"/>
            <a:ext cx="1243584" cy="201168"/>
          </a:xfrm>
          <a:prstGeom prst="rect">
            <a:avLst/>
          </a:prstGeom>
          <a:noFill/>
          <a:ln/>
        </p:spPr>
        <p:txBody>
          <a:bodyPr wrap="square" lIns="0" tIns="0" rIns="0" bIns="0" rtlCol="0" anchor="ctr">
            <a:normAutofit/>
          </a:bodyPr>
          <a:lstStyle/>
          <a:p>
            <a:pPr algn="ctr" indent="0" marL="0">
              <a:buNone/>
            </a:pPr>
            <a:r>
              <a:rPr lang="en-US" sz="1000" b="1" dirty="0">
                <a:solidFill>
                  <a:srgbClr val="101010"/>
                </a:solidFill>
                <a:latin typeface="PT Mono" pitchFamily="34" charset="0"/>
                <a:ea typeface="PT Mono" pitchFamily="34" charset="-122"/>
                <a:cs typeface="PT Mono" pitchFamily="34" charset="-120"/>
              </a:rPr>
              <a:t>POSTGRESQL</a:t>
            </a:r>
            <a:endParaRPr lang="en-US" sz="1000" dirty="0"/>
          </a:p>
        </p:txBody>
      </p:sp>
      <p:sp>
        <p:nvSpPr>
          <p:cNvPr id="67" name="Text 65"/>
          <p:cNvSpPr/>
          <p:nvPr/>
        </p:nvSpPr>
        <p:spPr>
          <a:xfrm>
            <a:off x="4334256" y="4809744"/>
            <a:ext cx="1243584" cy="182880"/>
          </a:xfrm>
          <a:prstGeom prst="rect">
            <a:avLst/>
          </a:prstGeom>
          <a:noFill/>
          <a:ln/>
        </p:spPr>
        <p:txBody>
          <a:bodyPr wrap="square" lIns="0" tIns="0" rIns="0" bIns="0" rtlCol="0" anchor="ctr">
            <a:normAutofit/>
          </a:bodyPr>
          <a:lstStyle/>
          <a:p>
            <a:pPr algn="ctr" indent="0" marL="0">
              <a:buNone/>
            </a:pPr>
            <a:r>
              <a:rPr lang="en-US" sz="800" dirty="0">
                <a:solidFill>
                  <a:srgbClr val="575753"/>
                </a:solidFill>
                <a:latin typeface="PT Mono" pitchFamily="34" charset="0"/>
                <a:ea typeface="PT Mono" pitchFamily="34" charset="-122"/>
                <a:cs typeface="PT Mono" pitchFamily="34" charset="-120"/>
              </a:rPr>
              <a:t>Persistent volume</a:t>
            </a:r>
            <a:endParaRPr lang="en-US" sz="800" dirty="0"/>
          </a:p>
        </p:txBody>
      </p:sp>
      <p:sp>
        <p:nvSpPr>
          <p:cNvPr id="68" name="Shape 66"/>
          <p:cNvSpPr/>
          <p:nvPr/>
        </p:nvSpPr>
        <p:spPr>
          <a:xfrm>
            <a:off x="6190488" y="3438144"/>
            <a:ext cx="5340096" cy="2331720"/>
          </a:xfrm>
          <a:prstGeom prst="roundRect">
            <a:avLst>
              <a:gd name="adj" fmla="val 2157"/>
            </a:avLst>
          </a:prstGeom>
          <a:solidFill>
            <a:srgbClr val="FFFFFF"/>
          </a:solidFill>
          <a:ln w="10160">
            <a:solidFill>
              <a:srgbClr val="D0D0CB"/>
            </a:solidFill>
            <a:prstDash val="solid"/>
          </a:ln>
        </p:spPr>
      </p:sp>
      <p:sp>
        <p:nvSpPr>
          <p:cNvPr id="69" name="Text 67"/>
          <p:cNvSpPr/>
          <p:nvPr/>
        </p:nvSpPr>
        <p:spPr>
          <a:xfrm>
            <a:off x="6473952" y="3712464"/>
            <a:ext cx="4315968" cy="283464"/>
          </a:xfrm>
          <a:prstGeom prst="rect">
            <a:avLst/>
          </a:prstGeom>
          <a:noFill/>
          <a:ln/>
        </p:spPr>
        <p:txBody>
          <a:bodyPr wrap="square" lIns="0" tIns="0" rIns="0" bIns="0" rtlCol="0" anchor="ctr">
            <a:normAutofit/>
          </a:bodyPr>
          <a:lstStyle/>
          <a:p>
            <a:pPr indent="0" marL="0">
              <a:buNone/>
            </a:pPr>
            <a:r>
              <a:rPr lang="en-US" sz="1300" b="1" spc="70" kern="0" dirty="0">
                <a:solidFill>
                  <a:srgbClr val="B91622"/>
                </a:solidFill>
                <a:latin typeface="Inter Display" pitchFamily="34" charset="0"/>
                <a:ea typeface="Inter Display" pitchFamily="34" charset="-122"/>
                <a:cs typeface="Inter Display" pitchFamily="34" charset="-120"/>
              </a:rPr>
              <a:t>RELEASE HYGIENE</a:t>
            </a:r>
            <a:endParaRPr lang="en-US" sz="1300" dirty="0"/>
          </a:p>
        </p:txBody>
      </p:sp>
      <p:sp>
        <p:nvSpPr>
          <p:cNvPr id="70" name="Shape 68"/>
          <p:cNvSpPr/>
          <p:nvPr/>
        </p:nvSpPr>
        <p:spPr>
          <a:xfrm>
            <a:off x="6501384" y="4242816"/>
            <a:ext cx="91440" cy="91440"/>
          </a:xfrm>
          <a:prstGeom prst="ellipse">
            <a:avLst/>
          </a:prstGeom>
          <a:solidFill>
            <a:srgbClr val="D71928"/>
          </a:solidFill>
          <a:ln w="12700">
            <a:solidFill>
              <a:srgbClr val="D71928">
                <a:alpha val="0"/>
              </a:srgbClr>
            </a:solidFill>
            <a:prstDash val="solid"/>
          </a:ln>
        </p:spPr>
      </p:sp>
      <p:sp>
        <p:nvSpPr>
          <p:cNvPr id="71" name="Text 69"/>
          <p:cNvSpPr/>
          <p:nvPr/>
        </p:nvSpPr>
        <p:spPr>
          <a:xfrm>
            <a:off x="6675120" y="4160520"/>
            <a:ext cx="1499616" cy="192024"/>
          </a:xfrm>
          <a:prstGeom prst="rect">
            <a:avLst/>
          </a:prstGeom>
          <a:noFill/>
          <a:ln/>
        </p:spPr>
        <p:txBody>
          <a:bodyPr wrap="square" lIns="0" tIns="0" rIns="0" bIns="0" rtlCol="0" anchor="ctr">
            <a:normAutofit/>
          </a:bodyPr>
          <a:lstStyle/>
          <a:p>
            <a:pPr indent="0" marL="0">
              <a:buNone/>
            </a:pPr>
            <a:r>
              <a:rPr lang="en-US" sz="1020" b="1" dirty="0">
                <a:solidFill>
                  <a:srgbClr val="101010"/>
                </a:solidFill>
                <a:latin typeface="PT Mono" pitchFamily="34" charset="0"/>
                <a:ea typeface="PT Mono" pitchFamily="34" charset="-122"/>
                <a:cs typeface="PT Mono" pitchFamily="34" charset="-120"/>
              </a:rPr>
              <a:t>Python testing</a:t>
            </a:r>
            <a:endParaRPr lang="en-US" sz="1020" dirty="0"/>
          </a:p>
        </p:txBody>
      </p:sp>
      <p:sp>
        <p:nvSpPr>
          <p:cNvPr id="72" name="Text 70"/>
          <p:cNvSpPr/>
          <p:nvPr/>
        </p:nvSpPr>
        <p:spPr>
          <a:xfrm>
            <a:off x="8193024" y="4160520"/>
            <a:ext cx="2880360" cy="219456"/>
          </a:xfrm>
          <a:prstGeom prst="rect">
            <a:avLst/>
          </a:prstGeom>
          <a:noFill/>
          <a:ln/>
        </p:spPr>
        <p:txBody>
          <a:bodyPr wrap="square" lIns="0" tIns="0" rIns="0" bIns="0" rtlCol="0" anchor="ctr">
            <a:normAutofit/>
          </a:bodyPr>
          <a:lstStyle/>
          <a:p>
            <a:pPr indent="0" marL="0">
              <a:buNone/>
            </a:pPr>
            <a:r>
              <a:rPr lang="en-US" sz="920" dirty="0">
                <a:solidFill>
                  <a:srgbClr val="575753"/>
                </a:solidFill>
                <a:latin typeface="PT Mono" pitchFamily="34" charset="0"/>
                <a:ea typeface="PT Mono" pitchFamily="34" charset="-122"/>
                <a:cs typeface="PT Mono" pitchFamily="34" charset="-120"/>
              </a:rPr>
              <a:t>Separate PostgreSQL _test database</a:t>
            </a:r>
            <a:endParaRPr lang="en-US" sz="920" dirty="0"/>
          </a:p>
        </p:txBody>
      </p:sp>
      <p:sp>
        <p:nvSpPr>
          <p:cNvPr id="73" name="Shape 71"/>
          <p:cNvSpPr/>
          <p:nvPr/>
        </p:nvSpPr>
        <p:spPr>
          <a:xfrm>
            <a:off x="6501384" y="4590288"/>
            <a:ext cx="91440" cy="91440"/>
          </a:xfrm>
          <a:prstGeom prst="ellipse">
            <a:avLst/>
          </a:prstGeom>
          <a:solidFill>
            <a:srgbClr val="D71928"/>
          </a:solidFill>
          <a:ln w="12700">
            <a:solidFill>
              <a:srgbClr val="D71928">
                <a:alpha val="0"/>
              </a:srgbClr>
            </a:solidFill>
            <a:prstDash val="solid"/>
          </a:ln>
        </p:spPr>
      </p:sp>
      <p:sp>
        <p:nvSpPr>
          <p:cNvPr id="74" name="Text 72"/>
          <p:cNvSpPr/>
          <p:nvPr/>
        </p:nvSpPr>
        <p:spPr>
          <a:xfrm>
            <a:off x="6675120" y="4507992"/>
            <a:ext cx="1499616" cy="192024"/>
          </a:xfrm>
          <a:prstGeom prst="rect">
            <a:avLst/>
          </a:prstGeom>
          <a:noFill/>
          <a:ln/>
        </p:spPr>
        <p:txBody>
          <a:bodyPr wrap="square" lIns="0" tIns="0" rIns="0" bIns="0" rtlCol="0" anchor="ctr">
            <a:normAutofit/>
          </a:bodyPr>
          <a:lstStyle/>
          <a:p>
            <a:pPr indent="0" marL="0">
              <a:buNone/>
            </a:pPr>
            <a:r>
              <a:rPr lang="en-US" sz="1020" b="1" dirty="0">
                <a:solidFill>
                  <a:srgbClr val="101010"/>
                </a:solidFill>
                <a:latin typeface="PT Mono" pitchFamily="34" charset="0"/>
                <a:ea typeface="PT Mono" pitchFamily="34" charset="-122"/>
                <a:cs typeface="PT Mono" pitchFamily="34" charset="-120"/>
              </a:rPr>
              <a:t>Frontend build</a:t>
            </a:r>
            <a:endParaRPr lang="en-US" sz="1020" dirty="0"/>
          </a:p>
        </p:txBody>
      </p:sp>
      <p:sp>
        <p:nvSpPr>
          <p:cNvPr id="75" name="Text 73"/>
          <p:cNvSpPr/>
          <p:nvPr/>
        </p:nvSpPr>
        <p:spPr>
          <a:xfrm>
            <a:off x="8193024" y="4507992"/>
            <a:ext cx="2880360" cy="219456"/>
          </a:xfrm>
          <a:prstGeom prst="rect">
            <a:avLst/>
          </a:prstGeom>
          <a:noFill/>
          <a:ln/>
        </p:spPr>
        <p:txBody>
          <a:bodyPr wrap="square" lIns="0" tIns="0" rIns="0" bIns="0" rtlCol="0" anchor="ctr">
            <a:normAutofit/>
          </a:bodyPr>
          <a:lstStyle/>
          <a:p>
            <a:pPr indent="0" marL="0">
              <a:buNone/>
            </a:pPr>
            <a:r>
              <a:rPr lang="en-US" sz="920" dirty="0">
                <a:solidFill>
                  <a:srgbClr val="575753"/>
                </a:solidFill>
                <a:latin typeface="PT Mono" pitchFamily="34" charset="0"/>
                <a:ea typeface="PT Mono" pitchFamily="34" charset="-122"/>
                <a:cs typeface="PT Mono" pitchFamily="34" charset="-120"/>
              </a:rPr>
              <a:t>ESLint + production Vite build</a:t>
            </a:r>
            <a:endParaRPr lang="en-US" sz="920" dirty="0"/>
          </a:p>
        </p:txBody>
      </p:sp>
      <p:sp>
        <p:nvSpPr>
          <p:cNvPr id="76" name="Shape 74"/>
          <p:cNvSpPr/>
          <p:nvPr/>
        </p:nvSpPr>
        <p:spPr>
          <a:xfrm>
            <a:off x="6501384" y="4937760"/>
            <a:ext cx="91440" cy="91440"/>
          </a:xfrm>
          <a:prstGeom prst="ellipse">
            <a:avLst/>
          </a:prstGeom>
          <a:solidFill>
            <a:srgbClr val="D71928"/>
          </a:solidFill>
          <a:ln w="12700">
            <a:solidFill>
              <a:srgbClr val="D71928">
                <a:alpha val="0"/>
              </a:srgbClr>
            </a:solidFill>
            <a:prstDash val="solid"/>
          </a:ln>
        </p:spPr>
      </p:sp>
      <p:sp>
        <p:nvSpPr>
          <p:cNvPr id="77" name="Text 75"/>
          <p:cNvSpPr/>
          <p:nvPr/>
        </p:nvSpPr>
        <p:spPr>
          <a:xfrm>
            <a:off x="6675120" y="4855464"/>
            <a:ext cx="1499616" cy="192024"/>
          </a:xfrm>
          <a:prstGeom prst="rect">
            <a:avLst/>
          </a:prstGeom>
          <a:noFill/>
          <a:ln/>
        </p:spPr>
        <p:txBody>
          <a:bodyPr wrap="square" lIns="0" tIns="0" rIns="0" bIns="0" rtlCol="0" anchor="ctr">
            <a:normAutofit/>
          </a:bodyPr>
          <a:lstStyle/>
          <a:p>
            <a:pPr indent="0" marL="0">
              <a:buNone/>
            </a:pPr>
            <a:r>
              <a:rPr lang="en-US" sz="1020" b="1" dirty="0">
                <a:solidFill>
                  <a:srgbClr val="101010"/>
                </a:solidFill>
                <a:latin typeface="PT Mono" pitchFamily="34" charset="0"/>
                <a:ea typeface="PT Mono" pitchFamily="34" charset="-122"/>
                <a:cs typeface="PT Mono" pitchFamily="34" charset="-120"/>
              </a:rPr>
              <a:t>Least privilege</a:t>
            </a:r>
            <a:endParaRPr lang="en-US" sz="1020" dirty="0"/>
          </a:p>
        </p:txBody>
      </p:sp>
      <p:sp>
        <p:nvSpPr>
          <p:cNvPr id="78" name="Text 76"/>
          <p:cNvSpPr/>
          <p:nvPr/>
        </p:nvSpPr>
        <p:spPr>
          <a:xfrm>
            <a:off x="8193024" y="4855464"/>
            <a:ext cx="2880360" cy="219456"/>
          </a:xfrm>
          <a:prstGeom prst="rect">
            <a:avLst/>
          </a:prstGeom>
          <a:noFill/>
          <a:ln/>
        </p:spPr>
        <p:txBody>
          <a:bodyPr wrap="square" lIns="0" tIns="0" rIns="0" bIns="0" rtlCol="0" anchor="ctr">
            <a:normAutofit/>
          </a:bodyPr>
          <a:lstStyle/>
          <a:p>
            <a:pPr indent="0" marL="0">
              <a:buNone/>
            </a:pPr>
            <a:r>
              <a:rPr lang="en-US" sz="920" dirty="0">
                <a:solidFill>
                  <a:srgbClr val="575753"/>
                </a:solidFill>
                <a:latin typeface="PT Mono" pitchFamily="34" charset="0"/>
                <a:ea typeface="PT Mono" pitchFamily="34" charset="-122"/>
                <a:cs typeface="PT Mono" pitchFamily="34" charset="-120"/>
              </a:rPr>
              <a:t>Backend UID 10001 • Nginx UID 101</a:t>
            </a:r>
            <a:endParaRPr lang="en-US" sz="920" dirty="0"/>
          </a:p>
        </p:txBody>
      </p:sp>
      <p:sp>
        <p:nvSpPr>
          <p:cNvPr id="79" name="Shape 77"/>
          <p:cNvSpPr/>
          <p:nvPr/>
        </p:nvSpPr>
        <p:spPr>
          <a:xfrm>
            <a:off x="6501384" y="5285232"/>
            <a:ext cx="91440" cy="91440"/>
          </a:xfrm>
          <a:prstGeom prst="ellipse">
            <a:avLst/>
          </a:prstGeom>
          <a:solidFill>
            <a:srgbClr val="D71928"/>
          </a:solidFill>
          <a:ln w="12700">
            <a:solidFill>
              <a:srgbClr val="D71928">
                <a:alpha val="0"/>
              </a:srgbClr>
            </a:solidFill>
            <a:prstDash val="solid"/>
          </a:ln>
        </p:spPr>
      </p:sp>
      <p:sp>
        <p:nvSpPr>
          <p:cNvPr id="80" name="Text 78"/>
          <p:cNvSpPr/>
          <p:nvPr/>
        </p:nvSpPr>
        <p:spPr>
          <a:xfrm>
            <a:off x="6675120" y="5202936"/>
            <a:ext cx="1499616" cy="192024"/>
          </a:xfrm>
          <a:prstGeom prst="rect">
            <a:avLst/>
          </a:prstGeom>
          <a:noFill/>
          <a:ln/>
        </p:spPr>
        <p:txBody>
          <a:bodyPr wrap="square" lIns="0" tIns="0" rIns="0" bIns="0" rtlCol="0" anchor="ctr">
            <a:normAutofit/>
          </a:bodyPr>
          <a:lstStyle/>
          <a:p>
            <a:pPr indent="0" marL="0">
              <a:buNone/>
            </a:pPr>
            <a:r>
              <a:rPr lang="en-US" sz="1020" b="1" dirty="0">
                <a:solidFill>
                  <a:srgbClr val="101010"/>
                </a:solidFill>
                <a:latin typeface="PT Mono" pitchFamily="34" charset="0"/>
                <a:ea typeface="PT Mono" pitchFamily="34" charset="-122"/>
                <a:cs typeface="PT Mono" pitchFamily="34" charset="-120"/>
              </a:rPr>
              <a:t>Migrations</a:t>
            </a:r>
            <a:endParaRPr lang="en-US" sz="1020" dirty="0"/>
          </a:p>
        </p:txBody>
      </p:sp>
      <p:sp>
        <p:nvSpPr>
          <p:cNvPr id="81" name="Text 79"/>
          <p:cNvSpPr/>
          <p:nvPr/>
        </p:nvSpPr>
        <p:spPr>
          <a:xfrm>
            <a:off x="8193024" y="5202936"/>
            <a:ext cx="2880360" cy="219456"/>
          </a:xfrm>
          <a:prstGeom prst="rect">
            <a:avLst/>
          </a:prstGeom>
          <a:noFill/>
          <a:ln/>
        </p:spPr>
        <p:txBody>
          <a:bodyPr wrap="square" lIns="0" tIns="0" rIns="0" bIns="0" rtlCol="0" anchor="ctr">
            <a:normAutofit/>
          </a:bodyPr>
          <a:lstStyle/>
          <a:p>
            <a:pPr indent="0" marL="0">
              <a:buNone/>
            </a:pPr>
            <a:r>
              <a:rPr lang="en-US" sz="920" dirty="0">
                <a:solidFill>
                  <a:srgbClr val="575753"/>
                </a:solidFill>
                <a:latin typeface="PT Mono" pitchFamily="34" charset="0"/>
                <a:ea typeface="PT Mono" pitchFamily="34" charset="-122"/>
                <a:cs typeface="PT Mono" pitchFamily="34" charset="-120"/>
              </a:rPr>
              <a:t>Alembic one-shot step / Kubernetes Job</a:t>
            </a:r>
            <a:endParaRPr lang="en-US" sz="920" dirty="0"/>
          </a:p>
        </p:txBody>
      </p:sp>
      <p:sp>
        <p:nvSpPr>
          <p:cNvPr id="82" name="Text 80">
            <a:hlinkClick r:id="rId1" tooltip=""/>
          </p:cNvPr>
          <p:cNvSpPr/>
          <p:nvPr/>
        </p:nvSpPr>
        <p:spPr>
          <a:xfrm>
            <a:off x="6281928" y="5934456"/>
            <a:ext cx="4114800" cy="201168"/>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Current successful quality run  ↗</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07 / DELIVERY PIPELINE</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Every commit moves through gated CI</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Latest successful end-to-end run: 8944da7 — 22 October 2026.</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08 / 16</a:t>
            </a:r>
            <a:endParaRPr lang="en-US" sz="850" dirty="0"/>
          </a:p>
        </p:txBody>
      </p:sp>
      <p:sp>
        <p:nvSpPr>
          <p:cNvPr id="48" name="Shape 46"/>
          <p:cNvSpPr/>
          <p:nvPr/>
        </p:nvSpPr>
        <p:spPr>
          <a:xfrm>
            <a:off x="548640" y="1883664"/>
            <a:ext cx="2112264" cy="1399032"/>
          </a:xfrm>
          <a:prstGeom prst="roundRect">
            <a:avLst>
              <a:gd name="adj" fmla="val 3595"/>
            </a:avLst>
          </a:prstGeom>
          <a:solidFill>
            <a:srgbClr val="FFFFFF"/>
          </a:solidFill>
          <a:ln w="10160">
            <a:solidFill>
              <a:srgbClr val="D0D0CB"/>
            </a:solidFill>
            <a:prstDash val="solid"/>
          </a:ln>
        </p:spPr>
      </p:sp>
      <p:sp>
        <p:nvSpPr>
          <p:cNvPr id="49" name="Text 47"/>
          <p:cNvSpPr/>
          <p:nvPr/>
        </p:nvSpPr>
        <p:spPr>
          <a:xfrm>
            <a:off x="722376" y="2048256"/>
            <a:ext cx="1618488" cy="228600"/>
          </a:xfrm>
          <a:prstGeom prst="rect">
            <a:avLst/>
          </a:prstGeom>
          <a:noFill/>
          <a:ln/>
        </p:spPr>
        <p:txBody>
          <a:bodyPr wrap="square" lIns="0" tIns="0" rIns="0" bIns="0" rtlCol="0" anchor="ctr">
            <a:normAutofit/>
          </a:bodyPr>
          <a:lstStyle/>
          <a:p>
            <a:pPr indent="0" marL="0">
              <a:buNone/>
            </a:pPr>
            <a:r>
              <a:rPr lang="en-US" sz="900" b="1" dirty="0">
                <a:solidFill>
                  <a:srgbClr val="B91622"/>
                </a:solidFill>
                <a:latin typeface="PT Mono" pitchFamily="34" charset="0"/>
                <a:ea typeface="PT Mono" pitchFamily="34" charset="-122"/>
                <a:cs typeface="PT Mono" pitchFamily="34" charset="-120"/>
              </a:rPr>
              <a:t>01</a:t>
            </a:r>
            <a:endParaRPr lang="en-US" sz="900" dirty="0"/>
          </a:p>
        </p:txBody>
      </p:sp>
      <p:sp>
        <p:nvSpPr>
          <p:cNvPr id="50" name="Text 48"/>
          <p:cNvSpPr/>
          <p:nvPr/>
        </p:nvSpPr>
        <p:spPr>
          <a:xfrm>
            <a:off x="722376" y="2441448"/>
            <a:ext cx="1810512" cy="265176"/>
          </a:xfrm>
          <a:prstGeom prst="rect">
            <a:avLst/>
          </a:prstGeom>
          <a:noFill/>
          <a:ln/>
        </p:spPr>
        <p:txBody>
          <a:bodyPr wrap="square" lIns="0" tIns="0" rIns="0" bIns="0" rtlCol="0" anchor="ctr">
            <a:normAutofit/>
          </a:bodyPr>
          <a:lstStyle/>
          <a:p>
            <a:pPr indent="0" marL="0">
              <a:buNone/>
            </a:pPr>
            <a:r>
              <a:rPr lang="en-US" sz="1400" b="1" dirty="0">
                <a:solidFill>
                  <a:srgbClr val="101010"/>
                </a:solidFill>
                <a:latin typeface="Inter Display" pitchFamily="34" charset="0"/>
                <a:ea typeface="Inter Display" pitchFamily="34" charset="-122"/>
                <a:cs typeface="Inter Display" pitchFamily="34" charset="-120"/>
              </a:rPr>
              <a:t>COMMIT</a:t>
            </a:r>
            <a:endParaRPr lang="en-US" sz="1400" dirty="0"/>
          </a:p>
        </p:txBody>
      </p:sp>
      <p:sp>
        <p:nvSpPr>
          <p:cNvPr id="51" name="Text 49"/>
          <p:cNvSpPr/>
          <p:nvPr/>
        </p:nvSpPr>
        <p:spPr>
          <a:xfrm>
            <a:off x="722376" y="2798064"/>
            <a:ext cx="1801368" cy="21945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Push to main</a:t>
            </a:r>
            <a:endParaRPr lang="en-US" sz="900" dirty="0"/>
          </a:p>
        </p:txBody>
      </p:sp>
      <p:sp>
        <p:nvSpPr>
          <p:cNvPr id="52" name="Shape 50"/>
          <p:cNvSpPr/>
          <p:nvPr/>
        </p:nvSpPr>
        <p:spPr>
          <a:xfrm>
            <a:off x="2679192" y="2615184"/>
            <a:ext cx="182880" cy="0"/>
          </a:xfrm>
          <a:prstGeom prst="line">
            <a:avLst/>
          </a:prstGeom>
          <a:noFill/>
          <a:ln w="22860">
            <a:solidFill>
              <a:srgbClr val="D71928"/>
            </a:solidFill>
            <a:prstDash val="solid"/>
            <a:headEnd type="none"/>
            <a:tailEnd type="triangle"/>
          </a:ln>
        </p:spPr>
      </p:sp>
      <p:sp>
        <p:nvSpPr>
          <p:cNvPr id="53" name="Shape 51"/>
          <p:cNvSpPr/>
          <p:nvPr/>
        </p:nvSpPr>
        <p:spPr>
          <a:xfrm>
            <a:off x="2907792" y="1883664"/>
            <a:ext cx="2112264" cy="1399032"/>
          </a:xfrm>
          <a:prstGeom prst="roundRect">
            <a:avLst>
              <a:gd name="adj" fmla="val 3595"/>
            </a:avLst>
          </a:prstGeom>
          <a:solidFill>
            <a:srgbClr val="FFFFFF"/>
          </a:solidFill>
          <a:ln w="10160">
            <a:solidFill>
              <a:srgbClr val="D0D0CB"/>
            </a:solidFill>
            <a:prstDash val="solid"/>
          </a:ln>
        </p:spPr>
      </p:sp>
      <p:sp>
        <p:nvSpPr>
          <p:cNvPr id="54" name="Text 52"/>
          <p:cNvSpPr/>
          <p:nvPr/>
        </p:nvSpPr>
        <p:spPr>
          <a:xfrm>
            <a:off x="3081528" y="2048256"/>
            <a:ext cx="1618488" cy="228600"/>
          </a:xfrm>
          <a:prstGeom prst="rect">
            <a:avLst/>
          </a:prstGeom>
          <a:noFill/>
          <a:ln/>
        </p:spPr>
        <p:txBody>
          <a:bodyPr wrap="square" lIns="0" tIns="0" rIns="0" bIns="0" rtlCol="0" anchor="ctr">
            <a:normAutofit/>
          </a:bodyPr>
          <a:lstStyle/>
          <a:p>
            <a:pPr indent="0" marL="0">
              <a:buNone/>
            </a:pPr>
            <a:r>
              <a:rPr lang="en-US" sz="900" b="1" dirty="0">
                <a:solidFill>
                  <a:srgbClr val="B91622"/>
                </a:solidFill>
                <a:latin typeface="PT Mono" pitchFamily="34" charset="0"/>
                <a:ea typeface="PT Mono" pitchFamily="34" charset="-122"/>
                <a:cs typeface="PT Mono" pitchFamily="34" charset="-120"/>
              </a:rPr>
              <a:t>02</a:t>
            </a:r>
            <a:endParaRPr lang="en-US" sz="900" dirty="0"/>
          </a:p>
        </p:txBody>
      </p:sp>
      <p:sp>
        <p:nvSpPr>
          <p:cNvPr id="55" name="Text 53"/>
          <p:cNvSpPr/>
          <p:nvPr/>
        </p:nvSpPr>
        <p:spPr>
          <a:xfrm>
            <a:off x="3081528" y="2441448"/>
            <a:ext cx="1810512" cy="265176"/>
          </a:xfrm>
          <a:prstGeom prst="rect">
            <a:avLst/>
          </a:prstGeom>
          <a:noFill/>
          <a:ln/>
        </p:spPr>
        <p:txBody>
          <a:bodyPr wrap="square" lIns="0" tIns="0" rIns="0" bIns="0" rtlCol="0" anchor="ctr">
            <a:normAutofit/>
          </a:bodyPr>
          <a:lstStyle/>
          <a:p>
            <a:pPr indent="0" marL="0">
              <a:buNone/>
            </a:pPr>
            <a:r>
              <a:rPr lang="en-US" sz="1400" b="1" dirty="0">
                <a:solidFill>
                  <a:srgbClr val="101010"/>
                </a:solidFill>
                <a:latin typeface="Inter Display" pitchFamily="34" charset="0"/>
                <a:ea typeface="Inter Display" pitchFamily="34" charset="-122"/>
                <a:cs typeface="Inter Display" pitchFamily="34" charset="-120"/>
              </a:rPr>
              <a:t>QUALITY</a:t>
            </a:r>
            <a:endParaRPr lang="en-US" sz="1400" dirty="0"/>
          </a:p>
        </p:txBody>
      </p:sp>
      <p:sp>
        <p:nvSpPr>
          <p:cNvPr id="56" name="Text 54"/>
          <p:cNvSpPr/>
          <p:nvPr/>
        </p:nvSpPr>
        <p:spPr>
          <a:xfrm>
            <a:off x="3081528" y="2798064"/>
            <a:ext cx="1801368" cy="21945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Pytest + lint + build</a:t>
            </a:r>
            <a:endParaRPr lang="en-US" sz="900" dirty="0"/>
          </a:p>
        </p:txBody>
      </p:sp>
      <p:sp>
        <p:nvSpPr>
          <p:cNvPr id="57" name="Shape 55"/>
          <p:cNvSpPr/>
          <p:nvPr/>
        </p:nvSpPr>
        <p:spPr>
          <a:xfrm>
            <a:off x="5038344" y="2615184"/>
            <a:ext cx="182880" cy="0"/>
          </a:xfrm>
          <a:prstGeom prst="line">
            <a:avLst/>
          </a:prstGeom>
          <a:noFill/>
          <a:ln w="22860">
            <a:solidFill>
              <a:srgbClr val="D71928"/>
            </a:solidFill>
            <a:prstDash val="solid"/>
            <a:headEnd type="none"/>
            <a:tailEnd type="triangle"/>
          </a:ln>
        </p:spPr>
      </p:sp>
      <p:sp>
        <p:nvSpPr>
          <p:cNvPr id="58" name="Shape 56"/>
          <p:cNvSpPr/>
          <p:nvPr/>
        </p:nvSpPr>
        <p:spPr>
          <a:xfrm>
            <a:off x="5266944" y="1883664"/>
            <a:ext cx="2112264" cy="1399032"/>
          </a:xfrm>
          <a:prstGeom prst="roundRect">
            <a:avLst>
              <a:gd name="adj" fmla="val 3595"/>
            </a:avLst>
          </a:prstGeom>
          <a:solidFill>
            <a:srgbClr val="FFFFFF"/>
          </a:solidFill>
          <a:ln w="10160">
            <a:solidFill>
              <a:srgbClr val="D0D0CB"/>
            </a:solidFill>
            <a:prstDash val="solid"/>
          </a:ln>
        </p:spPr>
      </p:sp>
      <p:sp>
        <p:nvSpPr>
          <p:cNvPr id="59" name="Text 57"/>
          <p:cNvSpPr/>
          <p:nvPr/>
        </p:nvSpPr>
        <p:spPr>
          <a:xfrm>
            <a:off x="5440680" y="2048256"/>
            <a:ext cx="1618488" cy="228600"/>
          </a:xfrm>
          <a:prstGeom prst="rect">
            <a:avLst/>
          </a:prstGeom>
          <a:noFill/>
          <a:ln/>
        </p:spPr>
        <p:txBody>
          <a:bodyPr wrap="square" lIns="0" tIns="0" rIns="0" bIns="0" rtlCol="0" anchor="ctr">
            <a:normAutofit/>
          </a:bodyPr>
          <a:lstStyle/>
          <a:p>
            <a:pPr indent="0" marL="0">
              <a:buNone/>
            </a:pPr>
            <a:r>
              <a:rPr lang="en-US" sz="900" b="1" dirty="0">
                <a:solidFill>
                  <a:srgbClr val="B91622"/>
                </a:solidFill>
                <a:latin typeface="PT Mono" pitchFamily="34" charset="0"/>
                <a:ea typeface="PT Mono" pitchFamily="34" charset="-122"/>
                <a:cs typeface="PT Mono" pitchFamily="34" charset="-120"/>
              </a:rPr>
              <a:t>03</a:t>
            </a:r>
            <a:endParaRPr lang="en-US" sz="900" dirty="0"/>
          </a:p>
        </p:txBody>
      </p:sp>
      <p:sp>
        <p:nvSpPr>
          <p:cNvPr id="60" name="Text 58"/>
          <p:cNvSpPr/>
          <p:nvPr/>
        </p:nvSpPr>
        <p:spPr>
          <a:xfrm>
            <a:off x="5440680" y="2441448"/>
            <a:ext cx="1810512" cy="265176"/>
          </a:xfrm>
          <a:prstGeom prst="rect">
            <a:avLst/>
          </a:prstGeom>
          <a:noFill/>
          <a:ln/>
        </p:spPr>
        <p:txBody>
          <a:bodyPr wrap="square" lIns="0" tIns="0" rIns="0" bIns="0" rtlCol="0" anchor="ctr">
            <a:normAutofit/>
          </a:bodyPr>
          <a:lstStyle/>
          <a:p>
            <a:pPr indent="0" marL="0">
              <a:buNone/>
            </a:pPr>
            <a:r>
              <a:rPr lang="en-US" sz="1400" b="1" dirty="0">
                <a:solidFill>
                  <a:srgbClr val="101010"/>
                </a:solidFill>
                <a:latin typeface="Inter Display" pitchFamily="34" charset="0"/>
                <a:ea typeface="Inter Display" pitchFamily="34" charset="-122"/>
                <a:cs typeface="Inter Display" pitchFamily="34" charset="-120"/>
              </a:rPr>
              <a:t>INTEGRATE</a:t>
            </a:r>
            <a:endParaRPr lang="en-US" sz="1400" dirty="0"/>
          </a:p>
        </p:txBody>
      </p:sp>
      <p:sp>
        <p:nvSpPr>
          <p:cNvPr id="61" name="Text 59"/>
          <p:cNvSpPr/>
          <p:nvPr/>
        </p:nvSpPr>
        <p:spPr>
          <a:xfrm>
            <a:off x="5440680" y="2798064"/>
            <a:ext cx="1801368" cy="21945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Compose + Playwright</a:t>
            </a:r>
            <a:endParaRPr lang="en-US" sz="900" dirty="0"/>
          </a:p>
        </p:txBody>
      </p:sp>
      <p:sp>
        <p:nvSpPr>
          <p:cNvPr id="62" name="Shape 60"/>
          <p:cNvSpPr/>
          <p:nvPr/>
        </p:nvSpPr>
        <p:spPr>
          <a:xfrm>
            <a:off x="7397496" y="2615184"/>
            <a:ext cx="182880" cy="0"/>
          </a:xfrm>
          <a:prstGeom prst="line">
            <a:avLst/>
          </a:prstGeom>
          <a:noFill/>
          <a:ln w="22860">
            <a:solidFill>
              <a:srgbClr val="D71928"/>
            </a:solidFill>
            <a:prstDash val="solid"/>
            <a:headEnd type="none"/>
            <a:tailEnd type="triangle"/>
          </a:ln>
        </p:spPr>
      </p:sp>
      <p:sp>
        <p:nvSpPr>
          <p:cNvPr id="63" name="Shape 61"/>
          <p:cNvSpPr/>
          <p:nvPr/>
        </p:nvSpPr>
        <p:spPr>
          <a:xfrm>
            <a:off x="7626096" y="1883664"/>
            <a:ext cx="2112264" cy="1399032"/>
          </a:xfrm>
          <a:prstGeom prst="roundRect">
            <a:avLst>
              <a:gd name="adj" fmla="val 3595"/>
            </a:avLst>
          </a:prstGeom>
          <a:solidFill>
            <a:srgbClr val="FFFFFF"/>
          </a:solidFill>
          <a:ln w="10160">
            <a:solidFill>
              <a:srgbClr val="D0D0CB"/>
            </a:solidFill>
            <a:prstDash val="solid"/>
          </a:ln>
        </p:spPr>
      </p:sp>
      <p:sp>
        <p:nvSpPr>
          <p:cNvPr id="64" name="Text 62"/>
          <p:cNvSpPr/>
          <p:nvPr/>
        </p:nvSpPr>
        <p:spPr>
          <a:xfrm>
            <a:off x="7799832" y="2048256"/>
            <a:ext cx="1618488" cy="228600"/>
          </a:xfrm>
          <a:prstGeom prst="rect">
            <a:avLst/>
          </a:prstGeom>
          <a:noFill/>
          <a:ln/>
        </p:spPr>
        <p:txBody>
          <a:bodyPr wrap="square" lIns="0" tIns="0" rIns="0" bIns="0" rtlCol="0" anchor="ctr">
            <a:normAutofit/>
          </a:bodyPr>
          <a:lstStyle/>
          <a:p>
            <a:pPr indent="0" marL="0">
              <a:buNone/>
            </a:pPr>
            <a:r>
              <a:rPr lang="en-US" sz="900" b="1" dirty="0">
                <a:solidFill>
                  <a:srgbClr val="B91622"/>
                </a:solidFill>
                <a:latin typeface="PT Mono" pitchFamily="34" charset="0"/>
                <a:ea typeface="PT Mono" pitchFamily="34" charset="-122"/>
                <a:cs typeface="PT Mono" pitchFamily="34" charset="-120"/>
              </a:rPr>
              <a:t>04</a:t>
            </a:r>
            <a:endParaRPr lang="en-US" sz="900" dirty="0"/>
          </a:p>
        </p:txBody>
      </p:sp>
      <p:sp>
        <p:nvSpPr>
          <p:cNvPr id="65" name="Text 63"/>
          <p:cNvSpPr/>
          <p:nvPr/>
        </p:nvSpPr>
        <p:spPr>
          <a:xfrm>
            <a:off x="7799832" y="2441448"/>
            <a:ext cx="1810512" cy="265176"/>
          </a:xfrm>
          <a:prstGeom prst="rect">
            <a:avLst/>
          </a:prstGeom>
          <a:noFill/>
          <a:ln/>
        </p:spPr>
        <p:txBody>
          <a:bodyPr wrap="square" lIns="0" tIns="0" rIns="0" bIns="0" rtlCol="0" anchor="ctr">
            <a:normAutofit/>
          </a:bodyPr>
          <a:lstStyle/>
          <a:p>
            <a:pPr indent="0" marL="0">
              <a:buNone/>
            </a:pPr>
            <a:r>
              <a:rPr lang="en-US" sz="1400" b="1" dirty="0">
                <a:solidFill>
                  <a:srgbClr val="101010"/>
                </a:solidFill>
                <a:latin typeface="Inter Display" pitchFamily="34" charset="0"/>
                <a:ea typeface="Inter Display" pitchFamily="34" charset="-122"/>
                <a:cs typeface="Inter Display" pitchFamily="34" charset="-120"/>
              </a:rPr>
              <a:t>SECURITY</a:t>
            </a:r>
            <a:endParaRPr lang="en-US" sz="1400" dirty="0"/>
          </a:p>
        </p:txBody>
      </p:sp>
      <p:sp>
        <p:nvSpPr>
          <p:cNvPr id="66" name="Text 64"/>
          <p:cNvSpPr/>
          <p:nvPr/>
        </p:nvSpPr>
        <p:spPr>
          <a:xfrm>
            <a:off x="7799832" y="2798064"/>
            <a:ext cx="1801368" cy="21945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Build + Trivy</a:t>
            </a:r>
            <a:endParaRPr lang="en-US" sz="900" dirty="0"/>
          </a:p>
        </p:txBody>
      </p:sp>
      <p:sp>
        <p:nvSpPr>
          <p:cNvPr id="67" name="Shape 65"/>
          <p:cNvSpPr/>
          <p:nvPr/>
        </p:nvSpPr>
        <p:spPr>
          <a:xfrm>
            <a:off x="9756648" y="2615184"/>
            <a:ext cx="182880" cy="0"/>
          </a:xfrm>
          <a:prstGeom prst="line">
            <a:avLst/>
          </a:prstGeom>
          <a:noFill/>
          <a:ln w="22860">
            <a:solidFill>
              <a:srgbClr val="D71928"/>
            </a:solidFill>
            <a:prstDash val="solid"/>
            <a:headEnd type="none"/>
            <a:tailEnd type="triangle"/>
          </a:ln>
        </p:spPr>
      </p:sp>
      <p:sp>
        <p:nvSpPr>
          <p:cNvPr id="68" name="Shape 66"/>
          <p:cNvSpPr/>
          <p:nvPr/>
        </p:nvSpPr>
        <p:spPr>
          <a:xfrm>
            <a:off x="9985248" y="1883664"/>
            <a:ext cx="2112264" cy="1399032"/>
          </a:xfrm>
          <a:prstGeom prst="roundRect">
            <a:avLst>
              <a:gd name="adj" fmla="val 3595"/>
            </a:avLst>
          </a:prstGeom>
          <a:solidFill>
            <a:srgbClr val="FFFFFF"/>
          </a:solidFill>
          <a:ln w="10160">
            <a:solidFill>
              <a:srgbClr val="D0D0CB"/>
            </a:solidFill>
            <a:prstDash val="solid"/>
          </a:ln>
        </p:spPr>
      </p:sp>
      <p:sp>
        <p:nvSpPr>
          <p:cNvPr id="69" name="Text 67"/>
          <p:cNvSpPr/>
          <p:nvPr/>
        </p:nvSpPr>
        <p:spPr>
          <a:xfrm>
            <a:off x="10158984" y="2048256"/>
            <a:ext cx="1618488" cy="228600"/>
          </a:xfrm>
          <a:prstGeom prst="rect">
            <a:avLst/>
          </a:prstGeom>
          <a:noFill/>
          <a:ln/>
        </p:spPr>
        <p:txBody>
          <a:bodyPr wrap="square" lIns="0" tIns="0" rIns="0" bIns="0" rtlCol="0" anchor="ctr">
            <a:normAutofit/>
          </a:bodyPr>
          <a:lstStyle/>
          <a:p>
            <a:pPr indent="0" marL="0">
              <a:buNone/>
            </a:pPr>
            <a:r>
              <a:rPr lang="en-US" sz="900" b="1" dirty="0">
                <a:solidFill>
                  <a:srgbClr val="B91622"/>
                </a:solidFill>
                <a:latin typeface="PT Mono" pitchFamily="34" charset="0"/>
                <a:ea typeface="PT Mono" pitchFamily="34" charset="-122"/>
                <a:cs typeface="PT Mono" pitchFamily="34" charset="-120"/>
              </a:rPr>
              <a:t>05</a:t>
            </a:r>
            <a:endParaRPr lang="en-US" sz="900" dirty="0"/>
          </a:p>
        </p:txBody>
      </p:sp>
      <p:sp>
        <p:nvSpPr>
          <p:cNvPr id="70" name="Text 68"/>
          <p:cNvSpPr/>
          <p:nvPr/>
        </p:nvSpPr>
        <p:spPr>
          <a:xfrm>
            <a:off x="10158984" y="2441448"/>
            <a:ext cx="1810512" cy="265176"/>
          </a:xfrm>
          <a:prstGeom prst="rect">
            <a:avLst/>
          </a:prstGeom>
          <a:noFill/>
          <a:ln/>
        </p:spPr>
        <p:txBody>
          <a:bodyPr wrap="square" lIns="0" tIns="0" rIns="0" bIns="0" rtlCol="0" anchor="ctr">
            <a:normAutofit/>
          </a:bodyPr>
          <a:lstStyle/>
          <a:p>
            <a:pPr indent="0" marL="0">
              <a:buNone/>
            </a:pPr>
            <a:r>
              <a:rPr lang="en-US" sz="1400" b="1" dirty="0">
                <a:solidFill>
                  <a:srgbClr val="101010"/>
                </a:solidFill>
                <a:latin typeface="Inter Display" pitchFamily="34" charset="0"/>
                <a:ea typeface="Inter Display" pitchFamily="34" charset="-122"/>
                <a:cs typeface="Inter Display" pitchFamily="34" charset="-120"/>
              </a:rPr>
              <a:t>RELEASE</a:t>
            </a:r>
            <a:endParaRPr lang="en-US" sz="1400" dirty="0"/>
          </a:p>
        </p:txBody>
      </p:sp>
      <p:sp>
        <p:nvSpPr>
          <p:cNvPr id="71" name="Text 69"/>
          <p:cNvSpPr/>
          <p:nvPr/>
        </p:nvSpPr>
        <p:spPr>
          <a:xfrm>
            <a:off x="10158984" y="2798064"/>
            <a:ext cx="1801368" cy="219456"/>
          </a:xfrm>
          <a:prstGeom prst="rect">
            <a:avLst/>
          </a:prstGeom>
          <a:noFill/>
          <a:ln/>
        </p:spPr>
        <p:txBody>
          <a:bodyPr wrap="square" lIns="0" tIns="0" rIns="0" bIns="0" rtlCol="0" anchor="ctr">
            <a:normAutofit/>
          </a:bodyPr>
          <a:lstStyle/>
          <a:p>
            <a:pPr indent="0" marL="0">
              <a:buNone/>
            </a:pPr>
            <a:r>
              <a:rPr lang="en-US" sz="900" dirty="0">
                <a:solidFill>
                  <a:srgbClr val="575753"/>
                </a:solidFill>
                <a:latin typeface="PT Mono" pitchFamily="34" charset="0"/>
                <a:ea typeface="PT Mono" pitchFamily="34" charset="-122"/>
                <a:cs typeface="PT Mono" pitchFamily="34" charset="-120"/>
              </a:rPr>
              <a:t>GHCR SHA images</a:t>
            </a:r>
            <a:endParaRPr lang="en-US" sz="900" dirty="0"/>
          </a:p>
        </p:txBody>
      </p:sp>
      <p:sp>
        <p:nvSpPr>
          <p:cNvPr id="72" name="Shape 70"/>
          <p:cNvSpPr/>
          <p:nvPr/>
        </p:nvSpPr>
        <p:spPr>
          <a:xfrm>
            <a:off x="10844784" y="3291840"/>
            <a:ext cx="0" cy="512064"/>
          </a:xfrm>
          <a:prstGeom prst="line">
            <a:avLst/>
          </a:prstGeom>
          <a:noFill/>
          <a:ln w="22860">
            <a:solidFill>
              <a:srgbClr val="B91622"/>
            </a:solidFill>
            <a:prstDash val="solid"/>
            <a:headEnd type="none"/>
            <a:tailEnd type="none"/>
          </a:ln>
        </p:spPr>
      </p:sp>
      <p:sp>
        <p:nvSpPr>
          <p:cNvPr id="73" name="Shape 71"/>
          <p:cNvSpPr/>
          <p:nvPr/>
        </p:nvSpPr>
        <p:spPr>
          <a:xfrm>
            <a:off x="10844784" y="3794760"/>
            <a:ext cx="-4654296" cy="0"/>
          </a:xfrm>
          <a:prstGeom prst="line">
            <a:avLst/>
          </a:prstGeom>
          <a:noFill/>
          <a:ln w="22860">
            <a:solidFill>
              <a:srgbClr val="B91622"/>
            </a:solidFill>
            <a:prstDash val="solid"/>
            <a:headEnd type="none"/>
            <a:tailEnd type="none"/>
          </a:ln>
        </p:spPr>
      </p:sp>
      <p:sp>
        <p:nvSpPr>
          <p:cNvPr id="74" name="Shape 72"/>
          <p:cNvSpPr/>
          <p:nvPr/>
        </p:nvSpPr>
        <p:spPr>
          <a:xfrm>
            <a:off x="6190488" y="3794760"/>
            <a:ext cx="0" cy="246888"/>
          </a:xfrm>
          <a:prstGeom prst="line">
            <a:avLst/>
          </a:prstGeom>
          <a:noFill/>
          <a:ln w="22860">
            <a:solidFill>
              <a:srgbClr val="B91622"/>
            </a:solidFill>
            <a:prstDash val="solid"/>
            <a:headEnd type="none"/>
            <a:tailEnd type="triangle"/>
          </a:ln>
        </p:spPr>
      </p:sp>
      <p:sp>
        <p:nvSpPr>
          <p:cNvPr id="75" name="Shape 73"/>
          <p:cNvSpPr/>
          <p:nvPr/>
        </p:nvSpPr>
        <p:spPr>
          <a:xfrm>
            <a:off x="941832" y="4178808"/>
            <a:ext cx="4681728" cy="1261872"/>
          </a:xfrm>
          <a:prstGeom prst="roundRect">
            <a:avLst>
              <a:gd name="adj" fmla="val 3986"/>
            </a:avLst>
          </a:prstGeom>
          <a:solidFill>
            <a:srgbClr val="FFFFFF"/>
          </a:solidFill>
          <a:ln w="10160">
            <a:solidFill>
              <a:srgbClr val="D0D0CB"/>
            </a:solidFill>
            <a:prstDash val="solid"/>
          </a:ln>
        </p:spPr>
      </p:sp>
      <p:sp>
        <p:nvSpPr>
          <p:cNvPr id="76" name="Shape 74"/>
          <p:cNvSpPr/>
          <p:nvPr/>
        </p:nvSpPr>
        <p:spPr>
          <a:xfrm>
            <a:off x="1225296" y="4398264"/>
            <a:ext cx="1161288" cy="310896"/>
          </a:xfrm>
          <a:prstGeom prst="roundRect">
            <a:avLst>
              <a:gd name="adj" fmla="val 50000"/>
            </a:avLst>
          </a:prstGeom>
          <a:solidFill>
            <a:srgbClr val="F0E8E6"/>
          </a:solidFill>
          <a:ln w="12700">
            <a:solidFill>
              <a:srgbClr val="F0E8E6">
                <a:alpha val="0"/>
              </a:srgbClr>
            </a:solidFill>
            <a:prstDash val="solid"/>
          </a:ln>
        </p:spPr>
      </p:sp>
      <p:sp>
        <p:nvSpPr>
          <p:cNvPr id="77" name="Text 75"/>
          <p:cNvSpPr/>
          <p:nvPr/>
        </p:nvSpPr>
        <p:spPr>
          <a:xfrm>
            <a:off x="1335024" y="4416552"/>
            <a:ext cx="941832" cy="274320"/>
          </a:xfrm>
          <a:prstGeom prst="rect">
            <a:avLst/>
          </a:prstGeom>
          <a:noFill/>
          <a:ln/>
        </p:spPr>
        <p:txBody>
          <a:bodyPr wrap="square" lIns="0" tIns="0" rIns="0" bIns="0" rtlCol="0" anchor="ctr">
            <a:normAutofit/>
          </a:bodyPr>
          <a:lstStyle/>
          <a:p>
            <a:pPr algn="ctr" indent="0" marL="0">
              <a:buNone/>
            </a:pPr>
            <a:r>
              <a:rPr lang="en-US" sz="950" b="1" dirty="0">
                <a:solidFill>
                  <a:srgbClr val="247856"/>
                </a:solidFill>
                <a:latin typeface="PT Mono" pitchFamily="34" charset="0"/>
                <a:ea typeface="PT Mono" pitchFamily="34" charset="-122"/>
                <a:cs typeface="PT Mono" pitchFamily="34" charset="-120"/>
              </a:rPr>
              <a:t>VALIDATED</a:t>
            </a:r>
            <a:endParaRPr lang="en-US" sz="950" dirty="0"/>
          </a:p>
        </p:txBody>
      </p:sp>
      <p:sp>
        <p:nvSpPr>
          <p:cNvPr id="78" name="Text 76"/>
          <p:cNvSpPr/>
          <p:nvPr/>
        </p:nvSpPr>
        <p:spPr>
          <a:xfrm>
            <a:off x="1243584" y="4828032"/>
            <a:ext cx="3959352" cy="320040"/>
          </a:xfrm>
          <a:prstGeom prst="rect">
            <a:avLst/>
          </a:prstGeom>
          <a:noFill/>
          <a:ln/>
        </p:spPr>
        <p:txBody>
          <a:bodyPr wrap="square" lIns="0" tIns="0" rIns="0" bIns="0" rtlCol="0" anchor="ctr">
            <a:normAutofit/>
          </a:bodyPr>
          <a:lstStyle/>
          <a:p>
            <a:pPr indent="0" marL="0">
              <a:buNone/>
            </a:pPr>
            <a:r>
              <a:rPr lang="en-US" sz="1400" b="1" dirty="0">
                <a:solidFill>
                  <a:srgbClr val="101010"/>
                </a:solidFill>
                <a:latin typeface="Inter Display" pitchFamily="34" charset="0"/>
                <a:ea typeface="Inter Display" pitchFamily="34" charset="-122"/>
                <a:cs typeface="Inter Display" pitchFamily="34" charset="-120"/>
              </a:rPr>
              <a:t>Kubernetes kind + Helm + Flux</a:t>
            </a:r>
            <a:endParaRPr lang="en-US" sz="1400" dirty="0"/>
          </a:p>
        </p:txBody>
      </p:sp>
      <p:sp>
        <p:nvSpPr>
          <p:cNvPr id="79" name="Shape 77"/>
          <p:cNvSpPr/>
          <p:nvPr/>
        </p:nvSpPr>
        <p:spPr>
          <a:xfrm>
            <a:off x="6565392" y="4178808"/>
            <a:ext cx="4681728" cy="1261872"/>
          </a:xfrm>
          <a:prstGeom prst="roundRect">
            <a:avLst>
              <a:gd name="adj" fmla="val 3986"/>
            </a:avLst>
          </a:prstGeom>
          <a:solidFill>
            <a:srgbClr val="FFFFFF"/>
          </a:solidFill>
          <a:ln w="10160">
            <a:solidFill>
              <a:srgbClr val="D0D0CB"/>
            </a:solidFill>
            <a:prstDash val="solid"/>
          </a:ln>
        </p:spPr>
      </p:sp>
      <p:sp>
        <p:nvSpPr>
          <p:cNvPr id="80" name="Shape 78"/>
          <p:cNvSpPr/>
          <p:nvPr/>
        </p:nvSpPr>
        <p:spPr>
          <a:xfrm>
            <a:off x="6858000" y="4398264"/>
            <a:ext cx="1463040" cy="310896"/>
          </a:xfrm>
          <a:prstGeom prst="roundRect">
            <a:avLst>
              <a:gd name="adj" fmla="val 50000"/>
            </a:avLst>
          </a:prstGeom>
          <a:solidFill>
            <a:srgbClr val="ECE8E1"/>
          </a:solidFill>
          <a:ln w="12700">
            <a:solidFill>
              <a:srgbClr val="ECE8E1">
                <a:alpha val="0"/>
              </a:srgbClr>
            </a:solidFill>
            <a:prstDash val="solid"/>
          </a:ln>
        </p:spPr>
      </p:sp>
      <p:sp>
        <p:nvSpPr>
          <p:cNvPr id="81" name="Text 79"/>
          <p:cNvSpPr/>
          <p:nvPr/>
        </p:nvSpPr>
        <p:spPr>
          <a:xfrm>
            <a:off x="6967728" y="4416552"/>
            <a:ext cx="1243584" cy="274320"/>
          </a:xfrm>
          <a:prstGeom prst="rect">
            <a:avLst/>
          </a:prstGeom>
          <a:noFill/>
          <a:ln/>
        </p:spPr>
        <p:txBody>
          <a:bodyPr wrap="square" lIns="0" tIns="0" rIns="0" bIns="0" rtlCol="0" anchor="ctr">
            <a:normAutofit/>
          </a:bodyPr>
          <a:lstStyle/>
          <a:p>
            <a:pPr algn="ctr" indent="0" marL="0">
              <a:buNone/>
            </a:pPr>
            <a:r>
              <a:rPr lang="en-US" sz="950" b="1" dirty="0">
                <a:solidFill>
                  <a:srgbClr val="8C652E"/>
                </a:solidFill>
                <a:latin typeface="PT Mono" pitchFamily="34" charset="0"/>
                <a:ea typeface="PT Mono" pitchFamily="34" charset="-122"/>
                <a:cs typeface="PT Mono" pitchFamily="34" charset="-120"/>
              </a:rPr>
              <a:t>DISTINCT PATH</a:t>
            </a:r>
            <a:endParaRPr lang="en-US" sz="950" dirty="0"/>
          </a:p>
        </p:txBody>
      </p:sp>
      <p:sp>
        <p:nvSpPr>
          <p:cNvPr id="82" name="Text 80"/>
          <p:cNvSpPr/>
          <p:nvPr/>
        </p:nvSpPr>
        <p:spPr>
          <a:xfrm>
            <a:off x="6876288" y="4828032"/>
            <a:ext cx="3959352" cy="320040"/>
          </a:xfrm>
          <a:prstGeom prst="rect">
            <a:avLst/>
          </a:prstGeom>
          <a:noFill/>
          <a:ln/>
        </p:spPr>
        <p:txBody>
          <a:bodyPr wrap="square" lIns="0" tIns="0" rIns="0" bIns="0" rtlCol="0" anchor="ctr">
            <a:normAutofit/>
          </a:bodyPr>
          <a:lstStyle/>
          <a:p>
            <a:pPr indent="0" marL="0">
              <a:buNone/>
            </a:pPr>
            <a:r>
              <a:rPr lang="en-US" sz="1400" b="1" dirty="0">
                <a:solidFill>
                  <a:srgbClr val="101010"/>
                </a:solidFill>
                <a:latin typeface="Inter Display" pitchFamily="34" charset="0"/>
                <a:ea typeface="Inter Display" pitchFamily="34" charset="-122"/>
                <a:cs typeface="Inter Display" pitchFamily="34" charset="-120"/>
              </a:rPr>
              <a:t>AWS EKS deployed manually</a:t>
            </a:r>
            <a:endParaRPr lang="en-US" sz="1400" dirty="0"/>
          </a:p>
        </p:txBody>
      </p:sp>
      <p:sp>
        <p:nvSpPr>
          <p:cNvPr id="83" name="Text 81"/>
          <p:cNvSpPr/>
          <p:nvPr/>
        </p:nvSpPr>
        <p:spPr>
          <a:xfrm>
            <a:off x="740664" y="5779008"/>
            <a:ext cx="10789920" cy="274320"/>
          </a:xfrm>
          <a:prstGeom prst="rect">
            <a:avLst/>
          </a:prstGeom>
          <a:noFill/>
          <a:ln/>
        </p:spPr>
        <p:txBody>
          <a:bodyPr wrap="square" lIns="0" tIns="0" rIns="0" bIns="0" rtlCol="0" anchor="ctr">
            <a:normAutofit/>
          </a:bodyPr>
          <a:lstStyle/>
          <a:p>
            <a:pPr indent="0" marL="0">
              <a:buNone/>
            </a:pPr>
            <a:r>
              <a:rPr lang="en-US" sz="1050" dirty="0">
                <a:solidFill>
                  <a:srgbClr val="575753"/>
                </a:solidFill>
                <a:latin typeface="PT Mono" pitchFamily="34" charset="0"/>
                <a:ea typeface="PT Mono" pitchFamily="34" charset="-122"/>
                <a:cs typeface="PT Mono" pitchFamily="34" charset="-120"/>
              </a:rPr>
              <a:t>Note: AWS GitHub Actions deploy job remained skipped because of OIDC account-policy restrictions.</a:t>
            </a:r>
            <a:endParaRPr lang="en-US" sz="1050" dirty="0"/>
          </a:p>
        </p:txBody>
      </p:sp>
      <p:sp>
        <p:nvSpPr>
          <p:cNvPr id="84" name="Text 82">
            <a:hlinkClick r:id="rId1" tooltip=""/>
          </p:cNvPr>
          <p:cNvSpPr/>
          <p:nvPr/>
        </p:nvSpPr>
        <p:spPr>
          <a:xfrm>
            <a:off x="8385048" y="6099048"/>
            <a:ext cx="2916936" cy="219456"/>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successful GitHub Actions run  ↗</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08 / SOFTWARE SUPPLY CHAIN</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Security gate: fail closed, then fix</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The pipeline demonstrated a real vulnerability blocking publication.</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09 / 16</a:t>
            </a:r>
            <a:endParaRPr lang="en-US" sz="850" dirty="0"/>
          </a:p>
        </p:txBody>
      </p:sp>
      <p:sp>
        <p:nvSpPr>
          <p:cNvPr id="48" name="Shape 46"/>
          <p:cNvSpPr/>
          <p:nvPr/>
        </p:nvSpPr>
        <p:spPr>
          <a:xfrm>
            <a:off x="640080" y="1773936"/>
            <a:ext cx="5431536" cy="3264408"/>
          </a:xfrm>
          <a:prstGeom prst="roundRect">
            <a:avLst>
              <a:gd name="adj" fmla="val 1541"/>
            </a:avLst>
          </a:prstGeom>
          <a:solidFill>
            <a:srgbClr val="FFFFFF"/>
          </a:solidFill>
          <a:ln w="10160">
            <a:solidFill>
              <a:srgbClr val="D0D0CB"/>
            </a:solidFill>
            <a:prstDash val="solid"/>
          </a:ln>
        </p:spPr>
      </p:sp>
      <p:sp>
        <p:nvSpPr>
          <p:cNvPr id="49" name="Shape 47"/>
          <p:cNvSpPr/>
          <p:nvPr/>
        </p:nvSpPr>
        <p:spPr>
          <a:xfrm>
            <a:off x="932688" y="2039112"/>
            <a:ext cx="1700784" cy="329184"/>
          </a:xfrm>
          <a:prstGeom prst="roundRect">
            <a:avLst>
              <a:gd name="adj" fmla="val 50000"/>
            </a:avLst>
          </a:prstGeom>
          <a:solidFill>
            <a:srgbClr val="F1EBEB"/>
          </a:solidFill>
          <a:ln w="12700">
            <a:solidFill>
              <a:srgbClr val="F1EBEB">
                <a:alpha val="0"/>
              </a:srgbClr>
            </a:solidFill>
            <a:prstDash val="solid"/>
          </a:ln>
        </p:spPr>
      </p:sp>
      <p:sp>
        <p:nvSpPr>
          <p:cNvPr id="50" name="Text 48"/>
          <p:cNvSpPr/>
          <p:nvPr/>
        </p:nvSpPr>
        <p:spPr>
          <a:xfrm>
            <a:off x="1042416" y="2057400"/>
            <a:ext cx="1481328" cy="292608"/>
          </a:xfrm>
          <a:prstGeom prst="rect">
            <a:avLst/>
          </a:prstGeom>
          <a:noFill/>
          <a:ln/>
        </p:spPr>
        <p:txBody>
          <a:bodyPr wrap="square" lIns="0" tIns="0" rIns="0" bIns="0" rtlCol="0" anchor="ctr">
            <a:normAutofit/>
          </a:bodyPr>
          <a:lstStyle/>
          <a:p>
            <a:pPr algn="ctr" indent="0" marL="0">
              <a:buNone/>
            </a:pPr>
            <a:r>
              <a:rPr lang="en-US" sz="1040" b="1" dirty="0">
                <a:solidFill>
                  <a:srgbClr val="D71928"/>
                </a:solidFill>
                <a:latin typeface="PT Mono" pitchFamily="34" charset="0"/>
                <a:ea typeface="PT Mono" pitchFamily="34" charset="-122"/>
                <a:cs typeface="PT Mono" pitchFamily="34" charset="-120"/>
              </a:rPr>
              <a:t>BLOCKED BUILD</a:t>
            </a:r>
            <a:endParaRPr lang="en-US" sz="1040" dirty="0"/>
          </a:p>
        </p:txBody>
      </p:sp>
      <p:sp>
        <p:nvSpPr>
          <p:cNvPr id="51" name="Text 49"/>
          <p:cNvSpPr/>
          <p:nvPr/>
        </p:nvSpPr>
        <p:spPr>
          <a:xfrm>
            <a:off x="932688" y="2587752"/>
            <a:ext cx="4773168" cy="475488"/>
          </a:xfrm>
          <a:prstGeom prst="rect">
            <a:avLst/>
          </a:prstGeom>
          <a:noFill/>
          <a:ln/>
        </p:spPr>
        <p:txBody>
          <a:bodyPr wrap="square" lIns="0" tIns="0" rIns="0" bIns="0" rtlCol="0" anchor="ctr">
            <a:normAutofit/>
          </a:bodyPr>
          <a:lstStyle/>
          <a:p>
            <a:pPr indent="0" marL="0">
              <a:buNone/>
            </a:pPr>
            <a:r>
              <a:rPr lang="en-US" sz="2600" b="1" dirty="0">
                <a:solidFill>
                  <a:srgbClr val="101010"/>
                </a:solidFill>
                <a:latin typeface="Inter Display" pitchFamily="34" charset="0"/>
                <a:ea typeface="Inter Display" pitchFamily="34" charset="-122"/>
                <a:cs typeface="Inter Display" pitchFamily="34" charset="-120"/>
              </a:rPr>
              <a:t>CVE-2026-88806</a:t>
            </a:r>
            <a:endParaRPr lang="en-US" sz="2600" dirty="0"/>
          </a:p>
        </p:txBody>
      </p:sp>
      <p:sp>
        <p:nvSpPr>
          <p:cNvPr id="52" name="Text 50"/>
          <p:cNvSpPr/>
          <p:nvPr/>
        </p:nvSpPr>
        <p:spPr>
          <a:xfrm>
            <a:off x="941832" y="3191256"/>
            <a:ext cx="4416552" cy="347472"/>
          </a:xfrm>
          <a:prstGeom prst="rect">
            <a:avLst/>
          </a:prstGeom>
          <a:noFill/>
          <a:ln/>
        </p:spPr>
        <p:txBody>
          <a:bodyPr wrap="square" lIns="0" tIns="0" rIns="0" bIns="0" rtlCol="0" anchor="ctr">
            <a:normAutofit/>
          </a:bodyPr>
          <a:lstStyle/>
          <a:p>
            <a:pPr indent="0" marL="0">
              <a:buNone/>
            </a:pPr>
            <a:r>
              <a:rPr lang="en-US" sz="1800" b="1" dirty="0">
                <a:solidFill>
                  <a:srgbClr val="D71928"/>
                </a:solidFill>
                <a:latin typeface="Inter Display" pitchFamily="34" charset="0"/>
                <a:ea typeface="Inter Display" pitchFamily="34" charset="-122"/>
                <a:cs typeface="Inter Display" pitchFamily="34" charset="-120"/>
              </a:rPr>
              <a:t>Frontend libx11</a:t>
            </a:r>
            <a:endParaRPr lang="en-US" sz="1800" dirty="0"/>
          </a:p>
        </p:txBody>
      </p:sp>
      <p:sp>
        <p:nvSpPr>
          <p:cNvPr id="53" name="Text 51"/>
          <p:cNvSpPr/>
          <p:nvPr/>
        </p:nvSpPr>
        <p:spPr>
          <a:xfrm>
            <a:off x="941832" y="3630168"/>
            <a:ext cx="4700016" cy="246888"/>
          </a:xfrm>
          <a:prstGeom prst="rect">
            <a:avLst/>
          </a:prstGeom>
          <a:noFill/>
          <a:ln/>
        </p:spPr>
        <p:txBody>
          <a:bodyPr wrap="square" lIns="0" tIns="0" rIns="0" bIns="0" rtlCol="0" anchor="ctr">
            <a:normAutofit/>
          </a:bodyPr>
          <a:lstStyle/>
          <a:p>
            <a:pPr indent="0" marL="0">
              <a:buNone/>
            </a:pPr>
            <a:r>
              <a:rPr lang="en-US" sz="1200" dirty="0">
                <a:solidFill>
                  <a:srgbClr val="575753"/>
                </a:solidFill>
                <a:latin typeface="Inter" pitchFamily="34" charset="0"/>
                <a:ea typeface="Inter" pitchFamily="34" charset="-122"/>
                <a:cs typeface="Inter" pitchFamily="34" charset="-120"/>
              </a:rPr>
              <a:t>HIGH severity — version 1.8.13-r0</a:t>
            </a:r>
            <a:endParaRPr lang="en-US" sz="1200" dirty="0"/>
          </a:p>
        </p:txBody>
      </p:sp>
      <p:sp>
        <p:nvSpPr>
          <p:cNvPr id="54" name="Text 52"/>
          <p:cNvSpPr/>
          <p:nvPr/>
        </p:nvSpPr>
        <p:spPr>
          <a:xfrm>
            <a:off x="941832" y="4215384"/>
            <a:ext cx="4690872" cy="548640"/>
          </a:xfrm>
          <a:prstGeom prst="rect">
            <a:avLst/>
          </a:prstGeom>
          <a:noFill/>
          <a:ln/>
        </p:spPr>
        <p:txBody>
          <a:bodyPr wrap="square" lIns="0" tIns="0" rIns="0" bIns="0" rtlCol="0" anchor="ctr">
            <a:normAutofit/>
          </a:bodyPr>
          <a:lstStyle/>
          <a:p>
            <a:pPr indent="0" marL="0">
              <a:buNone/>
            </a:pPr>
            <a:r>
              <a:rPr lang="en-US" sz="1280" dirty="0">
                <a:solidFill>
                  <a:srgbClr val="303030"/>
                </a:solidFill>
                <a:latin typeface="Inter" pitchFamily="34" charset="0"/>
                <a:ea typeface="Inter" pitchFamily="34" charset="-122"/>
                <a:cs typeface="Inter" pitchFamily="34" charset="-120"/>
              </a:rPr>
              <a:t>Trivy failed the build and image promotion stopped.</a:t>
            </a:r>
            <a:endParaRPr lang="en-US" sz="1280" dirty="0"/>
          </a:p>
        </p:txBody>
      </p:sp>
      <p:sp>
        <p:nvSpPr>
          <p:cNvPr id="55" name="Shape 53"/>
          <p:cNvSpPr/>
          <p:nvPr/>
        </p:nvSpPr>
        <p:spPr>
          <a:xfrm>
            <a:off x="6300216" y="1773936"/>
            <a:ext cx="5248656" cy="3264408"/>
          </a:xfrm>
          <a:prstGeom prst="roundRect">
            <a:avLst>
              <a:gd name="adj" fmla="val 1541"/>
            </a:avLst>
          </a:prstGeom>
          <a:solidFill>
            <a:srgbClr val="FFFFFF"/>
          </a:solidFill>
          <a:ln w="10160">
            <a:solidFill>
              <a:srgbClr val="D0D0CB"/>
            </a:solidFill>
            <a:prstDash val="solid"/>
          </a:ln>
        </p:spPr>
      </p:sp>
      <p:sp>
        <p:nvSpPr>
          <p:cNvPr id="56" name="Shape 54"/>
          <p:cNvSpPr/>
          <p:nvPr/>
        </p:nvSpPr>
        <p:spPr>
          <a:xfrm>
            <a:off x="6583680" y="2039112"/>
            <a:ext cx="2267712" cy="329184"/>
          </a:xfrm>
          <a:prstGeom prst="roundRect">
            <a:avLst>
              <a:gd name="adj" fmla="val 50000"/>
            </a:avLst>
          </a:prstGeom>
          <a:solidFill>
            <a:srgbClr val="EAE9E5"/>
          </a:solidFill>
          <a:ln w="12700">
            <a:solidFill>
              <a:srgbClr val="EAE9E5">
                <a:alpha val="0"/>
              </a:srgbClr>
            </a:solidFill>
            <a:prstDash val="solid"/>
          </a:ln>
        </p:spPr>
      </p:sp>
      <p:sp>
        <p:nvSpPr>
          <p:cNvPr id="57" name="Text 55"/>
          <p:cNvSpPr/>
          <p:nvPr/>
        </p:nvSpPr>
        <p:spPr>
          <a:xfrm>
            <a:off x="6693408" y="2057400"/>
            <a:ext cx="2048256" cy="292608"/>
          </a:xfrm>
          <a:prstGeom prst="rect">
            <a:avLst/>
          </a:prstGeom>
          <a:noFill/>
          <a:ln/>
        </p:spPr>
        <p:txBody>
          <a:bodyPr wrap="square" lIns="0" tIns="0" rIns="0" bIns="0" rtlCol="0" anchor="ctr">
            <a:normAutofit/>
          </a:bodyPr>
          <a:lstStyle/>
          <a:p>
            <a:pPr algn="ctr" indent="0" marL="0">
              <a:buNone/>
            </a:pPr>
            <a:r>
              <a:rPr lang="en-US" sz="1040" b="1" dirty="0">
                <a:solidFill>
                  <a:srgbClr val="247856"/>
                </a:solidFill>
                <a:latin typeface="PT Mono" pitchFamily="34" charset="0"/>
                <a:ea typeface="PT Mono" pitchFamily="34" charset="-122"/>
                <a:cs typeface="PT Mono" pitchFamily="34" charset="-120"/>
              </a:rPr>
              <a:t>REMEDIATED + PASSED</a:t>
            </a:r>
            <a:endParaRPr lang="en-US" sz="1040" dirty="0"/>
          </a:p>
        </p:txBody>
      </p:sp>
      <p:sp>
        <p:nvSpPr>
          <p:cNvPr id="58" name="Text 56"/>
          <p:cNvSpPr/>
          <p:nvPr/>
        </p:nvSpPr>
        <p:spPr>
          <a:xfrm>
            <a:off x="6583680" y="2596896"/>
            <a:ext cx="4572000" cy="484632"/>
          </a:xfrm>
          <a:prstGeom prst="rect">
            <a:avLst/>
          </a:prstGeom>
          <a:noFill/>
          <a:ln/>
        </p:spPr>
        <p:txBody>
          <a:bodyPr wrap="square" lIns="0" tIns="0" rIns="0" bIns="0" rtlCol="0" anchor="ctr">
            <a:normAutofit/>
          </a:bodyPr>
          <a:lstStyle/>
          <a:p>
            <a:pPr indent="0" marL="0">
              <a:buNone/>
            </a:pPr>
            <a:r>
              <a:rPr lang="en-US" sz="2500" b="1" dirty="0">
                <a:solidFill>
                  <a:srgbClr val="D71928"/>
                </a:solidFill>
                <a:latin typeface="Inter Display" pitchFamily="34" charset="0"/>
                <a:ea typeface="Inter Display" pitchFamily="34" charset="-122"/>
                <a:cs typeface="Inter Display" pitchFamily="34" charset="-120"/>
              </a:rPr>
              <a:t>libx11 ≥ 1.8.14-r0</a:t>
            </a:r>
            <a:endParaRPr lang="en-US" sz="2500" dirty="0"/>
          </a:p>
        </p:txBody>
      </p:sp>
      <p:sp>
        <p:nvSpPr>
          <p:cNvPr id="59" name="Text 57"/>
          <p:cNvSpPr/>
          <p:nvPr/>
        </p:nvSpPr>
        <p:spPr>
          <a:xfrm>
            <a:off x="6583680" y="3191256"/>
            <a:ext cx="4544568" cy="347472"/>
          </a:xfrm>
          <a:prstGeom prst="rect">
            <a:avLst/>
          </a:prstGeom>
          <a:noFill/>
          <a:ln/>
        </p:spPr>
        <p:txBody>
          <a:bodyPr wrap="square" lIns="0" tIns="0" rIns="0" bIns="0" rtlCol="0" anchor="ctr">
            <a:normAutofit/>
          </a:bodyPr>
          <a:lstStyle/>
          <a:p>
            <a:pPr indent="0" marL="0">
              <a:buNone/>
            </a:pPr>
            <a:r>
              <a:rPr lang="en-US" sz="1700" b="1" dirty="0">
                <a:solidFill>
                  <a:srgbClr val="101010"/>
                </a:solidFill>
                <a:latin typeface="Inter Display" pitchFamily="34" charset="0"/>
                <a:ea typeface="Inter Display" pitchFamily="34" charset="-122"/>
                <a:cs typeface="Inter Display" pitchFamily="34" charset="-120"/>
              </a:rPr>
              <a:t>Supported Alpine package fix</a:t>
            </a:r>
            <a:endParaRPr lang="en-US" sz="1700" dirty="0"/>
          </a:p>
        </p:txBody>
      </p:sp>
      <p:sp>
        <p:nvSpPr>
          <p:cNvPr id="60" name="Text 58"/>
          <p:cNvSpPr/>
          <p:nvPr/>
        </p:nvSpPr>
        <p:spPr>
          <a:xfrm>
            <a:off x="6583680" y="3721608"/>
            <a:ext cx="4599432" cy="621792"/>
          </a:xfrm>
          <a:prstGeom prst="rect">
            <a:avLst/>
          </a:prstGeom>
          <a:noFill/>
          <a:ln/>
        </p:spPr>
        <p:txBody>
          <a:bodyPr wrap="square" lIns="0" tIns="0" rIns="0" bIns="0" rtlCol="0" anchor="ctr">
            <a:normAutofit/>
          </a:bodyPr>
          <a:lstStyle/>
          <a:p>
            <a:pPr indent="0" marL="0">
              <a:buNone/>
            </a:pPr>
            <a:r>
              <a:rPr lang="en-US" sz="1250" dirty="0">
                <a:solidFill>
                  <a:srgbClr val="575753"/>
                </a:solidFill>
                <a:latin typeface="Inter" pitchFamily="34" charset="0"/>
                <a:ea typeface="Inter" pitchFamily="34" charset="-122"/>
                <a:cs typeface="Inter" pitchFamily="34" charset="-120"/>
              </a:rPr>
              <a:t>Latest frontend and backend Trivy HIGH/CRITICAL findings: none.</a:t>
            </a:r>
            <a:endParaRPr lang="en-US" sz="1250" dirty="0"/>
          </a:p>
        </p:txBody>
      </p:sp>
      <p:sp>
        <p:nvSpPr>
          <p:cNvPr id="61" name="Shape 59"/>
          <p:cNvSpPr/>
          <p:nvPr/>
        </p:nvSpPr>
        <p:spPr>
          <a:xfrm>
            <a:off x="704088" y="5257800"/>
            <a:ext cx="10789920" cy="612648"/>
          </a:xfrm>
          <a:prstGeom prst="roundRect">
            <a:avLst>
              <a:gd name="adj" fmla="val 17910"/>
            </a:avLst>
          </a:prstGeom>
          <a:solidFill>
            <a:srgbClr val="E9E9E6"/>
          </a:solidFill>
          <a:ln w="12700">
            <a:solidFill>
              <a:srgbClr val="E9E9E6">
                <a:alpha val="0"/>
              </a:srgbClr>
            </a:solidFill>
            <a:prstDash val="solid"/>
          </a:ln>
        </p:spPr>
      </p:sp>
      <p:sp>
        <p:nvSpPr>
          <p:cNvPr id="62" name="Text 60"/>
          <p:cNvSpPr/>
          <p:nvPr/>
        </p:nvSpPr>
        <p:spPr>
          <a:xfrm>
            <a:off x="987552" y="5404104"/>
            <a:ext cx="10296144" cy="320040"/>
          </a:xfrm>
          <a:prstGeom prst="rect">
            <a:avLst/>
          </a:prstGeom>
          <a:noFill/>
          <a:ln/>
        </p:spPr>
        <p:txBody>
          <a:bodyPr wrap="square" lIns="0" tIns="0" rIns="0" bIns="0" rtlCol="0" anchor="ctr">
            <a:normAutofit/>
          </a:bodyPr>
          <a:lstStyle/>
          <a:p>
            <a:pPr indent="0" marL="0">
              <a:buNone/>
            </a:pPr>
            <a:r>
              <a:rPr lang="en-US" sz="1300" b="1" dirty="0">
                <a:solidFill>
                  <a:srgbClr val="303030"/>
                </a:solidFill>
                <a:latin typeface="Inter Display" pitchFamily="34" charset="0"/>
                <a:ea typeface="Inter Display" pitchFamily="34" charset="-122"/>
                <a:cs typeface="Inter Display" pitchFamily="34" charset="-120"/>
              </a:rPr>
              <a:t>KEY LESSON   A clean scan is a point-in-time result. Keep scan gates enabled for every build.</a:t>
            </a:r>
            <a:endParaRPr lang="en-US" sz="1300" dirty="0"/>
          </a:p>
        </p:txBody>
      </p:sp>
      <p:sp>
        <p:nvSpPr>
          <p:cNvPr id="63" name="Text 61">
            <a:hlinkClick r:id="rId1" tooltip=""/>
          </p:cNvPr>
          <p:cNvSpPr/>
          <p:nvPr/>
        </p:nvSpPr>
        <p:spPr>
          <a:xfrm>
            <a:off x="896112" y="5989320"/>
            <a:ext cx="6300216" cy="256032"/>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actual CVE evidence and explanation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09 / TERRAFORM + AWS</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AWS infrastructure as code</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Real provisioned environment: Sydney (ap-southeast-2), 18 October 2026.</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10 / 16</a:t>
            </a:r>
            <a:endParaRPr lang="en-US" sz="850" dirty="0"/>
          </a:p>
        </p:txBody>
      </p:sp>
      <p:sp>
        <p:nvSpPr>
          <p:cNvPr id="48" name="Shape 46"/>
          <p:cNvSpPr/>
          <p:nvPr/>
        </p:nvSpPr>
        <p:spPr>
          <a:xfrm>
            <a:off x="640080" y="1728216"/>
            <a:ext cx="10890504" cy="4160520"/>
          </a:xfrm>
          <a:prstGeom prst="roundRect">
            <a:avLst>
              <a:gd name="adj" fmla="val 3736"/>
            </a:avLst>
          </a:prstGeom>
          <a:solidFill>
            <a:srgbClr val="FFFFFF"/>
          </a:solidFill>
          <a:ln w="10160">
            <a:solidFill>
              <a:srgbClr val="D0D0CB"/>
            </a:solidFill>
            <a:prstDash val="solid"/>
          </a:ln>
        </p:spPr>
      </p:sp>
      <p:sp>
        <p:nvSpPr>
          <p:cNvPr id="49" name="Shape 47"/>
          <p:cNvSpPr/>
          <p:nvPr/>
        </p:nvSpPr>
        <p:spPr>
          <a:xfrm>
            <a:off x="886968" y="1938528"/>
            <a:ext cx="2432304" cy="301752"/>
          </a:xfrm>
          <a:prstGeom prst="roundRect">
            <a:avLst>
              <a:gd name="adj" fmla="val 50000"/>
            </a:avLst>
          </a:prstGeom>
          <a:solidFill>
            <a:srgbClr val="ECECEA"/>
          </a:solidFill>
          <a:ln w="12700">
            <a:solidFill>
              <a:srgbClr val="ECECEA">
                <a:alpha val="0"/>
              </a:srgbClr>
            </a:solidFill>
            <a:prstDash val="solid"/>
          </a:ln>
        </p:spPr>
      </p:sp>
      <p:sp>
        <p:nvSpPr>
          <p:cNvPr id="50" name="Text 48"/>
          <p:cNvSpPr/>
          <p:nvPr/>
        </p:nvSpPr>
        <p:spPr>
          <a:xfrm>
            <a:off x="996696" y="1956816"/>
            <a:ext cx="2212848" cy="265176"/>
          </a:xfrm>
          <a:prstGeom prst="rect">
            <a:avLst/>
          </a:prstGeom>
          <a:noFill/>
          <a:ln/>
        </p:spPr>
        <p:txBody>
          <a:bodyPr wrap="square" lIns="0" tIns="0" rIns="0" bIns="0" rtlCol="0" anchor="ctr">
            <a:normAutofit/>
          </a:bodyPr>
          <a:lstStyle/>
          <a:p>
            <a:pPr algn="ctr" indent="0" marL="0">
              <a:buNone/>
            </a:pPr>
            <a:r>
              <a:rPr lang="en-US" sz="1000" b="1" dirty="0">
                <a:solidFill>
                  <a:srgbClr val="D71928"/>
                </a:solidFill>
                <a:latin typeface="PT Mono" pitchFamily="34" charset="0"/>
                <a:ea typeface="PT Mono" pitchFamily="34" charset="-122"/>
                <a:cs typeface="PT Mono" pitchFamily="34" charset="-120"/>
              </a:rPr>
              <a:t>VPC  10.42.0.0/16</a:t>
            </a:r>
            <a:endParaRPr lang="en-US" sz="1000" dirty="0"/>
          </a:p>
        </p:txBody>
      </p:sp>
      <p:sp>
        <p:nvSpPr>
          <p:cNvPr id="51" name="Shape 49"/>
          <p:cNvSpPr/>
          <p:nvPr/>
        </p:nvSpPr>
        <p:spPr>
          <a:xfrm>
            <a:off x="969264" y="2459736"/>
            <a:ext cx="4700016" cy="2697480"/>
          </a:xfrm>
          <a:prstGeom prst="roundRect">
            <a:avLst>
              <a:gd name="adj" fmla="val 1864"/>
            </a:avLst>
          </a:prstGeom>
          <a:solidFill>
            <a:srgbClr val="ECECEA"/>
          </a:solidFill>
          <a:ln w="10160">
            <a:solidFill>
              <a:srgbClr val="D0D0CB"/>
            </a:solidFill>
            <a:prstDash val="solid"/>
          </a:ln>
        </p:spPr>
      </p:sp>
      <p:sp>
        <p:nvSpPr>
          <p:cNvPr id="52" name="Text 50"/>
          <p:cNvSpPr/>
          <p:nvPr/>
        </p:nvSpPr>
        <p:spPr>
          <a:xfrm>
            <a:off x="1188720" y="2642616"/>
            <a:ext cx="4224528" cy="265176"/>
          </a:xfrm>
          <a:prstGeom prst="rect">
            <a:avLst/>
          </a:prstGeom>
          <a:noFill/>
          <a:ln/>
        </p:spPr>
        <p:txBody>
          <a:bodyPr wrap="square" lIns="0" tIns="0" rIns="0" bIns="0" rtlCol="0" anchor="ctr">
            <a:normAutofit/>
          </a:bodyPr>
          <a:lstStyle/>
          <a:p>
            <a:pPr indent="0" marL="0">
              <a:buNone/>
            </a:pPr>
            <a:r>
              <a:rPr lang="en-US" sz="1200" b="1" spc="100" kern="0" dirty="0">
                <a:solidFill>
                  <a:srgbClr val="101010"/>
                </a:solidFill>
                <a:latin typeface="Inter Display" pitchFamily="34" charset="0"/>
                <a:ea typeface="Inter Display" pitchFamily="34" charset="-122"/>
                <a:cs typeface="Inter Display" pitchFamily="34" charset="-120"/>
              </a:rPr>
              <a:t>AVAILABILITY ZONE A</a:t>
            </a:r>
            <a:endParaRPr lang="en-US" sz="1200" dirty="0"/>
          </a:p>
        </p:txBody>
      </p:sp>
      <p:sp>
        <p:nvSpPr>
          <p:cNvPr id="53" name="Shape 51"/>
          <p:cNvSpPr/>
          <p:nvPr/>
        </p:nvSpPr>
        <p:spPr>
          <a:xfrm>
            <a:off x="1197864" y="3118104"/>
            <a:ext cx="4206240" cy="621792"/>
          </a:xfrm>
          <a:prstGeom prst="roundRect">
            <a:avLst>
              <a:gd name="adj" fmla="val 14706"/>
            </a:avLst>
          </a:prstGeom>
          <a:solidFill>
            <a:srgbClr val="E0E0DD"/>
          </a:solidFill>
          <a:ln w="12700">
            <a:solidFill>
              <a:srgbClr val="E0E0DD">
                <a:alpha val="0"/>
              </a:srgbClr>
            </a:solidFill>
            <a:prstDash val="solid"/>
          </a:ln>
        </p:spPr>
      </p:sp>
      <p:sp>
        <p:nvSpPr>
          <p:cNvPr id="54" name="Text 52"/>
          <p:cNvSpPr/>
          <p:nvPr/>
        </p:nvSpPr>
        <p:spPr>
          <a:xfrm>
            <a:off x="1353312" y="3300984"/>
            <a:ext cx="3886200" cy="219456"/>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PUBLIC SUBNET  •  Internet Gateway route</a:t>
            </a:r>
            <a:endParaRPr lang="en-US" sz="1000" dirty="0"/>
          </a:p>
        </p:txBody>
      </p:sp>
      <p:sp>
        <p:nvSpPr>
          <p:cNvPr id="55" name="Shape 53"/>
          <p:cNvSpPr/>
          <p:nvPr/>
        </p:nvSpPr>
        <p:spPr>
          <a:xfrm>
            <a:off x="1197864" y="3995928"/>
            <a:ext cx="4206240" cy="832104"/>
          </a:xfrm>
          <a:prstGeom prst="roundRect">
            <a:avLst>
              <a:gd name="adj" fmla="val 10989"/>
            </a:avLst>
          </a:prstGeom>
          <a:solidFill>
            <a:srgbClr val="E3E7E2"/>
          </a:solidFill>
          <a:ln w="12700">
            <a:solidFill>
              <a:srgbClr val="E3E7E2">
                <a:alpha val="0"/>
              </a:srgbClr>
            </a:solidFill>
            <a:prstDash val="solid"/>
          </a:ln>
        </p:spPr>
      </p:sp>
      <p:sp>
        <p:nvSpPr>
          <p:cNvPr id="56" name="Text 54"/>
          <p:cNvSpPr/>
          <p:nvPr/>
        </p:nvSpPr>
        <p:spPr>
          <a:xfrm>
            <a:off x="1362456" y="4087368"/>
            <a:ext cx="3767328" cy="219456"/>
          </a:xfrm>
          <a:prstGeom prst="rect">
            <a:avLst/>
          </a:prstGeom>
          <a:noFill/>
          <a:ln/>
        </p:spPr>
        <p:txBody>
          <a:bodyPr wrap="square" lIns="0" tIns="0" rIns="0" bIns="0" rtlCol="0" anchor="ctr">
            <a:normAutofit/>
          </a:bodyPr>
          <a:lstStyle/>
          <a:p>
            <a:pPr algn="ctr" indent="0" marL="0">
              <a:buNone/>
            </a:pPr>
            <a:r>
              <a:rPr lang="en-US" sz="1000" b="1" dirty="0">
                <a:solidFill>
                  <a:srgbClr val="D71928"/>
                </a:solidFill>
                <a:latin typeface="PT Mono" pitchFamily="34" charset="0"/>
                <a:ea typeface="PT Mono" pitchFamily="34" charset="-122"/>
                <a:cs typeface="PT Mono" pitchFamily="34" charset="-120"/>
              </a:rPr>
              <a:t>PRIVATE SUBNET</a:t>
            </a:r>
            <a:endParaRPr lang="en-US" sz="1000" dirty="0"/>
          </a:p>
        </p:txBody>
      </p:sp>
      <p:sp>
        <p:nvSpPr>
          <p:cNvPr id="57" name="Text 55"/>
          <p:cNvSpPr/>
          <p:nvPr/>
        </p:nvSpPr>
        <p:spPr>
          <a:xfrm>
            <a:off x="1362456" y="4443984"/>
            <a:ext cx="3767328" cy="237744"/>
          </a:xfrm>
          <a:prstGeom prst="rect">
            <a:avLst/>
          </a:prstGeom>
          <a:noFill/>
          <a:ln/>
        </p:spPr>
        <p:txBody>
          <a:bodyPr wrap="square" lIns="0" tIns="0" rIns="0" bIns="0" rtlCol="0" anchor="ctr">
            <a:normAutofit/>
          </a:bodyPr>
          <a:lstStyle/>
          <a:p>
            <a:pPr indent="0" marL="0">
              <a:buNone/>
            </a:pPr>
            <a:r>
              <a:rPr lang="en-US" sz="1000" b="1" dirty="0">
                <a:solidFill>
                  <a:srgbClr val="303030"/>
                </a:solidFill>
                <a:latin typeface="PT Mono" pitchFamily="34" charset="0"/>
                <a:ea typeface="PT Mono" pitchFamily="34" charset="-122"/>
                <a:cs typeface="PT Mono" pitchFamily="34" charset="-120"/>
              </a:rPr>
              <a:t>EKS worker node • managed group</a:t>
            </a:r>
            <a:endParaRPr lang="en-US" sz="1000" dirty="0"/>
          </a:p>
        </p:txBody>
      </p:sp>
      <p:sp>
        <p:nvSpPr>
          <p:cNvPr id="58" name="Shape 56"/>
          <p:cNvSpPr/>
          <p:nvPr/>
        </p:nvSpPr>
        <p:spPr>
          <a:xfrm>
            <a:off x="6153912" y="2459736"/>
            <a:ext cx="4700016" cy="2697480"/>
          </a:xfrm>
          <a:prstGeom prst="roundRect">
            <a:avLst>
              <a:gd name="adj" fmla="val 1864"/>
            </a:avLst>
          </a:prstGeom>
          <a:solidFill>
            <a:srgbClr val="ECECEA"/>
          </a:solidFill>
          <a:ln w="10160">
            <a:solidFill>
              <a:srgbClr val="D0D0CB"/>
            </a:solidFill>
            <a:prstDash val="solid"/>
          </a:ln>
        </p:spPr>
      </p:sp>
      <p:sp>
        <p:nvSpPr>
          <p:cNvPr id="59" name="Text 57"/>
          <p:cNvSpPr/>
          <p:nvPr/>
        </p:nvSpPr>
        <p:spPr>
          <a:xfrm>
            <a:off x="6373368" y="2642616"/>
            <a:ext cx="4224528" cy="265176"/>
          </a:xfrm>
          <a:prstGeom prst="rect">
            <a:avLst/>
          </a:prstGeom>
          <a:noFill/>
          <a:ln/>
        </p:spPr>
        <p:txBody>
          <a:bodyPr wrap="square" lIns="0" tIns="0" rIns="0" bIns="0" rtlCol="0" anchor="ctr">
            <a:normAutofit/>
          </a:bodyPr>
          <a:lstStyle/>
          <a:p>
            <a:pPr indent="0" marL="0">
              <a:buNone/>
            </a:pPr>
            <a:r>
              <a:rPr lang="en-US" sz="1200" b="1" spc="100" kern="0" dirty="0">
                <a:solidFill>
                  <a:srgbClr val="101010"/>
                </a:solidFill>
                <a:latin typeface="Inter Display" pitchFamily="34" charset="0"/>
                <a:ea typeface="Inter Display" pitchFamily="34" charset="-122"/>
                <a:cs typeface="Inter Display" pitchFamily="34" charset="-120"/>
              </a:rPr>
              <a:t>AVAILABILITY ZONE B</a:t>
            </a:r>
            <a:endParaRPr lang="en-US" sz="1200" dirty="0"/>
          </a:p>
        </p:txBody>
      </p:sp>
      <p:sp>
        <p:nvSpPr>
          <p:cNvPr id="60" name="Shape 58"/>
          <p:cNvSpPr/>
          <p:nvPr/>
        </p:nvSpPr>
        <p:spPr>
          <a:xfrm>
            <a:off x="6382512" y="3118104"/>
            <a:ext cx="4206240" cy="621792"/>
          </a:xfrm>
          <a:prstGeom prst="roundRect">
            <a:avLst>
              <a:gd name="adj" fmla="val 14706"/>
            </a:avLst>
          </a:prstGeom>
          <a:solidFill>
            <a:srgbClr val="E0E0DD"/>
          </a:solidFill>
          <a:ln w="12700">
            <a:solidFill>
              <a:srgbClr val="E0E0DD">
                <a:alpha val="0"/>
              </a:srgbClr>
            </a:solidFill>
            <a:prstDash val="solid"/>
          </a:ln>
        </p:spPr>
      </p:sp>
      <p:sp>
        <p:nvSpPr>
          <p:cNvPr id="61" name="Text 59"/>
          <p:cNvSpPr/>
          <p:nvPr/>
        </p:nvSpPr>
        <p:spPr>
          <a:xfrm>
            <a:off x="6537960" y="3300984"/>
            <a:ext cx="3886200" cy="219456"/>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PUBLIC SUBNET  •  Internet Gateway route</a:t>
            </a:r>
            <a:endParaRPr lang="en-US" sz="1000" dirty="0"/>
          </a:p>
        </p:txBody>
      </p:sp>
      <p:sp>
        <p:nvSpPr>
          <p:cNvPr id="62" name="Shape 60"/>
          <p:cNvSpPr/>
          <p:nvPr/>
        </p:nvSpPr>
        <p:spPr>
          <a:xfrm>
            <a:off x="6382512" y="3995928"/>
            <a:ext cx="4206240" cy="832104"/>
          </a:xfrm>
          <a:prstGeom prst="roundRect">
            <a:avLst>
              <a:gd name="adj" fmla="val 10989"/>
            </a:avLst>
          </a:prstGeom>
          <a:solidFill>
            <a:srgbClr val="E3E7E2"/>
          </a:solidFill>
          <a:ln w="12700">
            <a:solidFill>
              <a:srgbClr val="E3E7E2">
                <a:alpha val="0"/>
              </a:srgbClr>
            </a:solidFill>
            <a:prstDash val="solid"/>
          </a:ln>
        </p:spPr>
      </p:sp>
      <p:sp>
        <p:nvSpPr>
          <p:cNvPr id="63" name="Text 61"/>
          <p:cNvSpPr/>
          <p:nvPr/>
        </p:nvSpPr>
        <p:spPr>
          <a:xfrm>
            <a:off x="6547104" y="4087368"/>
            <a:ext cx="3767328" cy="219456"/>
          </a:xfrm>
          <a:prstGeom prst="rect">
            <a:avLst/>
          </a:prstGeom>
          <a:noFill/>
          <a:ln/>
        </p:spPr>
        <p:txBody>
          <a:bodyPr wrap="square" lIns="0" tIns="0" rIns="0" bIns="0" rtlCol="0" anchor="ctr">
            <a:normAutofit/>
          </a:bodyPr>
          <a:lstStyle/>
          <a:p>
            <a:pPr algn="ctr" indent="0" marL="0">
              <a:buNone/>
            </a:pPr>
            <a:r>
              <a:rPr lang="en-US" sz="1000" b="1" dirty="0">
                <a:solidFill>
                  <a:srgbClr val="D71928"/>
                </a:solidFill>
                <a:latin typeface="PT Mono" pitchFamily="34" charset="0"/>
                <a:ea typeface="PT Mono" pitchFamily="34" charset="-122"/>
                <a:cs typeface="PT Mono" pitchFamily="34" charset="-120"/>
              </a:rPr>
              <a:t>PRIVATE SUBNET</a:t>
            </a:r>
            <a:endParaRPr lang="en-US" sz="1000" dirty="0"/>
          </a:p>
        </p:txBody>
      </p:sp>
      <p:sp>
        <p:nvSpPr>
          <p:cNvPr id="64" name="Text 62"/>
          <p:cNvSpPr/>
          <p:nvPr/>
        </p:nvSpPr>
        <p:spPr>
          <a:xfrm>
            <a:off x="6547104" y="4443984"/>
            <a:ext cx="3767328" cy="237744"/>
          </a:xfrm>
          <a:prstGeom prst="rect">
            <a:avLst/>
          </a:prstGeom>
          <a:noFill/>
          <a:ln/>
        </p:spPr>
        <p:txBody>
          <a:bodyPr wrap="square" lIns="0" tIns="0" rIns="0" bIns="0" rtlCol="0" anchor="ctr">
            <a:normAutofit/>
          </a:bodyPr>
          <a:lstStyle/>
          <a:p>
            <a:pPr indent="0" marL="0">
              <a:buNone/>
            </a:pPr>
            <a:r>
              <a:rPr lang="en-US" sz="1000" b="1" dirty="0">
                <a:solidFill>
                  <a:srgbClr val="303030"/>
                </a:solidFill>
                <a:latin typeface="PT Mono" pitchFamily="34" charset="0"/>
                <a:ea typeface="PT Mono" pitchFamily="34" charset="-122"/>
                <a:cs typeface="PT Mono" pitchFamily="34" charset="-120"/>
              </a:rPr>
              <a:t>EKS worker node • managed group</a:t>
            </a:r>
            <a:endParaRPr lang="en-US" sz="1000" dirty="0"/>
          </a:p>
        </p:txBody>
      </p:sp>
      <p:sp>
        <p:nvSpPr>
          <p:cNvPr id="65" name="Shape 63"/>
          <p:cNvSpPr/>
          <p:nvPr/>
        </p:nvSpPr>
        <p:spPr>
          <a:xfrm>
            <a:off x="877824" y="5385816"/>
            <a:ext cx="1993392" cy="310896"/>
          </a:xfrm>
          <a:prstGeom prst="roundRect">
            <a:avLst>
              <a:gd name="adj" fmla="val 50000"/>
            </a:avLst>
          </a:prstGeom>
          <a:solidFill>
            <a:srgbClr val="ECECEA"/>
          </a:solidFill>
          <a:ln w="12700">
            <a:solidFill>
              <a:srgbClr val="ECECEA">
                <a:alpha val="0"/>
              </a:srgbClr>
            </a:solidFill>
            <a:prstDash val="solid"/>
          </a:ln>
        </p:spPr>
      </p:sp>
      <p:sp>
        <p:nvSpPr>
          <p:cNvPr id="66" name="Text 64"/>
          <p:cNvSpPr/>
          <p:nvPr/>
        </p:nvSpPr>
        <p:spPr>
          <a:xfrm>
            <a:off x="987552" y="5404104"/>
            <a:ext cx="1773936"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2 PUBLIC + 2 PRIVATE</a:t>
            </a:r>
            <a:endParaRPr lang="en-US" sz="1000" dirty="0"/>
          </a:p>
        </p:txBody>
      </p:sp>
      <p:sp>
        <p:nvSpPr>
          <p:cNvPr id="67" name="Shape 65"/>
          <p:cNvSpPr/>
          <p:nvPr/>
        </p:nvSpPr>
        <p:spPr>
          <a:xfrm>
            <a:off x="3081528" y="5385816"/>
            <a:ext cx="1911096" cy="310896"/>
          </a:xfrm>
          <a:prstGeom prst="roundRect">
            <a:avLst>
              <a:gd name="adj" fmla="val 50000"/>
            </a:avLst>
          </a:prstGeom>
          <a:solidFill>
            <a:srgbClr val="ECECEA"/>
          </a:solidFill>
          <a:ln w="12700">
            <a:solidFill>
              <a:srgbClr val="ECECEA">
                <a:alpha val="0"/>
              </a:srgbClr>
            </a:solidFill>
            <a:prstDash val="solid"/>
          </a:ln>
        </p:spPr>
      </p:sp>
      <p:sp>
        <p:nvSpPr>
          <p:cNvPr id="68" name="Text 66"/>
          <p:cNvSpPr/>
          <p:nvPr/>
        </p:nvSpPr>
        <p:spPr>
          <a:xfrm>
            <a:off x="3191256" y="5404104"/>
            <a:ext cx="1691640"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2 READY WORKERS</a:t>
            </a:r>
            <a:endParaRPr lang="en-US" sz="1000" dirty="0"/>
          </a:p>
        </p:txBody>
      </p:sp>
      <p:sp>
        <p:nvSpPr>
          <p:cNvPr id="69" name="Shape 67"/>
          <p:cNvSpPr/>
          <p:nvPr/>
        </p:nvSpPr>
        <p:spPr>
          <a:xfrm>
            <a:off x="5202936" y="5385816"/>
            <a:ext cx="1426464" cy="310896"/>
          </a:xfrm>
          <a:prstGeom prst="roundRect">
            <a:avLst>
              <a:gd name="adj" fmla="val 50000"/>
            </a:avLst>
          </a:prstGeom>
          <a:solidFill>
            <a:srgbClr val="ECECEA"/>
          </a:solidFill>
          <a:ln w="12700">
            <a:solidFill>
              <a:srgbClr val="ECECEA">
                <a:alpha val="0"/>
              </a:srgbClr>
            </a:solidFill>
            <a:prstDash val="solid"/>
          </a:ln>
        </p:spPr>
      </p:sp>
      <p:sp>
        <p:nvSpPr>
          <p:cNvPr id="70" name="Text 68"/>
          <p:cNvSpPr/>
          <p:nvPr/>
        </p:nvSpPr>
        <p:spPr>
          <a:xfrm>
            <a:off x="5312664" y="5404104"/>
            <a:ext cx="1207008"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EKS 1.35</a:t>
            </a:r>
            <a:endParaRPr lang="en-US" sz="1000" dirty="0"/>
          </a:p>
        </p:txBody>
      </p:sp>
      <p:sp>
        <p:nvSpPr>
          <p:cNvPr id="71" name="Shape 69"/>
          <p:cNvSpPr/>
          <p:nvPr/>
        </p:nvSpPr>
        <p:spPr>
          <a:xfrm>
            <a:off x="6848856" y="5385816"/>
            <a:ext cx="2139696" cy="310896"/>
          </a:xfrm>
          <a:prstGeom prst="roundRect">
            <a:avLst>
              <a:gd name="adj" fmla="val 50000"/>
            </a:avLst>
          </a:prstGeom>
          <a:solidFill>
            <a:srgbClr val="ECECEA"/>
          </a:solidFill>
          <a:ln w="12700">
            <a:solidFill>
              <a:srgbClr val="ECECEA">
                <a:alpha val="0"/>
              </a:srgbClr>
            </a:solidFill>
            <a:prstDash val="solid"/>
          </a:ln>
        </p:spPr>
      </p:sp>
      <p:sp>
        <p:nvSpPr>
          <p:cNvPr id="72" name="Text 70"/>
          <p:cNvSpPr/>
          <p:nvPr/>
        </p:nvSpPr>
        <p:spPr>
          <a:xfrm>
            <a:off x="6958584" y="5404104"/>
            <a:ext cx="1920240"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33-RESOURCE APPLY</a:t>
            </a:r>
            <a:endParaRPr lang="en-US" sz="1000" dirty="0"/>
          </a:p>
        </p:txBody>
      </p:sp>
      <p:sp>
        <p:nvSpPr>
          <p:cNvPr id="73" name="Shape 71"/>
          <p:cNvSpPr/>
          <p:nvPr/>
        </p:nvSpPr>
        <p:spPr>
          <a:xfrm>
            <a:off x="9208008" y="5385816"/>
            <a:ext cx="1956816" cy="310896"/>
          </a:xfrm>
          <a:prstGeom prst="roundRect">
            <a:avLst>
              <a:gd name="adj" fmla="val 50000"/>
            </a:avLst>
          </a:prstGeom>
          <a:solidFill>
            <a:srgbClr val="ECECEA"/>
          </a:solidFill>
          <a:ln w="12700">
            <a:solidFill>
              <a:srgbClr val="ECECEA">
                <a:alpha val="0"/>
              </a:srgbClr>
            </a:solidFill>
            <a:prstDash val="solid"/>
          </a:ln>
        </p:spPr>
      </p:sp>
      <p:sp>
        <p:nvSpPr>
          <p:cNvPr id="74" name="Text 72"/>
          <p:cNvSpPr/>
          <p:nvPr/>
        </p:nvSpPr>
        <p:spPr>
          <a:xfrm>
            <a:off x="9317736" y="5404104"/>
            <a:ext cx="1737360"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IAM + EBS CSI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10 / KUBERNETES + HELM</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Real EKS runtime: deployed and checked</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Actual cluster verification from 18 October — preserved as historical evidence.</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11 / 16</a:t>
            </a:r>
            <a:endParaRPr lang="en-US" sz="850" dirty="0"/>
          </a:p>
        </p:txBody>
      </p:sp>
      <p:sp>
        <p:nvSpPr>
          <p:cNvPr id="48" name="Shape 46"/>
          <p:cNvSpPr/>
          <p:nvPr/>
        </p:nvSpPr>
        <p:spPr>
          <a:xfrm>
            <a:off x="630936" y="1792224"/>
            <a:ext cx="5266944" cy="1344168"/>
          </a:xfrm>
          <a:prstGeom prst="roundRect">
            <a:avLst>
              <a:gd name="adj" fmla="val 3741"/>
            </a:avLst>
          </a:prstGeom>
          <a:solidFill>
            <a:srgbClr val="FFFFFF"/>
          </a:solidFill>
          <a:ln w="10160">
            <a:solidFill>
              <a:srgbClr val="D0D0CB"/>
            </a:solidFill>
            <a:prstDash val="solid"/>
          </a:ln>
        </p:spPr>
      </p:sp>
      <p:sp>
        <p:nvSpPr>
          <p:cNvPr id="49" name="Text 47"/>
          <p:cNvSpPr/>
          <p:nvPr/>
        </p:nvSpPr>
        <p:spPr>
          <a:xfrm>
            <a:off x="886968" y="2048256"/>
            <a:ext cx="2075688" cy="557784"/>
          </a:xfrm>
          <a:prstGeom prst="rect">
            <a:avLst/>
          </a:prstGeom>
          <a:noFill/>
          <a:ln/>
        </p:spPr>
        <p:txBody>
          <a:bodyPr wrap="square" lIns="0" tIns="0" rIns="0" bIns="0" rtlCol="0" anchor="ctr">
            <a:normAutofit/>
          </a:bodyPr>
          <a:lstStyle/>
          <a:p>
            <a:pPr indent="0" marL="0">
              <a:buNone/>
            </a:pPr>
            <a:r>
              <a:rPr lang="en-US" sz="2800" b="1" dirty="0">
                <a:solidFill>
                  <a:srgbClr val="D71928"/>
                </a:solidFill>
                <a:latin typeface="Inter Display" pitchFamily="34" charset="0"/>
                <a:ea typeface="Inter Display" pitchFamily="34" charset="-122"/>
                <a:cs typeface="Inter Display" pitchFamily="34" charset="-120"/>
              </a:rPr>
              <a:t>2 / 2</a:t>
            </a:r>
            <a:endParaRPr lang="en-US" sz="2800" dirty="0"/>
          </a:p>
        </p:txBody>
      </p:sp>
      <p:sp>
        <p:nvSpPr>
          <p:cNvPr id="50" name="Text 48"/>
          <p:cNvSpPr/>
          <p:nvPr/>
        </p:nvSpPr>
        <p:spPr>
          <a:xfrm>
            <a:off x="2706624" y="2130552"/>
            <a:ext cx="2889504" cy="548640"/>
          </a:xfrm>
          <a:prstGeom prst="rect">
            <a:avLst/>
          </a:prstGeom>
          <a:noFill/>
          <a:ln/>
        </p:spPr>
        <p:txBody>
          <a:bodyPr wrap="square" lIns="0" tIns="0" rIns="0" bIns="0" rtlCol="0" anchor="ctr">
            <a:normAutofit/>
          </a:bodyPr>
          <a:lstStyle/>
          <a:p>
            <a:pPr indent="0" marL="0">
              <a:buNone/>
            </a:pPr>
            <a:r>
              <a:rPr lang="en-US" sz="1230" b="1" dirty="0">
                <a:solidFill>
                  <a:srgbClr val="575753"/>
                </a:solidFill>
                <a:latin typeface="Inter Display" pitchFamily="34" charset="0"/>
                <a:ea typeface="Inter Display" pitchFamily="34" charset="-122"/>
                <a:cs typeface="Inter Display" pitchFamily="34" charset="-120"/>
              </a:rPr>
              <a:t>Worker nodes Ready</a:t>
            </a:r>
            <a:endParaRPr lang="en-US" sz="1230" dirty="0"/>
          </a:p>
        </p:txBody>
      </p:sp>
      <p:sp>
        <p:nvSpPr>
          <p:cNvPr id="51" name="Shape 49"/>
          <p:cNvSpPr/>
          <p:nvPr/>
        </p:nvSpPr>
        <p:spPr>
          <a:xfrm>
            <a:off x="6190488" y="1792224"/>
            <a:ext cx="5266944" cy="1344168"/>
          </a:xfrm>
          <a:prstGeom prst="roundRect">
            <a:avLst>
              <a:gd name="adj" fmla="val 3741"/>
            </a:avLst>
          </a:prstGeom>
          <a:solidFill>
            <a:srgbClr val="FFFFFF"/>
          </a:solidFill>
          <a:ln w="10160">
            <a:solidFill>
              <a:srgbClr val="D0D0CB"/>
            </a:solidFill>
            <a:prstDash val="solid"/>
          </a:ln>
        </p:spPr>
      </p:sp>
      <p:sp>
        <p:nvSpPr>
          <p:cNvPr id="52" name="Text 50"/>
          <p:cNvSpPr/>
          <p:nvPr/>
        </p:nvSpPr>
        <p:spPr>
          <a:xfrm>
            <a:off x="6446520" y="2048256"/>
            <a:ext cx="2075688" cy="557784"/>
          </a:xfrm>
          <a:prstGeom prst="rect">
            <a:avLst/>
          </a:prstGeom>
          <a:noFill/>
          <a:ln/>
        </p:spPr>
        <p:txBody>
          <a:bodyPr wrap="square" lIns="0" tIns="0" rIns="0" bIns="0" rtlCol="0" anchor="ctr">
            <a:normAutofit/>
          </a:bodyPr>
          <a:lstStyle/>
          <a:p>
            <a:pPr indent="0" marL="0">
              <a:buNone/>
            </a:pPr>
            <a:r>
              <a:rPr lang="en-US" sz="2800" b="1" dirty="0">
                <a:solidFill>
                  <a:srgbClr val="D71928"/>
                </a:solidFill>
                <a:latin typeface="Inter Display" pitchFamily="34" charset="0"/>
                <a:ea typeface="Inter Display" pitchFamily="34" charset="-122"/>
                <a:cs typeface="Inter Display" pitchFamily="34" charset="-120"/>
              </a:rPr>
              <a:t>2 + 2</a:t>
            </a:r>
            <a:endParaRPr lang="en-US" sz="2800" dirty="0"/>
          </a:p>
        </p:txBody>
      </p:sp>
      <p:sp>
        <p:nvSpPr>
          <p:cNvPr id="53" name="Text 51"/>
          <p:cNvSpPr/>
          <p:nvPr/>
        </p:nvSpPr>
        <p:spPr>
          <a:xfrm>
            <a:off x="8266176" y="2130552"/>
            <a:ext cx="2889504" cy="548640"/>
          </a:xfrm>
          <a:prstGeom prst="rect">
            <a:avLst/>
          </a:prstGeom>
          <a:noFill/>
          <a:ln/>
        </p:spPr>
        <p:txBody>
          <a:bodyPr wrap="square" lIns="0" tIns="0" rIns="0" bIns="0" rtlCol="0" anchor="ctr">
            <a:normAutofit/>
          </a:bodyPr>
          <a:lstStyle/>
          <a:p>
            <a:pPr indent="0" marL="0">
              <a:buNone/>
            </a:pPr>
            <a:r>
              <a:rPr lang="en-US" sz="1230" b="1" dirty="0">
                <a:solidFill>
                  <a:srgbClr val="575753"/>
                </a:solidFill>
                <a:latin typeface="Inter Display" pitchFamily="34" charset="0"/>
                <a:ea typeface="Inter Display" pitchFamily="34" charset="-122"/>
                <a:cs typeface="Inter Display" pitchFamily="34" charset="-120"/>
              </a:rPr>
              <a:t>Frontend / backend replicas</a:t>
            </a:r>
            <a:endParaRPr lang="en-US" sz="1230" dirty="0"/>
          </a:p>
        </p:txBody>
      </p:sp>
      <p:sp>
        <p:nvSpPr>
          <p:cNvPr id="54" name="Shape 52"/>
          <p:cNvSpPr/>
          <p:nvPr/>
        </p:nvSpPr>
        <p:spPr>
          <a:xfrm>
            <a:off x="630936" y="3392424"/>
            <a:ext cx="5266944" cy="1344168"/>
          </a:xfrm>
          <a:prstGeom prst="roundRect">
            <a:avLst>
              <a:gd name="adj" fmla="val 3741"/>
            </a:avLst>
          </a:prstGeom>
          <a:solidFill>
            <a:srgbClr val="FFFFFF"/>
          </a:solidFill>
          <a:ln w="10160">
            <a:solidFill>
              <a:srgbClr val="D0D0CB"/>
            </a:solidFill>
            <a:prstDash val="solid"/>
          </a:ln>
        </p:spPr>
      </p:sp>
      <p:sp>
        <p:nvSpPr>
          <p:cNvPr id="55" name="Text 53"/>
          <p:cNvSpPr/>
          <p:nvPr/>
        </p:nvSpPr>
        <p:spPr>
          <a:xfrm>
            <a:off x="886968" y="3648456"/>
            <a:ext cx="2075688" cy="557784"/>
          </a:xfrm>
          <a:prstGeom prst="rect">
            <a:avLst/>
          </a:prstGeom>
          <a:noFill/>
          <a:ln/>
        </p:spPr>
        <p:txBody>
          <a:bodyPr wrap="square" lIns="0" tIns="0" rIns="0" bIns="0" rtlCol="0" anchor="ctr">
            <a:normAutofit/>
          </a:bodyPr>
          <a:lstStyle/>
          <a:p>
            <a:pPr indent="0" marL="0">
              <a:buNone/>
            </a:pPr>
            <a:r>
              <a:rPr lang="en-US" sz="2800" b="1" dirty="0">
                <a:solidFill>
                  <a:srgbClr val="D71928"/>
                </a:solidFill>
                <a:latin typeface="Inter Display" pitchFamily="34" charset="0"/>
                <a:ea typeface="Inter Display" pitchFamily="34" charset="-122"/>
                <a:cs typeface="Inter Display" pitchFamily="34" charset="-120"/>
              </a:rPr>
              <a:t>5 GiB</a:t>
            </a:r>
            <a:endParaRPr lang="en-US" sz="2800" dirty="0"/>
          </a:p>
        </p:txBody>
      </p:sp>
      <p:sp>
        <p:nvSpPr>
          <p:cNvPr id="56" name="Text 54"/>
          <p:cNvSpPr/>
          <p:nvPr/>
        </p:nvSpPr>
        <p:spPr>
          <a:xfrm>
            <a:off x="2706624" y="3730752"/>
            <a:ext cx="2889504" cy="548640"/>
          </a:xfrm>
          <a:prstGeom prst="rect">
            <a:avLst/>
          </a:prstGeom>
          <a:noFill/>
          <a:ln/>
        </p:spPr>
        <p:txBody>
          <a:bodyPr wrap="square" lIns="0" tIns="0" rIns="0" bIns="0" rtlCol="0" anchor="ctr">
            <a:normAutofit/>
          </a:bodyPr>
          <a:lstStyle/>
          <a:p>
            <a:pPr indent="0" marL="0">
              <a:buNone/>
            </a:pPr>
            <a:r>
              <a:rPr lang="en-US" sz="1230" b="1" dirty="0">
                <a:solidFill>
                  <a:srgbClr val="575753"/>
                </a:solidFill>
                <a:latin typeface="Inter Display" pitchFamily="34" charset="0"/>
                <a:ea typeface="Inter Display" pitchFamily="34" charset="-122"/>
                <a:cs typeface="Inter Display" pitchFamily="34" charset="-120"/>
              </a:rPr>
              <a:t>Bound PostgreSQL gp3 PVC</a:t>
            </a:r>
            <a:endParaRPr lang="en-US" sz="1230" dirty="0"/>
          </a:p>
        </p:txBody>
      </p:sp>
      <p:sp>
        <p:nvSpPr>
          <p:cNvPr id="57" name="Shape 55"/>
          <p:cNvSpPr/>
          <p:nvPr/>
        </p:nvSpPr>
        <p:spPr>
          <a:xfrm>
            <a:off x="6190488" y="3392424"/>
            <a:ext cx="5266944" cy="1344168"/>
          </a:xfrm>
          <a:prstGeom prst="roundRect">
            <a:avLst>
              <a:gd name="adj" fmla="val 3741"/>
            </a:avLst>
          </a:prstGeom>
          <a:solidFill>
            <a:srgbClr val="FFFFFF"/>
          </a:solidFill>
          <a:ln w="10160">
            <a:solidFill>
              <a:srgbClr val="D0D0CB"/>
            </a:solidFill>
            <a:prstDash val="solid"/>
          </a:ln>
        </p:spPr>
      </p:sp>
      <p:sp>
        <p:nvSpPr>
          <p:cNvPr id="58" name="Text 56"/>
          <p:cNvSpPr/>
          <p:nvPr/>
        </p:nvSpPr>
        <p:spPr>
          <a:xfrm>
            <a:off x="6446520" y="3648456"/>
            <a:ext cx="2075688" cy="557784"/>
          </a:xfrm>
          <a:prstGeom prst="rect">
            <a:avLst/>
          </a:prstGeom>
          <a:noFill/>
          <a:ln/>
        </p:spPr>
        <p:txBody>
          <a:bodyPr wrap="square" lIns="0" tIns="0" rIns="0" bIns="0" rtlCol="0" anchor="ctr">
            <a:normAutofit/>
          </a:bodyPr>
          <a:lstStyle/>
          <a:p>
            <a:pPr indent="0" marL="0">
              <a:buNone/>
            </a:pPr>
            <a:r>
              <a:rPr lang="en-US" sz="2800" b="1" dirty="0">
                <a:solidFill>
                  <a:srgbClr val="D71928"/>
                </a:solidFill>
                <a:latin typeface="Inter Display" pitchFamily="34" charset="0"/>
                <a:ea typeface="Inter Display" pitchFamily="34" charset="-122"/>
                <a:cs typeface="Inter Display" pitchFamily="34" charset="-120"/>
              </a:rPr>
              <a:t>2 → 6</a:t>
            </a:r>
            <a:endParaRPr lang="en-US" sz="2800" dirty="0"/>
          </a:p>
        </p:txBody>
      </p:sp>
      <p:sp>
        <p:nvSpPr>
          <p:cNvPr id="59" name="Text 57"/>
          <p:cNvSpPr/>
          <p:nvPr/>
        </p:nvSpPr>
        <p:spPr>
          <a:xfrm>
            <a:off x="8266176" y="3730752"/>
            <a:ext cx="2889504" cy="548640"/>
          </a:xfrm>
          <a:prstGeom prst="rect">
            <a:avLst/>
          </a:prstGeom>
          <a:noFill/>
          <a:ln/>
        </p:spPr>
        <p:txBody>
          <a:bodyPr wrap="square" lIns="0" tIns="0" rIns="0" bIns="0" rtlCol="0" anchor="ctr">
            <a:normAutofit/>
          </a:bodyPr>
          <a:lstStyle/>
          <a:p>
            <a:pPr indent="0" marL="0">
              <a:buNone/>
            </a:pPr>
            <a:r>
              <a:rPr lang="en-US" sz="1230" b="1" dirty="0">
                <a:solidFill>
                  <a:srgbClr val="575753"/>
                </a:solidFill>
                <a:latin typeface="Inter Display" pitchFamily="34" charset="0"/>
                <a:ea typeface="Inter Display" pitchFamily="34" charset="-122"/>
                <a:cs typeface="Inter Display" pitchFamily="34" charset="-120"/>
              </a:rPr>
              <a:t>Backend HPA range</a:t>
            </a:r>
            <a:endParaRPr lang="en-US" sz="1230" dirty="0"/>
          </a:p>
        </p:txBody>
      </p:sp>
      <p:sp>
        <p:nvSpPr>
          <p:cNvPr id="60" name="Shape 58"/>
          <p:cNvSpPr/>
          <p:nvPr/>
        </p:nvSpPr>
        <p:spPr>
          <a:xfrm>
            <a:off x="649224" y="5257800"/>
            <a:ext cx="10844784" cy="512064"/>
          </a:xfrm>
          <a:prstGeom prst="roundRect">
            <a:avLst>
              <a:gd name="adj" fmla="val 21429"/>
            </a:avLst>
          </a:prstGeom>
          <a:solidFill>
            <a:srgbClr val="E9E9E6"/>
          </a:solidFill>
          <a:ln w="12700">
            <a:solidFill>
              <a:srgbClr val="E9E9E6">
                <a:alpha val="0"/>
              </a:srgbClr>
            </a:solidFill>
            <a:prstDash val="solid"/>
          </a:ln>
        </p:spPr>
      </p:sp>
      <p:sp>
        <p:nvSpPr>
          <p:cNvPr id="61" name="Text 59"/>
          <p:cNvSpPr/>
          <p:nvPr/>
        </p:nvSpPr>
        <p:spPr>
          <a:xfrm>
            <a:off x="850392" y="5394960"/>
            <a:ext cx="10369296" cy="210312"/>
          </a:xfrm>
          <a:prstGeom prst="rect">
            <a:avLst/>
          </a:prstGeom>
          <a:noFill/>
          <a:ln/>
        </p:spPr>
        <p:txBody>
          <a:bodyPr wrap="square" lIns="0" tIns="0" rIns="0" bIns="0" rtlCol="0" anchor="ctr">
            <a:normAutofit/>
          </a:bodyPr>
          <a:lstStyle/>
          <a:p>
            <a:pPr algn="ctr" indent="0" marL="0">
              <a:buNone/>
            </a:pPr>
            <a:r>
              <a:rPr lang="en-US" sz="1100" b="1" dirty="0">
                <a:solidFill>
                  <a:srgbClr val="303030"/>
                </a:solidFill>
                <a:latin typeface="PT Mono" pitchFamily="34" charset="0"/>
                <a:ea typeface="PT Mono" pitchFamily="34" charset="-122"/>
                <a:cs typeface="PT Mono" pitchFamily="34" charset="-120"/>
              </a:rPr>
              <a:t>Helm deployed  •  Ingress CRUD passed  •  Database migration completed  •  Application SHA pinned</a:t>
            </a:r>
            <a:endParaRPr lang="en-US" sz="1100" dirty="0"/>
          </a:p>
        </p:txBody>
      </p:sp>
      <p:sp>
        <p:nvSpPr>
          <p:cNvPr id="62" name="Text 60">
            <a:hlinkClick r:id="rId1" tooltip=""/>
          </p:cNvPr>
          <p:cNvSpPr/>
          <p:nvPr/>
        </p:nvSpPr>
        <p:spPr>
          <a:xfrm>
            <a:off x="841248" y="6007608"/>
            <a:ext cx="5257800" cy="265176"/>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verified EKS capture review  ↗</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11 / PROMETHEUS + GRAFANA</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Observability: measure the running service</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Real EKS metrics were scraped and queried; dashboard captures were reviewed.</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12 / 16</a:t>
            </a:r>
            <a:endParaRPr lang="en-US" sz="850" dirty="0"/>
          </a:p>
        </p:txBody>
      </p:sp>
      <p:sp>
        <p:nvSpPr>
          <p:cNvPr id="48" name="Shape 46"/>
          <p:cNvSpPr/>
          <p:nvPr/>
        </p:nvSpPr>
        <p:spPr>
          <a:xfrm>
            <a:off x="649224" y="1764792"/>
            <a:ext cx="3538728" cy="1353312"/>
          </a:xfrm>
          <a:prstGeom prst="roundRect">
            <a:avLst>
              <a:gd name="adj" fmla="val 3716"/>
            </a:avLst>
          </a:prstGeom>
          <a:solidFill>
            <a:srgbClr val="FFFFFF"/>
          </a:solidFill>
          <a:ln w="10160">
            <a:solidFill>
              <a:srgbClr val="D0D0CB"/>
            </a:solidFill>
            <a:prstDash val="solid"/>
          </a:ln>
        </p:spPr>
      </p:sp>
      <p:sp>
        <p:nvSpPr>
          <p:cNvPr id="49" name="Text 47"/>
          <p:cNvSpPr/>
          <p:nvPr/>
        </p:nvSpPr>
        <p:spPr>
          <a:xfrm>
            <a:off x="896112" y="2057400"/>
            <a:ext cx="3035808" cy="448056"/>
          </a:xfrm>
          <a:prstGeom prst="rect">
            <a:avLst/>
          </a:prstGeom>
          <a:noFill/>
          <a:ln/>
        </p:spPr>
        <p:txBody>
          <a:bodyPr wrap="square" lIns="0" tIns="0" rIns="0" bIns="0" rtlCol="0" anchor="ctr">
            <a:normAutofit/>
          </a:bodyPr>
          <a:lstStyle/>
          <a:p>
            <a:pPr indent="0" marL="0">
              <a:buNone/>
            </a:pPr>
            <a:r>
              <a:rPr lang="en-US" sz="3200" b="1" dirty="0">
                <a:solidFill>
                  <a:srgbClr val="D71928"/>
                </a:solidFill>
                <a:latin typeface="Inter Display" pitchFamily="34" charset="0"/>
                <a:ea typeface="Inter Display" pitchFamily="34" charset="-122"/>
                <a:cs typeface="Inter Display" pitchFamily="34" charset="-120"/>
              </a:rPr>
              <a:t>2 / 2</a:t>
            </a:r>
            <a:endParaRPr lang="en-US" sz="3200" dirty="0"/>
          </a:p>
        </p:txBody>
      </p:sp>
      <p:sp>
        <p:nvSpPr>
          <p:cNvPr id="50" name="Text 48"/>
          <p:cNvSpPr/>
          <p:nvPr/>
        </p:nvSpPr>
        <p:spPr>
          <a:xfrm>
            <a:off x="905256" y="2660904"/>
            <a:ext cx="3035808" cy="237744"/>
          </a:xfrm>
          <a:prstGeom prst="rect">
            <a:avLst/>
          </a:prstGeom>
          <a:noFill/>
          <a:ln/>
        </p:spPr>
        <p:txBody>
          <a:bodyPr wrap="square" lIns="0" tIns="0" rIns="0" bIns="0" rtlCol="0" anchor="ctr">
            <a:normAutofit/>
          </a:bodyPr>
          <a:lstStyle/>
          <a:p>
            <a:pPr indent="0" marL="0">
              <a:buNone/>
            </a:pPr>
            <a:r>
              <a:rPr lang="en-US" sz="1010" dirty="0">
                <a:solidFill>
                  <a:srgbClr val="575753"/>
                </a:solidFill>
                <a:latin typeface="PT Mono" pitchFamily="34" charset="0"/>
                <a:ea typeface="PT Mono" pitchFamily="34" charset="-122"/>
                <a:cs typeface="PT Mono" pitchFamily="34" charset="-120"/>
              </a:rPr>
              <a:t>Application scrape targets UP</a:t>
            </a:r>
            <a:endParaRPr lang="en-US" sz="1010" dirty="0"/>
          </a:p>
        </p:txBody>
      </p:sp>
      <p:sp>
        <p:nvSpPr>
          <p:cNvPr id="51" name="Shape 49"/>
          <p:cNvSpPr/>
          <p:nvPr/>
        </p:nvSpPr>
        <p:spPr>
          <a:xfrm>
            <a:off x="4471416" y="1764792"/>
            <a:ext cx="3538728" cy="1353312"/>
          </a:xfrm>
          <a:prstGeom prst="roundRect">
            <a:avLst>
              <a:gd name="adj" fmla="val 3716"/>
            </a:avLst>
          </a:prstGeom>
          <a:solidFill>
            <a:srgbClr val="FFFFFF"/>
          </a:solidFill>
          <a:ln w="10160">
            <a:solidFill>
              <a:srgbClr val="D0D0CB"/>
            </a:solidFill>
            <a:prstDash val="solid"/>
          </a:ln>
        </p:spPr>
      </p:sp>
      <p:sp>
        <p:nvSpPr>
          <p:cNvPr id="52" name="Text 50"/>
          <p:cNvSpPr/>
          <p:nvPr/>
        </p:nvSpPr>
        <p:spPr>
          <a:xfrm>
            <a:off x="4718304" y="2057400"/>
            <a:ext cx="3035808" cy="448056"/>
          </a:xfrm>
          <a:prstGeom prst="rect">
            <a:avLst/>
          </a:prstGeom>
          <a:noFill/>
          <a:ln/>
        </p:spPr>
        <p:txBody>
          <a:bodyPr wrap="square" lIns="0" tIns="0" rIns="0" bIns="0" rtlCol="0" anchor="ctr">
            <a:normAutofit/>
          </a:bodyPr>
          <a:lstStyle/>
          <a:p>
            <a:pPr indent="0" marL="0">
              <a:buNone/>
            </a:pPr>
            <a:r>
              <a:rPr lang="en-US" sz="2600" b="1" dirty="0">
                <a:solidFill>
                  <a:srgbClr val="D71928"/>
                </a:solidFill>
                <a:latin typeface="Inter Display" pitchFamily="34" charset="0"/>
                <a:ea typeface="Inter Display" pitchFamily="34" charset="-122"/>
                <a:cs typeface="Inter Display" pitchFamily="34" charset="-120"/>
              </a:rPr>
              <a:t>2.13 req/s</a:t>
            </a:r>
            <a:endParaRPr lang="en-US" sz="2600" dirty="0"/>
          </a:p>
        </p:txBody>
      </p:sp>
      <p:sp>
        <p:nvSpPr>
          <p:cNvPr id="53" name="Text 51"/>
          <p:cNvSpPr/>
          <p:nvPr/>
        </p:nvSpPr>
        <p:spPr>
          <a:xfrm>
            <a:off x="4727448" y="2660904"/>
            <a:ext cx="3035808" cy="237744"/>
          </a:xfrm>
          <a:prstGeom prst="rect">
            <a:avLst/>
          </a:prstGeom>
          <a:noFill/>
          <a:ln/>
        </p:spPr>
        <p:txBody>
          <a:bodyPr wrap="square" lIns="0" tIns="0" rIns="0" bIns="0" rtlCol="0" anchor="ctr">
            <a:normAutofit/>
          </a:bodyPr>
          <a:lstStyle/>
          <a:p>
            <a:pPr indent="0" marL="0">
              <a:buNone/>
            </a:pPr>
            <a:r>
              <a:rPr lang="en-US" sz="1010" dirty="0">
                <a:solidFill>
                  <a:srgbClr val="575753"/>
                </a:solidFill>
                <a:latin typeface="PT Mono" pitchFamily="34" charset="0"/>
                <a:ea typeface="PT Mono" pitchFamily="34" charset="-122"/>
                <a:cs typeface="PT Mono" pitchFamily="34" charset="-120"/>
              </a:rPr>
              <a:t>Observed EKS query (refreshed capture)</a:t>
            </a:r>
            <a:endParaRPr lang="en-US" sz="1010" dirty="0"/>
          </a:p>
        </p:txBody>
      </p:sp>
      <p:sp>
        <p:nvSpPr>
          <p:cNvPr id="54" name="Shape 52"/>
          <p:cNvSpPr/>
          <p:nvPr/>
        </p:nvSpPr>
        <p:spPr>
          <a:xfrm>
            <a:off x="8293608" y="1764792"/>
            <a:ext cx="3538728" cy="1353312"/>
          </a:xfrm>
          <a:prstGeom prst="roundRect">
            <a:avLst>
              <a:gd name="adj" fmla="val 3716"/>
            </a:avLst>
          </a:prstGeom>
          <a:solidFill>
            <a:srgbClr val="FFFFFF"/>
          </a:solidFill>
          <a:ln w="10160">
            <a:solidFill>
              <a:srgbClr val="D0D0CB"/>
            </a:solidFill>
            <a:prstDash val="solid"/>
          </a:ln>
        </p:spPr>
      </p:sp>
      <p:sp>
        <p:nvSpPr>
          <p:cNvPr id="55" name="Text 53"/>
          <p:cNvSpPr/>
          <p:nvPr/>
        </p:nvSpPr>
        <p:spPr>
          <a:xfrm>
            <a:off x="8540496" y="2057400"/>
            <a:ext cx="3035808" cy="448056"/>
          </a:xfrm>
          <a:prstGeom prst="rect">
            <a:avLst/>
          </a:prstGeom>
          <a:noFill/>
          <a:ln/>
        </p:spPr>
        <p:txBody>
          <a:bodyPr wrap="square" lIns="0" tIns="0" rIns="0" bIns="0" rtlCol="0" anchor="ctr">
            <a:normAutofit/>
          </a:bodyPr>
          <a:lstStyle/>
          <a:p>
            <a:pPr indent="0" marL="0">
              <a:buNone/>
            </a:pPr>
            <a:r>
              <a:rPr lang="en-US" sz="3200" b="1" dirty="0">
                <a:solidFill>
                  <a:srgbClr val="D71928"/>
                </a:solidFill>
                <a:latin typeface="Inter Display" pitchFamily="34" charset="0"/>
                <a:ea typeface="Inter Display" pitchFamily="34" charset="-122"/>
                <a:cs typeface="Inter Display" pitchFamily="34" charset="-120"/>
              </a:rPr>
              <a:t>4</a:t>
            </a:r>
            <a:endParaRPr lang="en-US" sz="3200" dirty="0"/>
          </a:p>
        </p:txBody>
      </p:sp>
      <p:sp>
        <p:nvSpPr>
          <p:cNvPr id="56" name="Text 54"/>
          <p:cNvSpPr/>
          <p:nvPr/>
        </p:nvSpPr>
        <p:spPr>
          <a:xfrm>
            <a:off x="8549640" y="2660904"/>
            <a:ext cx="3035808" cy="237744"/>
          </a:xfrm>
          <a:prstGeom prst="rect">
            <a:avLst/>
          </a:prstGeom>
          <a:noFill/>
          <a:ln/>
        </p:spPr>
        <p:txBody>
          <a:bodyPr wrap="square" lIns="0" tIns="0" rIns="0" bIns="0" rtlCol="0" anchor="ctr">
            <a:normAutofit/>
          </a:bodyPr>
          <a:lstStyle/>
          <a:p>
            <a:pPr indent="0" marL="0">
              <a:buNone/>
            </a:pPr>
            <a:r>
              <a:rPr lang="en-US" sz="1010" dirty="0">
                <a:solidFill>
                  <a:srgbClr val="575753"/>
                </a:solidFill>
                <a:latin typeface="PT Mono" pitchFamily="34" charset="0"/>
                <a:ea typeface="PT Mono" pitchFamily="34" charset="-122"/>
                <a:cs typeface="PT Mono" pitchFamily="34" charset="-120"/>
              </a:rPr>
              <a:t>Populated Grafana panels</a:t>
            </a:r>
            <a:endParaRPr lang="en-US" sz="1010" dirty="0"/>
          </a:p>
        </p:txBody>
      </p:sp>
      <p:sp>
        <p:nvSpPr>
          <p:cNvPr id="57" name="Shape 55"/>
          <p:cNvSpPr/>
          <p:nvPr/>
        </p:nvSpPr>
        <p:spPr>
          <a:xfrm>
            <a:off x="667512" y="3447288"/>
            <a:ext cx="6473952" cy="2276856"/>
          </a:xfrm>
          <a:prstGeom prst="roundRect">
            <a:avLst>
              <a:gd name="adj" fmla="val 2209"/>
            </a:avLst>
          </a:prstGeom>
          <a:solidFill>
            <a:srgbClr val="FFFFFF"/>
          </a:solidFill>
          <a:ln w="10160">
            <a:solidFill>
              <a:srgbClr val="D0D0CB"/>
            </a:solidFill>
            <a:prstDash val="solid"/>
          </a:ln>
        </p:spPr>
      </p:sp>
      <p:sp>
        <p:nvSpPr>
          <p:cNvPr id="58" name="Text 56"/>
          <p:cNvSpPr/>
          <p:nvPr/>
        </p:nvSpPr>
        <p:spPr>
          <a:xfrm>
            <a:off x="978408" y="3712464"/>
            <a:ext cx="5669280" cy="283464"/>
          </a:xfrm>
          <a:prstGeom prst="rect">
            <a:avLst/>
          </a:prstGeom>
          <a:noFill/>
          <a:ln/>
        </p:spPr>
        <p:txBody>
          <a:bodyPr wrap="square" lIns="0" tIns="0" rIns="0" bIns="0" rtlCol="0" anchor="ctr">
            <a:normAutofit/>
          </a:bodyPr>
          <a:lstStyle/>
          <a:p>
            <a:pPr indent="0" marL="0">
              <a:buNone/>
            </a:pPr>
            <a:r>
              <a:rPr lang="en-US" sz="1300" b="1" spc="60" kern="0" dirty="0">
                <a:solidFill>
                  <a:srgbClr val="B91622"/>
                </a:solidFill>
                <a:latin typeface="Inter Display" pitchFamily="34" charset="0"/>
                <a:ea typeface="Inter Display" pitchFamily="34" charset="-122"/>
                <a:cs typeface="Inter Display" pitchFamily="34" charset="-120"/>
              </a:rPr>
              <a:t>WHAT THE DASHBOARD SHOWS</a:t>
            </a:r>
            <a:endParaRPr lang="en-US" sz="1300" dirty="0"/>
          </a:p>
        </p:txBody>
      </p:sp>
      <p:sp>
        <p:nvSpPr>
          <p:cNvPr id="59" name="Shape 57"/>
          <p:cNvSpPr/>
          <p:nvPr/>
        </p:nvSpPr>
        <p:spPr>
          <a:xfrm>
            <a:off x="978408" y="4215384"/>
            <a:ext cx="109728" cy="109728"/>
          </a:xfrm>
          <a:prstGeom prst="ellipse">
            <a:avLst/>
          </a:prstGeom>
          <a:solidFill>
            <a:srgbClr val="D71928"/>
          </a:solidFill>
          <a:ln w="12700">
            <a:solidFill>
              <a:srgbClr val="D71928">
                <a:alpha val="0"/>
              </a:srgbClr>
            </a:solidFill>
            <a:prstDash val="solid"/>
          </a:ln>
        </p:spPr>
      </p:sp>
      <p:sp>
        <p:nvSpPr>
          <p:cNvPr id="60" name="Text 58"/>
          <p:cNvSpPr/>
          <p:nvPr/>
        </p:nvSpPr>
        <p:spPr>
          <a:xfrm>
            <a:off x="1188720" y="4160520"/>
            <a:ext cx="2487168" cy="256032"/>
          </a:xfrm>
          <a:prstGeom prst="rect">
            <a:avLst/>
          </a:prstGeom>
          <a:noFill/>
          <a:ln/>
        </p:spPr>
        <p:txBody>
          <a:bodyPr wrap="square" lIns="0" tIns="0" rIns="0" bIns="0" rtlCol="0" anchor="ctr">
            <a:normAutofit/>
          </a:bodyPr>
          <a:lstStyle/>
          <a:p>
            <a:pPr indent="0" marL="0">
              <a:buNone/>
            </a:pPr>
            <a:r>
              <a:rPr lang="en-US" sz="1150" b="1" dirty="0">
                <a:solidFill>
                  <a:srgbClr val="101010"/>
                </a:solidFill>
                <a:latin typeface="PT Mono" pitchFamily="34" charset="0"/>
                <a:ea typeface="PT Mono" pitchFamily="34" charset="-122"/>
                <a:cs typeface="PT Mono" pitchFamily="34" charset="-120"/>
              </a:rPr>
              <a:t>Request rate</a:t>
            </a:r>
            <a:endParaRPr lang="en-US" sz="1150" dirty="0"/>
          </a:p>
        </p:txBody>
      </p:sp>
      <p:sp>
        <p:nvSpPr>
          <p:cNvPr id="61" name="Text 59"/>
          <p:cNvSpPr/>
          <p:nvPr/>
        </p:nvSpPr>
        <p:spPr>
          <a:xfrm>
            <a:off x="1188720" y="4443984"/>
            <a:ext cx="2551176" cy="210312"/>
          </a:xfrm>
          <a:prstGeom prst="rect">
            <a:avLst/>
          </a:prstGeom>
          <a:noFill/>
          <a:ln/>
        </p:spPr>
        <p:txBody>
          <a:bodyPr wrap="square" lIns="0" tIns="0" rIns="0" bIns="0" rtlCol="0" anchor="ctr">
            <a:normAutofit/>
          </a:bodyPr>
          <a:lstStyle/>
          <a:p>
            <a:pPr indent="0" marL="0">
              <a:buNone/>
            </a:pPr>
            <a:r>
              <a:rPr lang="en-US" sz="920" dirty="0">
                <a:solidFill>
                  <a:srgbClr val="575753"/>
                </a:solidFill>
                <a:latin typeface="PT Mono" pitchFamily="34" charset="0"/>
                <a:ea typeface="PT Mono" pitchFamily="34" charset="-122"/>
                <a:cs typeface="PT Mono" pitchFamily="34" charset="-120"/>
              </a:rPr>
              <a:t>Prometheus counter → rate()</a:t>
            </a:r>
            <a:endParaRPr lang="en-US" sz="920" dirty="0"/>
          </a:p>
        </p:txBody>
      </p:sp>
      <p:sp>
        <p:nvSpPr>
          <p:cNvPr id="62" name="Shape 60"/>
          <p:cNvSpPr/>
          <p:nvPr/>
        </p:nvSpPr>
        <p:spPr>
          <a:xfrm>
            <a:off x="3931920" y="4215384"/>
            <a:ext cx="109728" cy="109728"/>
          </a:xfrm>
          <a:prstGeom prst="ellipse">
            <a:avLst/>
          </a:prstGeom>
          <a:solidFill>
            <a:srgbClr val="D71928"/>
          </a:solidFill>
          <a:ln w="12700">
            <a:solidFill>
              <a:srgbClr val="D71928">
                <a:alpha val="0"/>
              </a:srgbClr>
            </a:solidFill>
            <a:prstDash val="solid"/>
          </a:ln>
        </p:spPr>
      </p:sp>
      <p:sp>
        <p:nvSpPr>
          <p:cNvPr id="63" name="Text 61"/>
          <p:cNvSpPr/>
          <p:nvPr/>
        </p:nvSpPr>
        <p:spPr>
          <a:xfrm>
            <a:off x="4142232" y="4160520"/>
            <a:ext cx="2487168" cy="256032"/>
          </a:xfrm>
          <a:prstGeom prst="rect">
            <a:avLst/>
          </a:prstGeom>
          <a:noFill/>
          <a:ln/>
        </p:spPr>
        <p:txBody>
          <a:bodyPr wrap="square" lIns="0" tIns="0" rIns="0" bIns="0" rtlCol="0" anchor="ctr">
            <a:normAutofit/>
          </a:bodyPr>
          <a:lstStyle/>
          <a:p>
            <a:pPr indent="0" marL="0">
              <a:buNone/>
            </a:pPr>
            <a:r>
              <a:rPr lang="en-US" sz="1150" b="1" dirty="0">
                <a:solidFill>
                  <a:srgbClr val="101010"/>
                </a:solidFill>
                <a:latin typeface="PT Mono" pitchFamily="34" charset="0"/>
                <a:ea typeface="PT Mono" pitchFamily="34" charset="-122"/>
                <a:cs typeface="PT Mono" pitchFamily="34" charset="-120"/>
              </a:rPr>
              <a:t>p95 latency</a:t>
            </a:r>
            <a:endParaRPr lang="en-US" sz="1150" dirty="0"/>
          </a:p>
        </p:txBody>
      </p:sp>
      <p:sp>
        <p:nvSpPr>
          <p:cNvPr id="64" name="Text 62"/>
          <p:cNvSpPr/>
          <p:nvPr/>
        </p:nvSpPr>
        <p:spPr>
          <a:xfrm>
            <a:off x="4142232" y="4443984"/>
            <a:ext cx="2551176" cy="210312"/>
          </a:xfrm>
          <a:prstGeom prst="rect">
            <a:avLst/>
          </a:prstGeom>
          <a:noFill/>
          <a:ln/>
        </p:spPr>
        <p:txBody>
          <a:bodyPr wrap="square" lIns="0" tIns="0" rIns="0" bIns="0" rtlCol="0" anchor="ctr">
            <a:normAutofit/>
          </a:bodyPr>
          <a:lstStyle/>
          <a:p>
            <a:pPr indent="0" marL="0">
              <a:buNone/>
            </a:pPr>
            <a:r>
              <a:rPr lang="en-US" sz="920" dirty="0">
                <a:solidFill>
                  <a:srgbClr val="575753"/>
                </a:solidFill>
                <a:latin typeface="PT Mono" pitchFamily="34" charset="0"/>
                <a:ea typeface="PT Mono" pitchFamily="34" charset="-122"/>
                <a:cs typeface="PT Mono" pitchFamily="34" charset="-120"/>
              </a:rPr>
              <a:t>Histogram → quantile()</a:t>
            </a:r>
            <a:endParaRPr lang="en-US" sz="920" dirty="0"/>
          </a:p>
        </p:txBody>
      </p:sp>
      <p:sp>
        <p:nvSpPr>
          <p:cNvPr id="65" name="Shape 63"/>
          <p:cNvSpPr/>
          <p:nvPr/>
        </p:nvSpPr>
        <p:spPr>
          <a:xfrm>
            <a:off x="978408" y="4873752"/>
            <a:ext cx="109728" cy="109728"/>
          </a:xfrm>
          <a:prstGeom prst="ellipse">
            <a:avLst/>
          </a:prstGeom>
          <a:solidFill>
            <a:srgbClr val="D71928"/>
          </a:solidFill>
          <a:ln w="12700">
            <a:solidFill>
              <a:srgbClr val="D71928">
                <a:alpha val="0"/>
              </a:srgbClr>
            </a:solidFill>
            <a:prstDash val="solid"/>
          </a:ln>
        </p:spPr>
      </p:sp>
      <p:sp>
        <p:nvSpPr>
          <p:cNvPr id="66" name="Text 64"/>
          <p:cNvSpPr/>
          <p:nvPr/>
        </p:nvSpPr>
        <p:spPr>
          <a:xfrm>
            <a:off x="1188720" y="4818888"/>
            <a:ext cx="2487168" cy="256032"/>
          </a:xfrm>
          <a:prstGeom prst="rect">
            <a:avLst/>
          </a:prstGeom>
          <a:noFill/>
          <a:ln/>
        </p:spPr>
        <p:txBody>
          <a:bodyPr wrap="square" lIns="0" tIns="0" rIns="0" bIns="0" rtlCol="0" anchor="ctr">
            <a:normAutofit/>
          </a:bodyPr>
          <a:lstStyle/>
          <a:p>
            <a:pPr indent="0" marL="0">
              <a:buNone/>
            </a:pPr>
            <a:r>
              <a:rPr lang="en-US" sz="1150" b="1" dirty="0">
                <a:solidFill>
                  <a:srgbClr val="101010"/>
                </a:solidFill>
                <a:latin typeface="PT Mono" pitchFamily="34" charset="0"/>
                <a:ea typeface="PT Mono" pitchFamily="34" charset="-122"/>
                <a:cs typeface="PT Mono" pitchFamily="34" charset="-120"/>
              </a:rPr>
              <a:t>Server error ratio</a:t>
            </a:r>
            <a:endParaRPr lang="en-US" sz="1150" dirty="0"/>
          </a:p>
        </p:txBody>
      </p:sp>
      <p:sp>
        <p:nvSpPr>
          <p:cNvPr id="67" name="Text 65"/>
          <p:cNvSpPr/>
          <p:nvPr/>
        </p:nvSpPr>
        <p:spPr>
          <a:xfrm>
            <a:off x="1188720" y="5102352"/>
            <a:ext cx="2551176" cy="210312"/>
          </a:xfrm>
          <a:prstGeom prst="rect">
            <a:avLst/>
          </a:prstGeom>
          <a:noFill/>
          <a:ln/>
        </p:spPr>
        <p:txBody>
          <a:bodyPr wrap="square" lIns="0" tIns="0" rIns="0" bIns="0" rtlCol="0" anchor="ctr">
            <a:normAutofit/>
          </a:bodyPr>
          <a:lstStyle/>
          <a:p>
            <a:pPr indent="0" marL="0">
              <a:buNone/>
            </a:pPr>
            <a:r>
              <a:rPr lang="en-US" sz="920" dirty="0">
                <a:solidFill>
                  <a:srgbClr val="575753"/>
                </a:solidFill>
                <a:latin typeface="PT Mono" pitchFamily="34" charset="0"/>
                <a:ea typeface="PT Mono" pitchFamily="34" charset="-122"/>
                <a:cs typeface="PT Mono" pitchFamily="34" charset="-120"/>
              </a:rPr>
              <a:t>0–100% axis verified</a:t>
            </a:r>
            <a:endParaRPr lang="en-US" sz="920" dirty="0"/>
          </a:p>
        </p:txBody>
      </p:sp>
      <p:sp>
        <p:nvSpPr>
          <p:cNvPr id="68" name="Shape 66"/>
          <p:cNvSpPr/>
          <p:nvPr/>
        </p:nvSpPr>
        <p:spPr>
          <a:xfrm>
            <a:off x="3931920" y="4873752"/>
            <a:ext cx="109728" cy="109728"/>
          </a:xfrm>
          <a:prstGeom prst="ellipse">
            <a:avLst/>
          </a:prstGeom>
          <a:solidFill>
            <a:srgbClr val="D71928"/>
          </a:solidFill>
          <a:ln w="12700">
            <a:solidFill>
              <a:srgbClr val="D71928">
                <a:alpha val="0"/>
              </a:srgbClr>
            </a:solidFill>
            <a:prstDash val="solid"/>
          </a:ln>
        </p:spPr>
      </p:sp>
      <p:sp>
        <p:nvSpPr>
          <p:cNvPr id="69" name="Text 67"/>
          <p:cNvSpPr/>
          <p:nvPr/>
        </p:nvSpPr>
        <p:spPr>
          <a:xfrm>
            <a:off x="4142232" y="4818888"/>
            <a:ext cx="2487168" cy="256032"/>
          </a:xfrm>
          <a:prstGeom prst="rect">
            <a:avLst/>
          </a:prstGeom>
          <a:noFill/>
          <a:ln/>
        </p:spPr>
        <p:txBody>
          <a:bodyPr wrap="square" lIns="0" tIns="0" rIns="0" bIns="0" rtlCol="0" anchor="ctr">
            <a:normAutofit/>
          </a:bodyPr>
          <a:lstStyle/>
          <a:p>
            <a:pPr indent="0" marL="0">
              <a:buNone/>
            </a:pPr>
            <a:r>
              <a:rPr lang="en-US" sz="1150" b="1" dirty="0">
                <a:solidFill>
                  <a:srgbClr val="101010"/>
                </a:solidFill>
                <a:latin typeface="PT Mono" pitchFamily="34" charset="0"/>
                <a:ea typeface="PT Mono" pitchFamily="34" charset="-122"/>
                <a:cs typeface="PT Mono" pitchFamily="34" charset="-120"/>
              </a:rPr>
              <a:t>Target availability</a:t>
            </a:r>
            <a:endParaRPr lang="en-US" sz="1150" dirty="0"/>
          </a:p>
        </p:txBody>
      </p:sp>
      <p:sp>
        <p:nvSpPr>
          <p:cNvPr id="70" name="Text 68"/>
          <p:cNvSpPr/>
          <p:nvPr/>
        </p:nvSpPr>
        <p:spPr>
          <a:xfrm>
            <a:off x="4142232" y="5102352"/>
            <a:ext cx="2551176" cy="210312"/>
          </a:xfrm>
          <a:prstGeom prst="rect">
            <a:avLst/>
          </a:prstGeom>
          <a:noFill/>
          <a:ln/>
        </p:spPr>
        <p:txBody>
          <a:bodyPr wrap="square" lIns="0" tIns="0" rIns="0" bIns="0" rtlCol="0" anchor="ctr">
            <a:normAutofit/>
          </a:bodyPr>
          <a:lstStyle/>
          <a:p>
            <a:pPr indent="0" marL="0">
              <a:buNone/>
            </a:pPr>
            <a:r>
              <a:rPr lang="en-US" sz="920" dirty="0">
                <a:solidFill>
                  <a:srgbClr val="575753"/>
                </a:solidFill>
                <a:latin typeface="PT Mono" pitchFamily="34" charset="0"/>
                <a:ea typeface="PT Mono" pitchFamily="34" charset="-122"/>
                <a:cs typeface="PT Mono" pitchFamily="34" charset="-120"/>
              </a:rPr>
              <a:t>2 backend targets UP</a:t>
            </a:r>
            <a:endParaRPr lang="en-US" sz="920" dirty="0"/>
          </a:p>
        </p:txBody>
      </p:sp>
      <p:sp>
        <p:nvSpPr>
          <p:cNvPr id="71" name="Shape 69"/>
          <p:cNvSpPr/>
          <p:nvPr/>
        </p:nvSpPr>
        <p:spPr>
          <a:xfrm>
            <a:off x="7388352" y="3447288"/>
            <a:ext cx="4133088" cy="2276856"/>
          </a:xfrm>
          <a:prstGeom prst="roundRect">
            <a:avLst>
              <a:gd name="adj" fmla="val 2209"/>
            </a:avLst>
          </a:prstGeom>
          <a:solidFill>
            <a:srgbClr val="FFFFFF"/>
          </a:solidFill>
          <a:ln w="10160">
            <a:solidFill>
              <a:srgbClr val="D0D0CB"/>
            </a:solidFill>
            <a:prstDash val="solid"/>
          </a:ln>
        </p:spPr>
      </p:sp>
      <p:sp>
        <p:nvSpPr>
          <p:cNvPr id="72" name="Text 70"/>
          <p:cNvSpPr/>
          <p:nvPr/>
        </p:nvSpPr>
        <p:spPr>
          <a:xfrm>
            <a:off x="7662672" y="3749040"/>
            <a:ext cx="3584448" cy="265176"/>
          </a:xfrm>
          <a:prstGeom prst="rect">
            <a:avLst/>
          </a:prstGeom>
          <a:noFill/>
          <a:ln/>
        </p:spPr>
        <p:txBody>
          <a:bodyPr wrap="square" lIns="0" tIns="0" rIns="0" bIns="0" rtlCol="0" anchor="ctr">
            <a:normAutofit/>
          </a:bodyPr>
          <a:lstStyle/>
          <a:p>
            <a:pPr indent="0" marL="0">
              <a:buNone/>
            </a:pPr>
            <a:r>
              <a:rPr lang="en-US" sz="1200" b="1" dirty="0">
                <a:solidFill>
                  <a:srgbClr val="B91622"/>
                </a:solidFill>
                <a:latin typeface="Inter Display" pitchFamily="34" charset="0"/>
                <a:ea typeface="Inter Display" pitchFamily="34" charset="-122"/>
                <a:cs typeface="Inter Display" pitchFamily="34" charset="-120"/>
              </a:rPr>
              <a:t>TWO DISTINCT METRIC PATHS</a:t>
            </a:r>
            <a:endParaRPr lang="en-US" sz="1200" dirty="0"/>
          </a:p>
        </p:txBody>
      </p:sp>
      <p:sp>
        <p:nvSpPr>
          <p:cNvPr id="73" name="Text 71"/>
          <p:cNvSpPr/>
          <p:nvPr/>
        </p:nvSpPr>
        <p:spPr>
          <a:xfrm>
            <a:off x="7653528" y="4261104"/>
            <a:ext cx="3511296" cy="265176"/>
          </a:xfrm>
          <a:prstGeom prst="rect">
            <a:avLst/>
          </a:prstGeom>
          <a:noFill/>
          <a:ln/>
        </p:spPr>
        <p:txBody>
          <a:bodyPr wrap="square" lIns="0" tIns="0" rIns="0" bIns="0" rtlCol="0" anchor="ctr">
            <a:normAutofit/>
          </a:bodyPr>
          <a:lstStyle/>
          <a:p>
            <a:pPr indent="0" marL="0">
              <a:buNone/>
            </a:pPr>
            <a:r>
              <a:rPr lang="en-US" sz="1400" b="1" dirty="0">
                <a:solidFill>
                  <a:srgbClr val="101010"/>
                </a:solidFill>
                <a:latin typeface="Inter Display" pitchFamily="34" charset="0"/>
                <a:ea typeface="Inter Display" pitchFamily="34" charset="-122"/>
                <a:cs typeface="Inter Display" pitchFamily="34" charset="-120"/>
              </a:rPr>
              <a:t>Prometheus + Grafana</a:t>
            </a:r>
            <a:endParaRPr lang="en-US" sz="1400" dirty="0"/>
          </a:p>
        </p:txBody>
      </p:sp>
      <p:sp>
        <p:nvSpPr>
          <p:cNvPr id="74" name="Text 72"/>
          <p:cNvSpPr/>
          <p:nvPr/>
        </p:nvSpPr>
        <p:spPr>
          <a:xfrm>
            <a:off x="7653528" y="4608576"/>
            <a:ext cx="3419856" cy="246888"/>
          </a:xfrm>
          <a:prstGeom prst="rect">
            <a:avLst/>
          </a:prstGeom>
          <a:noFill/>
          <a:ln/>
        </p:spPr>
        <p:txBody>
          <a:bodyPr wrap="square" lIns="0" tIns="0" rIns="0" bIns="0" rtlCol="0" anchor="ctr">
            <a:normAutofit/>
          </a:bodyPr>
          <a:lstStyle/>
          <a:p>
            <a:pPr indent="0" marL="0">
              <a:buNone/>
            </a:pPr>
            <a:r>
              <a:rPr lang="en-US" sz="1030" dirty="0">
                <a:solidFill>
                  <a:srgbClr val="575753"/>
                </a:solidFill>
                <a:latin typeface="PT Mono" pitchFamily="34" charset="0"/>
                <a:ea typeface="PT Mono" pitchFamily="34" charset="-122"/>
                <a:cs typeface="PT Mono" pitchFamily="34" charset="-120"/>
              </a:rPr>
              <a:t>Application traffic, errors and latency</a:t>
            </a:r>
            <a:endParaRPr lang="en-US" sz="1030" dirty="0"/>
          </a:p>
        </p:txBody>
      </p:sp>
      <p:sp>
        <p:nvSpPr>
          <p:cNvPr id="75" name="Shape 73"/>
          <p:cNvSpPr/>
          <p:nvPr/>
        </p:nvSpPr>
        <p:spPr>
          <a:xfrm>
            <a:off x="7671816" y="4983480"/>
            <a:ext cx="3520440" cy="0"/>
          </a:xfrm>
          <a:prstGeom prst="line">
            <a:avLst/>
          </a:prstGeom>
          <a:noFill/>
          <a:ln w="12700">
            <a:solidFill>
              <a:srgbClr val="D0D0CB"/>
            </a:solidFill>
            <a:prstDash val="solid"/>
            <a:headEnd type="none"/>
            <a:tailEnd type="none"/>
          </a:ln>
        </p:spPr>
      </p:sp>
      <p:sp>
        <p:nvSpPr>
          <p:cNvPr id="76" name="Text 74"/>
          <p:cNvSpPr/>
          <p:nvPr/>
        </p:nvSpPr>
        <p:spPr>
          <a:xfrm>
            <a:off x="7653528" y="5175504"/>
            <a:ext cx="3529584" cy="310896"/>
          </a:xfrm>
          <a:prstGeom prst="rect">
            <a:avLst/>
          </a:prstGeom>
          <a:noFill/>
          <a:ln/>
        </p:spPr>
        <p:txBody>
          <a:bodyPr wrap="square" lIns="0" tIns="0" rIns="0" bIns="0" rtlCol="0" anchor="ctr">
            <a:normAutofit/>
          </a:bodyPr>
          <a:lstStyle/>
          <a:p>
            <a:pPr indent="0" marL="0">
              <a:buNone/>
            </a:pPr>
            <a:r>
              <a:rPr lang="en-US" sz="1040" b="1" dirty="0">
                <a:solidFill>
                  <a:srgbClr val="303030"/>
                </a:solidFill>
                <a:latin typeface="PT Mono" pitchFamily="34" charset="0"/>
                <a:ea typeface="PT Mono" pitchFamily="34" charset="-122"/>
                <a:cs typeface="PT Mono" pitchFamily="34" charset="-120"/>
              </a:rPr>
              <a:t>metrics-server → HPA CPU scaling</a:t>
            </a:r>
            <a:endParaRPr lang="en-US" sz="1040" dirty="0"/>
          </a:p>
        </p:txBody>
      </p:sp>
      <p:sp>
        <p:nvSpPr>
          <p:cNvPr id="77" name="Text 75">
            <a:hlinkClick r:id="rId1" tooltip=""/>
          </p:cNvPr>
          <p:cNvSpPr/>
          <p:nvPr/>
        </p:nvSpPr>
        <p:spPr>
          <a:xfrm>
            <a:off x="7571232" y="6016752"/>
            <a:ext cx="3675888" cy="228600"/>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Historical monitoring evidence  ↗</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12 / COST-AWARE ENGINEERING</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Full AWS lifecycle: build → prove → clean up</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Deployments were measured, documented, backed up, and destroyed after approval.</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13 / 16</a:t>
            </a:r>
            <a:endParaRPr lang="en-US" sz="850" dirty="0"/>
          </a:p>
        </p:txBody>
      </p:sp>
      <p:sp>
        <p:nvSpPr>
          <p:cNvPr id="48" name="Shape 46"/>
          <p:cNvSpPr/>
          <p:nvPr/>
        </p:nvSpPr>
        <p:spPr>
          <a:xfrm>
            <a:off x="649224" y="1856232"/>
            <a:ext cx="2660904" cy="1837944"/>
          </a:xfrm>
          <a:prstGeom prst="roundRect">
            <a:avLst>
              <a:gd name="adj" fmla="val 2736"/>
            </a:avLst>
          </a:prstGeom>
          <a:solidFill>
            <a:srgbClr val="FFFFFF"/>
          </a:solidFill>
          <a:ln w="10160">
            <a:solidFill>
              <a:srgbClr val="D0D0CB"/>
            </a:solidFill>
            <a:prstDash val="solid"/>
          </a:ln>
        </p:spPr>
      </p:sp>
      <p:sp>
        <p:nvSpPr>
          <p:cNvPr id="49" name="Shape 47"/>
          <p:cNvSpPr/>
          <p:nvPr/>
        </p:nvSpPr>
        <p:spPr>
          <a:xfrm>
            <a:off x="841248" y="2066544"/>
            <a:ext cx="886968" cy="310896"/>
          </a:xfrm>
          <a:prstGeom prst="roundRect">
            <a:avLst>
              <a:gd name="adj" fmla="val 50000"/>
            </a:avLst>
          </a:prstGeom>
          <a:solidFill>
            <a:srgbClr val="ECECEA"/>
          </a:solidFill>
          <a:ln w="12700">
            <a:solidFill>
              <a:srgbClr val="ECECEA">
                <a:alpha val="0"/>
              </a:srgbClr>
            </a:solidFill>
            <a:prstDash val="solid"/>
          </a:ln>
        </p:spPr>
      </p:sp>
      <p:sp>
        <p:nvSpPr>
          <p:cNvPr id="50" name="Text 48"/>
          <p:cNvSpPr/>
          <p:nvPr/>
        </p:nvSpPr>
        <p:spPr>
          <a:xfrm>
            <a:off x="950976" y="2084832"/>
            <a:ext cx="667512"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18 OCT</a:t>
            </a:r>
            <a:endParaRPr lang="en-US" sz="1000" dirty="0"/>
          </a:p>
        </p:txBody>
      </p:sp>
      <p:sp>
        <p:nvSpPr>
          <p:cNvPr id="51" name="Text 49"/>
          <p:cNvSpPr/>
          <p:nvPr/>
        </p:nvSpPr>
        <p:spPr>
          <a:xfrm>
            <a:off x="841248" y="2606040"/>
            <a:ext cx="2313432" cy="265176"/>
          </a:xfrm>
          <a:prstGeom prst="rect">
            <a:avLst/>
          </a:prstGeom>
          <a:noFill/>
          <a:ln/>
        </p:spPr>
        <p:txBody>
          <a:bodyPr wrap="square" lIns="0" tIns="0" rIns="0" bIns="0" rtlCol="0" anchor="ctr">
            <a:normAutofit/>
          </a:bodyPr>
          <a:lstStyle/>
          <a:p>
            <a:pPr indent="0" marL="0">
              <a:buNone/>
            </a:pPr>
            <a:r>
              <a:rPr lang="en-US" sz="1500" b="1" dirty="0">
                <a:solidFill>
                  <a:srgbClr val="101010"/>
                </a:solidFill>
                <a:latin typeface="Inter Display" pitchFamily="34" charset="0"/>
                <a:ea typeface="Inter Display" pitchFamily="34" charset="-122"/>
                <a:cs typeface="Inter Display" pitchFamily="34" charset="-120"/>
              </a:rPr>
              <a:t>PROVISION</a:t>
            </a:r>
            <a:endParaRPr lang="en-US" sz="1500" dirty="0"/>
          </a:p>
        </p:txBody>
      </p:sp>
      <p:sp>
        <p:nvSpPr>
          <p:cNvPr id="52" name="Text 50"/>
          <p:cNvSpPr/>
          <p:nvPr/>
        </p:nvSpPr>
        <p:spPr>
          <a:xfrm>
            <a:off x="841248" y="2999232"/>
            <a:ext cx="2276856" cy="448056"/>
          </a:xfrm>
          <a:prstGeom prst="rect">
            <a:avLst/>
          </a:prstGeom>
          <a:noFill/>
          <a:ln/>
        </p:spPr>
        <p:txBody>
          <a:bodyPr wrap="square" lIns="0" tIns="0" rIns="0" bIns="0" rtlCol="0" anchor="ctr">
            <a:normAutofit/>
          </a:bodyPr>
          <a:lstStyle/>
          <a:p>
            <a:pPr indent="0" marL="0">
              <a:buNone/>
            </a:pPr>
            <a:r>
              <a:rPr lang="en-US" sz="1010" dirty="0">
                <a:solidFill>
                  <a:srgbClr val="575753"/>
                </a:solidFill>
                <a:latin typeface="PT Mono" pitchFamily="34" charset="0"/>
                <a:ea typeface="PT Mono" pitchFamily="34" charset="-122"/>
                <a:cs typeface="PT Mono" pitchFamily="34" charset="-120"/>
              </a:rPr>
              <a:t>33 resources planned and created</a:t>
            </a:r>
            <a:endParaRPr lang="en-US" sz="1010" dirty="0"/>
          </a:p>
        </p:txBody>
      </p:sp>
      <p:sp>
        <p:nvSpPr>
          <p:cNvPr id="53" name="Shape 51"/>
          <p:cNvSpPr/>
          <p:nvPr/>
        </p:nvSpPr>
        <p:spPr>
          <a:xfrm>
            <a:off x="3520440" y="1856232"/>
            <a:ext cx="2660904" cy="1837944"/>
          </a:xfrm>
          <a:prstGeom prst="roundRect">
            <a:avLst>
              <a:gd name="adj" fmla="val 2736"/>
            </a:avLst>
          </a:prstGeom>
          <a:solidFill>
            <a:srgbClr val="FFFFFF"/>
          </a:solidFill>
          <a:ln w="10160">
            <a:solidFill>
              <a:srgbClr val="D0D0CB"/>
            </a:solidFill>
            <a:prstDash val="solid"/>
          </a:ln>
        </p:spPr>
      </p:sp>
      <p:sp>
        <p:nvSpPr>
          <p:cNvPr id="54" name="Shape 52"/>
          <p:cNvSpPr/>
          <p:nvPr/>
        </p:nvSpPr>
        <p:spPr>
          <a:xfrm>
            <a:off x="3712464" y="2066544"/>
            <a:ext cx="886968" cy="310896"/>
          </a:xfrm>
          <a:prstGeom prst="roundRect">
            <a:avLst>
              <a:gd name="adj" fmla="val 50000"/>
            </a:avLst>
          </a:prstGeom>
          <a:solidFill>
            <a:srgbClr val="ECECEA"/>
          </a:solidFill>
          <a:ln w="12700">
            <a:solidFill>
              <a:srgbClr val="ECECEA">
                <a:alpha val="0"/>
              </a:srgbClr>
            </a:solidFill>
            <a:prstDash val="solid"/>
          </a:ln>
        </p:spPr>
      </p:sp>
      <p:sp>
        <p:nvSpPr>
          <p:cNvPr id="55" name="Text 53"/>
          <p:cNvSpPr/>
          <p:nvPr/>
        </p:nvSpPr>
        <p:spPr>
          <a:xfrm>
            <a:off x="3822192" y="2084832"/>
            <a:ext cx="667512"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18 OCT</a:t>
            </a:r>
            <a:endParaRPr lang="en-US" sz="1000" dirty="0"/>
          </a:p>
        </p:txBody>
      </p:sp>
      <p:sp>
        <p:nvSpPr>
          <p:cNvPr id="56" name="Text 54"/>
          <p:cNvSpPr/>
          <p:nvPr/>
        </p:nvSpPr>
        <p:spPr>
          <a:xfrm>
            <a:off x="3712464" y="2606040"/>
            <a:ext cx="2313432" cy="265176"/>
          </a:xfrm>
          <a:prstGeom prst="rect">
            <a:avLst/>
          </a:prstGeom>
          <a:noFill/>
          <a:ln/>
        </p:spPr>
        <p:txBody>
          <a:bodyPr wrap="square" lIns="0" tIns="0" rIns="0" bIns="0" rtlCol="0" anchor="ctr">
            <a:normAutofit/>
          </a:bodyPr>
          <a:lstStyle/>
          <a:p>
            <a:pPr indent="0" marL="0">
              <a:buNone/>
            </a:pPr>
            <a:r>
              <a:rPr lang="en-US" sz="1500" b="1" dirty="0">
                <a:solidFill>
                  <a:srgbClr val="101010"/>
                </a:solidFill>
                <a:latin typeface="Inter Display" pitchFamily="34" charset="0"/>
                <a:ea typeface="Inter Display" pitchFamily="34" charset="-122"/>
                <a:cs typeface="Inter Display" pitchFamily="34" charset="-120"/>
              </a:rPr>
              <a:t>VALIDATE</a:t>
            </a:r>
            <a:endParaRPr lang="en-US" sz="1500" dirty="0"/>
          </a:p>
        </p:txBody>
      </p:sp>
      <p:sp>
        <p:nvSpPr>
          <p:cNvPr id="57" name="Text 55"/>
          <p:cNvSpPr/>
          <p:nvPr/>
        </p:nvSpPr>
        <p:spPr>
          <a:xfrm>
            <a:off x="3712464" y="2999232"/>
            <a:ext cx="2276856" cy="448056"/>
          </a:xfrm>
          <a:prstGeom prst="rect">
            <a:avLst/>
          </a:prstGeom>
          <a:noFill/>
          <a:ln/>
        </p:spPr>
        <p:txBody>
          <a:bodyPr wrap="square" lIns="0" tIns="0" rIns="0" bIns="0" rtlCol="0" anchor="ctr">
            <a:normAutofit/>
          </a:bodyPr>
          <a:lstStyle/>
          <a:p>
            <a:pPr indent="0" marL="0">
              <a:buNone/>
            </a:pPr>
            <a:r>
              <a:rPr lang="en-US" sz="1010" dirty="0">
                <a:solidFill>
                  <a:srgbClr val="575753"/>
                </a:solidFill>
                <a:latin typeface="PT Mono" pitchFamily="34" charset="0"/>
                <a:ea typeface="PT Mono" pitchFamily="34" charset="-122"/>
                <a:cs typeface="PT Mono" pitchFamily="34" charset="-120"/>
              </a:rPr>
              <a:t>EKS / app / ingress / monitoring</a:t>
            </a:r>
            <a:endParaRPr lang="en-US" sz="1010" dirty="0"/>
          </a:p>
        </p:txBody>
      </p:sp>
      <p:sp>
        <p:nvSpPr>
          <p:cNvPr id="58" name="Shape 56"/>
          <p:cNvSpPr/>
          <p:nvPr/>
        </p:nvSpPr>
        <p:spPr>
          <a:xfrm>
            <a:off x="6391656" y="1856232"/>
            <a:ext cx="2660904" cy="1837944"/>
          </a:xfrm>
          <a:prstGeom prst="roundRect">
            <a:avLst>
              <a:gd name="adj" fmla="val 2736"/>
            </a:avLst>
          </a:prstGeom>
          <a:solidFill>
            <a:srgbClr val="FFFFFF"/>
          </a:solidFill>
          <a:ln w="10160">
            <a:solidFill>
              <a:srgbClr val="D0D0CB"/>
            </a:solidFill>
            <a:prstDash val="solid"/>
          </a:ln>
        </p:spPr>
      </p:sp>
      <p:sp>
        <p:nvSpPr>
          <p:cNvPr id="59" name="Shape 57"/>
          <p:cNvSpPr/>
          <p:nvPr/>
        </p:nvSpPr>
        <p:spPr>
          <a:xfrm>
            <a:off x="6583680" y="2066544"/>
            <a:ext cx="886968" cy="310896"/>
          </a:xfrm>
          <a:prstGeom prst="roundRect">
            <a:avLst>
              <a:gd name="adj" fmla="val 50000"/>
            </a:avLst>
          </a:prstGeom>
          <a:solidFill>
            <a:srgbClr val="ECECEA"/>
          </a:solidFill>
          <a:ln w="12700">
            <a:solidFill>
              <a:srgbClr val="ECECEA">
                <a:alpha val="0"/>
              </a:srgbClr>
            </a:solidFill>
            <a:prstDash val="solid"/>
          </a:ln>
        </p:spPr>
      </p:sp>
      <p:sp>
        <p:nvSpPr>
          <p:cNvPr id="60" name="Text 58"/>
          <p:cNvSpPr/>
          <p:nvPr/>
        </p:nvSpPr>
        <p:spPr>
          <a:xfrm>
            <a:off x="6693408" y="2084832"/>
            <a:ext cx="667512"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22 OCT</a:t>
            </a:r>
            <a:endParaRPr lang="en-US" sz="1000" dirty="0"/>
          </a:p>
        </p:txBody>
      </p:sp>
      <p:sp>
        <p:nvSpPr>
          <p:cNvPr id="61" name="Text 59"/>
          <p:cNvSpPr/>
          <p:nvPr/>
        </p:nvSpPr>
        <p:spPr>
          <a:xfrm>
            <a:off x="6583680" y="2606040"/>
            <a:ext cx="2313432" cy="265176"/>
          </a:xfrm>
          <a:prstGeom prst="rect">
            <a:avLst/>
          </a:prstGeom>
          <a:noFill/>
          <a:ln/>
        </p:spPr>
        <p:txBody>
          <a:bodyPr wrap="square" lIns="0" tIns="0" rIns="0" bIns="0" rtlCol="0" anchor="ctr">
            <a:normAutofit/>
          </a:bodyPr>
          <a:lstStyle/>
          <a:p>
            <a:pPr indent="0" marL="0">
              <a:buNone/>
            </a:pPr>
            <a:r>
              <a:rPr lang="en-US" sz="1500" b="1" dirty="0">
                <a:solidFill>
                  <a:srgbClr val="101010"/>
                </a:solidFill>
                <a:latin typeface="Inter Display" pitchFamily="34" charset="0"/>
                <a:ea typeface="Inter Display" pitchFamily="34" charset="-122"/>
                <a:cs typeface="Inter Display" pitchFamily="34" charset="-120"/>
              </a:rPr>
              <a:t>BACK UP</a:t>
            </a:r>
            <a:endParaRPr lang="en-US" sz="1500" dirty="0"/>
          </a:p>
        </p:txBody>
      </p:sp>
      <p:sp>
        <p:nvSpPr>
          <p:cNvPr id="62" name="Text 60"/>
          <p:cNvSpPr/>
          <p:nvPr/>
        </p:nvSpPr>
        <p:spPr>
          <a:xfrm>
            <a:off x="6583680" y="2999232"/>
            <a:ext cx="2276856" cy="448056"/>
          </a:xfrm>
          <a:prstGeom prst="rect">
            <a:avLst/>
          </a:prstGeom>
          <a:noFill/>
          <a:ln/>
        </p:spPr>
        <p:txBody>
          <a:bodyPr wrap="square" lIns="0" tIns="0" rIns="0" bIns="0" rtlCol="0" anchor="ctr">
            <a:normAutofit/>
          </a:bodyPr>
          <a:lstStyle/>
          <a:p>
            <a:pPr indent="0" marL="0">
              <a:buNone/>
            </a:pPr>
            <a:r>
              <a:rPr lang="en-US" sz="1010" dirty="0">
                <a:solidFill>
                  <a:srgbClr val="575753"/>
                </a:solidFill>
                <a:latin typeface="PT Mono" pitchFamily="34" charset="0"/>
                <a:ea typeface="PT Mono" pitchFamily="34" charset="-122"/>
                <a:cs typeface="PT Mono" pitchFamily="34" charset="-120"/>
              </a:rPr>
              <a:t>PostgreSQL dump hash verified</a:t>
            </a:r>
            <a:endParaRPr lang="en-US" sz="1010" dirty="0"/>
          </a:p>
        </p:txBody>
      </p:sp>
      <p:sp>
        <p:nvSpPr>
          <p:cNvPr id="63" name="Shape 61"/>
          <p:cNvSpPr/>
          <p:nvPr/>
        </p:nvSpPr>
        <p:spPr>
          <a:xfrm>
            <a:off x="9262872" y="1856232"/>
            <a:ext cx="2660904" cy="1837944"/>
          </a:xfrm>
          <a:prstGeom prst="roundRect">
            <a:avLst>
              <a:gd name="adj" fmla="val 2736"/>
            </a:avLst>
          </a:prstGeom>
          <a:solidFill>
            <a:srgbClr val="FFFFFF"/>
          </a:solidFill>
          <a:ln w="10160">
            <a:solidFill>
              <a:srgbClr val="D0D0CB"/>
            </a:solidFill>
            <a:prstDash val="solid"/>
          </a:ln>
        </p:spPr>
      </p:sp>
      <p:sp>
        <p:nvSpPr>
          <p:cNvPr id="64" name="Shape 62"/>
          <p:cNvSpPr/>
          <p:nvPr/>
        </p:nvSpPr>
        <p:spPr>
          <a:xfrm>
            <a:off x="9454896" y="2066544"/>
            <a:ext cx="886968" cy="310896"/>
          </a:xfrm>
          <a:prstGeom prst="roundRect">
            <a:avLst>
              <a:gd name="adj" fmla="val 50000"/>
            </a:avLst>
          </a:prstGeom>
          <a:solidFill>
            <a:srgbClr val="ECECEA"/>
          </a:solidFill>
          <a:ln w="12700">
            <a:solidFill>
              <a:srgbClr val="ECECEA">
                <a:alpha val="0"/>
              </a:srgbClr>
            </a:solidFill>
            <a:prstDash val="solid"/>
          </a:ln>
        </p:spPr>
      </p:sp>
      <p:sp>
        <p:nvSpPr>
          <p:cNvPr id="65" name="Text 63"/>
          <p:cNvSpPr/>
          <p:nvPr/>
        </p:nvSpPr>
        <p:spPr>
          <a:xfrm>
            <a:off x="9564624" y="2084832"/>
            <a:ext cx="667512" cy="274320"/>
          </a:xfrm>
          <a:prstGeom prst="rect">
            <a:avLst/>
          </a:prstGeom>
          <a:noFill/>
          <a:ln/>
        </p:spPr>
        <p:txBody>
          <a:bodyPr wrap="square" lIns="0" tIns="0" rIns="0" bIns="0" rtlCol="0" anchor="ctr">
            <a:normAutofit/>
          </a:bodyPr>
          <a:lstStyle/>
          <a:p>
            <a:pPr algn="ctr" indent="0" marL="0">
              <a:buNone/>
            </a:pPr>
            <a:r>
              <a:rPr lang="en-US" sz="1000" b="1" dirty="0">
                <a:solidFill>
                  <a:srgbClr val="B91622"/>
                </a:solidFill>
                <a:latin typeface="PT Mono" pitchFamily="34" charset="0"/>
                <a:ea typeface="PT Mono" pitchFamily="34" charset="-122"/>
                <a:cs typeface="PT Mono" pitchFamily="34" charset="-120"/>
              </a:rPr>
              <a:t>22 OCT</a:t>
            </a:r>
            <a:endParaRPr lang="en-US" sz="1000" dirty="0"/>
          </a:p>
        </p:txBody>
      </p:sp>
      <p:sp>
        <p:nvSpPr>
          <p:cNvPr id="66" name="Text 64"/>
          <p:cNvSpPr/>
          <p:nvPr/>
        </p:nvSpPr>
        <p:spPr>
          <a:xfrm>
            <a:off x="9454896" y="2606040"/>
            <a:ext cx="2313432" cy="265176"/>
          </a:xfrm>
          <a:prstGeom prst="rect">
            <a:avLst/>
          </a:prstGeom>
          <a:noFill/>
          <a:ln/>
        </p:spPr>
        <p:txBody>
          <a:bodyPr wrap="square" lIns="0" tIns="0" rIns="0" bIns="0" rtlCol="0" anchor="ctr">
            <a:normAutofit/>
          </a:bodyPr>
          <a:lstStyle/>
          <a:p>
            <a:pPr indent="0" marL="0">
              <a:buNone/>
            </a:pPr>
            <a:r>
              <a:rPr lang="en-US" sz="1500" b="1" dirty="0">
                <a:solidFill>
                  <a:srgbClr val="101010"/>
                </a:solidFill>
                <a:latin typeface="Inter Display" pitchFamily="34" charset="0"/>
                <a:ea typeface="Inter Display" pitchFamily="34" charset="-122"/>
                <a:cs typeface="Inter Display" pitchFamily="34" charset="-120"/>
              </a:rPr>
              <a:t>REMOVE</a:t>
            </a:r>
            <a:endParaRPr lang="en-US" sz="1500" dirty="0"/>
          </a:p>
        </p:txBody>
      </p:sp>
      <p:sp>
        <p:nvSpPr>
          <p:cNvPr id="67" name="Text 65"/>
          <p:cNvSpPr/>
          <p:nvPr/>
        </p:nvSpPr>
        <p:spPr>
          <a:xfrm>
            <a:off x="9454896" y="2999232"/>
            <a:ext cx="2276856" cy="448056"/>
          </a:xfrm>
          <a:prstGeom prst="rect">
            <a:avLst/>
          </a:prstGeom>
          <a:noFill/>
          <a:ln/>
        </p:spPr>
        <p:txBody>
          <a:bodyPr wrap="square" lIns="0" tIns="0" rIns="0" bIns="0" rtlCol="0" anchor="ctr">
            <a:normAutofit/>
          </a:bodyPr>
          <a:lstStyle/>
          <a:p>
            <a:pPr indent="0" marL="0">
              <a:buNone/>
            </a:pPr>
            <a:r>
              <a:rPr lang="en-US" sz="1010" dirty="0">
                <a:solidFill>
                  <a:srgbClr val="575753"/>
                </a:solidFill>
                <a:latin typeface="PT Mono" pitchFamily="34" charset="0"/>
                <a:ea typeface="PT Mono" pitchFamily="34" charset="-122"/>
                <a:cs typeface="PT Mono" pitchFamily="34" charset="-120"/>
              </a:rPr>
              <a:t>Approved teardown &amp; residual checks</a:t>
            </a:r>
            <a:endParaRPr lang="en-US" sz="1010" dirty="0"/>
          </a:p>
        </p:txBody>
      </p:sp>
      <p:sp>
        <p:nvSpPr>
          <p:cNvPr id="68" name="Shape 66"/>
          <p:cNvSpPr/>
          <p:nvPr/>
        </p:nvSpPr>
        <p:spPr>
          <a:xfrm>
            <a:off x="704088" y="4050792"/>
            <a:ext cx="10716768" cy="1572768"/>
          </a:xfrm>
          <a:prstGeom prst="roundRect">
            <a:avLst>
              <a:gd name="adj" fmla="val 3198"/>
            </a:avLst>
          </a:prstGeom>
          <a:solidFill>
            <a:srgbClr val="FFFFFF"/>
          </a:solidFill>
          <a:ln w="10160">
            <a:solidFill>
              <a:srgbClr val="D0D0CB"/>
            </a:solidFill>
            <a:prstDash val="solid"/>
          </a:ln>
        </p:spPr>
      </p:sp>
      <p:sp>
        <p:nvSpPr>
          <p:cNvPr id="69" name="Text 67"/>
          <p:cNvSpPr/>
          <p:nvPr/>
        </p:nvSpPr>
        <p:spPr>
          <a:xfrm>
            <a:off x="941832" y="4343400"/>
            <a:ext cx="2240280" cy="502920"/>
          </a:xfrm>
          <a:prstGeom prst="rect">
            <a:avLst/>
          </a:prstGeom>
          <a:noFill/>
          <a:ln/>
        </p:spPr>
        <p:txBody>
          <a:bodyPr wrap="square" lIns="0" tIns="0" rIns="0" bIns="0" rtlCol="0" anchor="ctr">
            <a:normAutofit/>
          </a:bodyPr>
          <a:lstStyle/>
          <a:p>
            <a:pPr algn="ctr" indent="0" marL="0">
              <a:buNone/>
            </a:pPr>
            <a:r>
              <a:rPr lang="en-US" sz="3000" b="1" dirty="0">
                <a:solidFill>
                  <a:srgbClr val="D71928"/>
                </a:solidFill>
                <a:latin typeface="Inter Display" pitchFamily="34" charset="0"/>
                <a:ea typeface="Inter Display" pitchFamily="34" charset="-122"/>
                <a:cs typeface="Inter Display" pitchFamily="34" charset="-120"/>
              </a:rPr>
              <a:t>33</a:t>
            </a:r>
            <a:endParaRPr lang="en-US" sz="3000" dirty="0"/>
          </a:p>
        </p:txBody>
      </p:sp>
      <p:sp>
        <p:nvSpPr>
          <p:cNvPr id="70" name="Text 68"/>
          <p:cNvSpPr/>
          <p:nvPr/>
        </p:nvSpPr>
        <p:spPr>
          <a:xfrm>
            <a:off x="850392" y="4937760"/>
            <a:ext cx="2395728" cy="365760"/>
          </a:xfrm>
          <a:prstGeom prst="rect">
            <a:avLst/>
          </a:prstGeom>
          <a:noFill/>
          <a:ln/>
        </p:spPr>
        <p:txBody>
          <a:bodyPr wrap="square" lIns="0" tIns="0" rIns="0" bIns="0" rtlCol="0" anchor="ctr">
            <a:normAutofit/>
          </a:bodyPr>
          <a:lstStyle/>
          <a:p>
            <a:pPr algn="ctr" indent="0" marL="0">
              <a:buNone/>
            </a:pPr>
            <a:r>
              <a:rPr lang="en-US" sz="1020" dirty="0">
                <a:solidFill>
                  <a:srgbClr val="575753"/>
                </a:solidFill>
                <a:latin typeface="PT Mono" pitchFamily="34" charset="0"/>
                <a:ea typeface="PT Mono" pitchFamily="34" charset="-122"/>
                <a:cs typeface="PT Mono" pitchFamily="34" charset="-120"/>
              </a:rPr>
              <a:t>Terraform resources removed</a:t>
            </a:r>
            <a:endParaRPr lang="en-US" sz="1020" dirty="0"/>
          </a:p>
        </p:txBody>
      </p:sp>
      <p:sp>
        <p:nvSpPr>
          <p:cNvPr id="71" name="Text 69"/>
          <p:cNvSpPr/>
          <p:nvPr/>
        </p:nvSpPr>
        <p:spPr>
          <a:xfrm>
            <a:off x="3602736" y="4343400"/>
            <a:ext cx="2240280" cy="502920"/>
          </a:xfrm>
          <a:prstGeom prst="rect">
            <a:avLst/>
          </a:prstGeom>
          <a:noFill/>
          <a:ln/>
        </p:spPr>
        <p:txBody>
          <a:bodyPr wrap="square" lIns="0" tIns="0" rIns="0" bIns="0" rtlCol="0" anchor="ctr">
            <a:normAutofit/>
          </a:bodyPr>
          <a:lstStyle/>
          <a:p>
            <a:pPr algn="ctr" indent="0" marL="0">
              <a:buNone/>
            </a:pPr>
            <a:r>
              <a:rPr lang="en-US" sz="3000" b="1" dirty="0">
                <a:solidFill>
                  <a:srgbClr val="D71928"/>
                </a:solidFill>
                <a:latin typeface="Inter Display" pitchFamily="34" charset="0"/>
                <a:ea typeface="Inter Display" pitchFamily="34" charset="-122"/>
                <a:cs typeface="Inter Display" pitchFamily="34" charset="-120"/>
              </a:rPr>
              <a:t>2</a:t>
            </a:r>
            <a:endParaRPr lang="en-US" sz="3000" dirty="0"/>
          </a:p>
        </p:txBody>
      </p:sp>
      <p:sp>
        <p:nvSpPr>
          <p:cNvPr id="72" name="Text 70"/>
          <p:cNvSpPr/>
          <p:nvPr/>
        </p:nvSpPr>
        <p:spPr>
          <a:xfrm>
            <a:off x="3511296" y="4937760"/>
            <a:ext cx="2395728" cy="365760"/>
          </a:xfrm>
          <a:prstGeom prst="rect">
            <a:avLst/>
          </a:prstGeom>
          <a:noFill/>
          <a:ln/>
        </p:spPr>
        <p:txBody>
          <a:bodyPr wrap="square" lIns="0" tIns="0" rIns="0" bIns="0" rtlCol="0" anchor="ctr">
            <a:normAutofit/>
          </a:bodyPr>
          <a:lstStyle/>
          <a:p>
            <a:pPr algn="ctr" indent="0" marL="0">
              <a:buNone/>
            </a:pPr>
            <a:r>
              <a:rPr lang="en-US" sz="1020" dirty="0">
                <a:solidFill>
                  <a:srgbClr val="575753"/>
                </a:solidFill>
                <a:latin typeface="PT Mono" pitchFamily="34" charset="0"/>
                <a:ea typeface="PT Mono" pitchFamily="34" charset="-122"/>
                <a:cs typeface="PT Mono" pitchFamily="34" charset="-120"/>
              </a:rPr>
              <a:t>Worker VMs terminated</a:t>
            </a:r>
            <a:endParaRPr lang="en-US" sz="1020" dirty="0"/>
          </a:p>
        </p:txBody>
      </p:sp>
      <p:sp>
        <p:nvSpPr>
          <p:cNvPr id="73" name="Text 71"/>
          <p:cNvSpPr/>
          <p:nvPr/>
        </p:nvSpPr>
        <p:spPr>
          <a:xfrm>
            <a:off x="6263640" y="4343400"/>
            <a:ext cx="2240280" cy="502920"/>
          </a:xfrm>
          <a:prstGeom prst="rect">
            <a:avLst/>
          </a:prstGeom>
          <a:noFill/>
          <a:ln/>
        </p:spPr>
        <p:txBody>
          <a:bodyPr wrap="square" lIns="0" tIns="0" rIns="0" bIns="0" rtlCol="0" anchor="ctr">
            <a:normAutofit/>
          </a:bodyPr>
          <a:lstStyle/>
          <a:p>
            <a:pPr algn="ctr" indent="0" marL="0">
              <a:buNone/>
            </a:pPr>
            <a:r>
              <a:rPr lang="en-US" sz="3000" b="1" dirty="0">
                <a:solidFill>
                  <a:srgbClr val="D71928"/>
                </a:solidFill>
                <a:latin typeface="Inter Display" pitchFamily="34" charset="0"/>
                <a:ea typeface="Inter Display" pitchFamily="34" charset="-122"/>
                <a:cs typeface="Inter Display" pitchFamily="34" charset="-120"/>
              </a:rPr>
              <a:t>3</a:t>
            </a:r>
            <a:endParaRPr lang="en-US" sz="3000" dirty="0"/>
          </a:p>
        </p:txBody>
      </p:sp>
      <p:sp>
        <p:nvSpPr>
          <p:cNvPr id="74" name="Text 72"/>
          <p:cNvSpPr/>
          <p:nvPr/>
        </p:nvSpPr>
        <p:spPr>
          <a:xfrm>
            <a:off x="6172200" y="4937760"/>
            <a:ext cx="2395728" cy="365760"/>
          </a:xfrm>
          <a:prstGeom prst="rect">
            <a:avLst/>
          </a:prstGeom>
          <a:noFill/>
          <a:ln/>
        </p:spPr>
        <p:txBody>
          <a:bodyPr wrap="square" lIns="0" tIns="0" rIns="0" bIns="0" rtlCol="0" anchor="ctr">
            <a:normAutofit/>
          </a:bodyPr>
          <a:lstStyle/>
          <a:p>
            <a:pPr algn="ctr" indent="0" marL="0">
              <a:buNone/>
            </a:pPr>
            <a:r>
              <a:rPr lang="en-US" sz="1020" dirty="0">
                <a:solidFill>
                  <a:srgbClr val="575753"/>
                </a:solidFill>
                <a:latin typeface="PT Mono" pitchFamily="34" charset="0"/>
                <a:ea typeface="PT Mono" pitchFamily="34" charset="-122"/>
                <a:cs typeface="PT Mono" pitchFamily="34" charset="-120"/>
              </a:rPr>
              <a:t>EBS disks removed</a:t>
            </a:r>
            <a:endParaRPr lang="en-US" sz="1020" dirty="0"/>
          </a:p>
        </p:txBody>
      </p:sp>
      <p:sp>
        <p:nvSpPr>
          <p:cNvPr id="75" name="Text 73"/>
          <p:cNvSpPr/>
          <p:nvPr/>
        </p:nvSpPr>
        <p:spPr>
          <a:xfrm>
            <a:off x="8924544" y="4343400"/>
            <a:ext cx="2240280" cy="502920"/>
          </a:xfrm>
          <a:prstGeom prst="rect">
            <a:avLst/>
          </a:prstGeom>
          <a:noFill/>
          <a:ln/>
        </p:spPr>
        <p:txBody>
          <a:bodyPr wrap="square" lIns="0" tIns="0" rIns="0" bIns="0" rtlCol="0" anchor="ctr">
            <a:normAutofit/>
          </a:bodyPr>
          <a:lstStyle/>
          <a:p>
            <a:pPr algn="ctr" indent="0" marL="0">
              <a:buNone/>
            </a:pPr>
            <a:r>
              <a:rPr lang="en-US" sz="3000" b="1" dirty="0">
                <a:solidFill>
                  <a:srgbClr val="D71928"/>
                </a:solidFill>
                <a:latin typeface="Inter Display" pitchFamily="34" charset="0"/>
                <a:ea typeface="Inter Display" pitchFamily="34" charset="-122"/>
                <a:cs typeface="Inter Display" pitchFamily="34" charset="-120"/>
              </a:rPr>
              <a:t>0</a:t>
            </a:r>
            <a:endParaRPr lang="en-US" sz="3000" dirty="0"/>
          </a:p>
        </p:txBody>
      </p:sp>
      <p:sp>
        <p:nvSpPr>
          <p:cNvPr id="76" name="Text 74"/>
          <p:cNvSpPr/>
          <p:nvPr/>
        </p:nvSpPr>
        <p:spPr>
          <a:xfrm>
            <a:off x="8833104" y="4937760"/>
            <a:ext cx="2395728" cy="365760"/>
          </a:xfrm>
          <a:prstGeom prst="rect">
            <a:avLst/>
          </a:prstGeom>
          <a:noFill/>
          <a:ln/>
        </p:spPr>
        <p:txBody>
          <a:bodyPr wrap="square" lIns="0" tIns="0" rIns="0" bIns="0" rtlCol="0" anchor="ctr">
            <a:normAutofit/>
          </a:bodyPr>
          <a:lstStyle/>
          <a:p>
            <a:pPr algn="ctr" indent="0" marL="0">
              <a:buNone/>
            </a:pPr>
            <a:r>
              <a:rPr lang="en-US" sz="1020" dirty="0">
                <a:solidFill>
                  <a:srgbClr val="575753"/>
                </a:solidFill>
                <a:latin typeface="PT Mono" pitchFamily="34" charset="0"/>
                <a:ea typeface="PT Mono" pitchFamily="34" charset="-122"/>
                <a:cs typeface="PT Mono" pitchFamily="34" charset="-120"/>
              </a:rPr>
              <a:t>Project ENIs remaining</a:t>
            </a:r>
            <a:endParaRPr lang="en-US" sz="1020" dirty="0"/>
          </a:p>
        </p:txBody>
      </p:sp>
      <p:sp>
        <p:nvSpPr>
          <p:cNvPr id="77" name="Text 75"/>
          <p:cNvSpPr/>
          <p:nvPr/>
        </p:nvSpPr>
        <p:spPr>
          <a:xfrm>
            <a:off x="795528" y="5788152"/>
            <a:ext cx="10698480" cy="246888"/>
          </a:xfrm>
          <a:prstGeom prst="rect">
            <a:avLst/>
          </a:prstGeom>
          <a:noFill/>
          <a:ln/>
        </p:spPr>
        <p:txBody>
          <a:bodyPr wrap="square" lIns="0" tIns="0" rIns="0" bIns="0" rtlCol="0" anchor="ctr">
            <a:normAutofit/>
          </a:bodyPr>
          <a:lstStyle/>
          <a:p>
            <a:pPr indent="0" marL="0">
              <a:buNone/>
            </a:pPr>
            <a:r>
              <a:rPr lang="en-US" sz="1000" dirty="0">
                <a:solidFill>
                  <a:srgbClr val="575753"/>
                </a:solidFill>
                <a:latin typeface="PT Mono" pitchFamily="34" charset="0"/>
                <a:ea typeface="PT Mono" pitchFamily="34" charset="-122"/>
                <a:cs typeface="PT Mono" pitchFamily="34" charset="-120"/>
              </a:rPr>
              <a:t>Cleanup source: saved destroy plan applied successfully (not the literal terraform destroy CLI command).</a:t>
            </a:r>
            <a:endParaRPr lang="en-US" sz="1000" dirty="0"/>
          </a:p>
        </p:txBody>
      </p:sp>
      <p:sp>
        <p:nvSpPr>
          <p:cNvPr id="78" name="Text 76">
            <a:hlinkClick r:id="rId1" tooltip=""/>
          </p:cNvPr>
          <p:cNvSpPr/>
          <p:nvPr/>
        </p:nvSpPr>
        <p:spPr>
          <a:xfrm>
            <a:off x="786384" y="6099048"/>
            <a:ext cx="5047488" cy="192024"/>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actual AWS cleanup record  ↗</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13 / RESULTS</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Rubric coverage: technical work proven</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Evidence-backed coverage is not an instructor-awarded grade.</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14 / 16</a:t>
            </a:r>
            <a:endParaRPr lang="en-US" sz="850" dirty="0"/>
          </a:p>
        </p:txBody>
      </p:sp>
      <p:sp>
        <p:nvSpPr>
          <p:cNvPr id="48" name="Shape 46"/>
          <p:cNvSpPr/>
          <p:nvPr/>
        </p:nvSpPr>
        <p:spPr>
          <a:xfrm>
            <a:off x="667512" y="1792224"/>
            <a:ext cx="3803904" cy="3529584"/>
          </a:xfrm>
          <a:prstGeom prst="roundRect">
            <a:avLst>
              <a:gd name="adj" fmla="val 1425"/>
            </a:avLst>
          </a:prstGeom>
          <a:solidFill>
            <a:srgbClr val="FFFFFF"/>
          </a:solidFill>
          <a:ln w="10160">
            <a:solidFill>
              <a:srgbClr val="D0D0CB"/>
            </a:solidFill>
            <a:prstDash val="solid"/>
          </a:ln>
        </p:spPr>
      </p:sp>
      <p:sp>
        <p:nvSpPr>
          <p:cNvPr id="49" name="Text 47"/>
          <p:cNvSpPr/>
          <p:nvPr/>
        </p:nvSpPr>
        <p:spPr>
          <a:xfrm>
            <a:off x="1024128" y="2231136"/>
            <a:ext cx="3118104" cy="1243584"/>
          </a:xfrm>
          <a:prstGeom prst="rect">
            <a:avLst/>
          </a:prstGeom>
          <a:noFill/>
          <a:ln/>
        </p:spPr>
        <p:txBody>
          <a:bodyPr wrap="square" lIns="0" tIns="0" rIns="0" bIns="0" rtlCol="0" anchor="ctr">
            <a:normAutofit/>
          </a:bodyPr>
          <a:lstStyle/>
          <a:p>
            <a:pPr algn="ctr" indent="0" marL="0">
              <a:buNone/>
            </a:pPr>
            <a:r>
              <a:rPr lang="en-US" sz="7500" b="1" dirty="0">
                <a:solidFill>
                  <a:srgbClr val="D71928"/>
                </a:solidFill>
                <a:latin typeface="Inter Display" pitchFamily="34" charset="0"/>
                <a:ea typeface="Inter Display" pitchFamily="34" charset="-122"/>
                <a:cs typeface="Inter Display" pitchFamily="34" charset="-120"/>
              </a:rPr>
              <a:t>94</a:t>
            </a:r>
            <a:endParaRPr lang="en-US" sz="7500" dirty="0"/>
          </a:p>
        </p:txBody>
      </p:sp>
      <p:sp>
        <p:nvSpPr>
          <p:cNvPr id="50" name="Text 48"/>
          <p:cNvSpPr/>
          <p:nvPr/>
        </p:nvSpPr>
        <p:spPr>
          <a:xfrm>
            <a:off x="950976" y="3630168"/>
            <a:ext cx="3310128" cy="429768"/>
          </a:xfrm>
          <a:prstGeom prst="rect">
            <a:avLst/>
          </a:prstGeom>
          <a:noFill/>
          <a:ln/>
        </p:spPr>
        <p:txBody>
          <a:bodyPr wrap="square" lIns="0" tIns="0" rIns="0" bIns="0" rtlCol="0" anchor="ctr">
            <a:normAutofit/>
          </a:bodyPr>
          <a:lstStyle/>
          <a:p>
            <a:pPr algn="ctr" indent="0" marL="0">
              <a:buNone/>
            </a:pPr>
            <a:r>
              <a:rPr lang="en-US" sz="1300" b="1" dirty="0">
                <a:solidFill>
                  <a:srgbClr val="101010"/>
                </a:solidFill>
                <a:latin typeface="Inter Display" pitchFamily="34" charset="0"/>
                <a:ea typeface="Inter Display" pitchFamily="34" charset="-122"/>
                <a:cs typeface="Inter Display" pitchFamily="34" charset="-120"/>
              </a:rPr>
              <a:t>/ 100 technical points evidenced</a:t>
            </a:r>
            <a:endParaRPr lang="en-US" sz="1300" dirty="0"/>
          </a:p>
        </p:txBody>
      </p:sp>
      <p:sp>
        <p:nvSpPr>
          <p:cNvPr id="51" name="Shape 49"/>
          <p:cNvSpPr/>
          <p:nvPr/>
        </p:nvSpPr>
        <p:spPr>
          <a:xfrm>
            <a:off x="932688" y="4325112"/>
            <a:ext cx="3127248" cy="164592"/>
          </a:xfrm>
          <a:prstGeom prst="roundRect">
            <a:avLst>
              <a:gd name="adj" fmla="val 44444"/>
            </a:avLst>
          </a:prstGeom>
          <a:solidFill>
            <a:srgbClr val="ECECEA"/>
          </a:solidFill>
          <a:ln w="12700">
            <a:solidFill>
              <a:srgbClr val="ECECEA">
                <a:alpha val="0"/>
              </a:srgbClr>
            </a:solidFill>
            <a:prstDash val="solid"/>
          </a:ln>
        </p:spPr>
      </p:sp>
      <p:sp>
        <p:nvSpPr>
          <p:cNvPr id="52" name="Shape 50"/>
          <p:cNvSpPr/>
          <p:nvPr/>
        </p:nvSpPr>
        <p:spPr>
          <a:xfrm>
            <a:off x="932688" y="4325112"/>
            <a:ext cx="2939613" cy="164592"/>
          </a:xfrm>
          <a:prstGeom prst="roundRect">
            <a:avLst>
              <a:gd name="adj" fmla="val 33333"/>
            </a:avLst>
          </a:prstGeom>
          <a:solidFill>
            <a:srgbClr val="D71928"/>
          </a:solidFill>
          <a:ln w="12700">
            <a:solidFill>
              <a:srgbClr val="D71928">
                <a:alpha val="0"/>
              </a:srgbClr>
            </a:solidFill>
            <a:prstDash val="solid"/>
          </a:ln>
        </p:spPr>
      </p:sp>
      <p:sp>
        <p:nvSpPr>
          <p:cNvPr id="53" name="Shape 51"/>
          <p:cNvSpPr/>
          <p:nvPr/>
        </p:nvSpPr>
        <p:spPr>
          <a:xfrm>
            <a:off x="932688" y="4617720"/>
            <a:ext cx="3127248" cy="164592"/>
          </a:xfrm>
          <a:prstGeom prst="roundRect">
            <a:avLst>
              <a:gd name="adj" fmla="val 44444"/>
            </a:avLst>
          </a:prstGeom>
          <a:solidFill>
            <a:srgbClr val="ECECEA"/>
          </a:solidFill>
          <a:ln w="12700">
            <a:solidFill>
              <a:srgbClr val="ECECEA">
                <a:alpha val="0"/>
              </a:srgbClr>
            </a:solidFill>
            <a:prstDash val="solid"/>
          </a:ln>
        </p:spPr>
      </p:sp>
      <p:sp>
        <p:nvSpPr>
          <p:cNvPr id="54" name="Shape 52"/>
          <p:cNvSpPr/>
          <p:nvPr/>
        </p:nvSpPr>
        <p:spPr>
          <a:xfrm>
            <a:off x="932688" y="4617720"/>
            <a:ext cx="125090" cy="164592"/>
          </a:xfrm>
          <a:prstGeom prst="roundRect">
            <a:avLst>
              <a:gd name="adj" fmla="val 43860"/>
            </a:avLst>
          </a:prstGeom>
          <a:solidFill>
            <a:srgbClr val="8C652E"/>
          </a:solidFill>
          <a:ln w="12700">
            <a:solidFill>
              <a:srgbClr val="8C652E">
                <a:alpha val="0"/>
              </a:srgbClr>
            </a:solidFill>
            <a:prstDash val="solid"/>
          </a:ln>
        </p:spPr>
      </p:sp>
      <p:sp>
        <p:nvSpPr>
          <p:cNvPr id="55" name="Shape 53"/>
          <p:cNvSpPr/>
          <p:nvPr/>
        </p:nvSpPr>
        <p:spPr>
          <a:xfrm>
            <a:off x="932688" y="4910328"/>
            <a:ext cx="3127248" cy="164592"/>
          </a:xfrm>
          <a:prstGeom prst="roundRect">
            <a:avLst>
              <a:gd name="adj" fmla="val 44444"/>
            </a:avLst>
          </a:prstGeom>
          <a:solidFill>
            <a:srgbClr val="ECECEA"/>
          </a:solidFill>
          <a:ln w="12700">
            <a:solidFill>
              <a:srgbClr val="ECECEA">
                <a:alpha val="0"/>
              </a:srgbClr>
            </a:solidFill>
            <a:prstDash val="solid"/>
          </a:ln>
        </p:spPr>
      </p:sp>
      <p:sp>
        <p:nvSpPr>
          <p:cNvPr id="56" name="Shape 54"/>
          <p:cNvSpPr/>
          <p:nvPr/>
        </p:nvSpPr>
        <p:spPr>
          <a:xfrm>
            <a:off x="932688" y="4910328"/>
            <a:ext cx="73152" cy="164592"/>
          </a:xfrm>
          <a:prstGeom prst="roundRect">
            <a:avLst>
              <a:gd name="adj" fmla="val 75000"/>
            </a:avLst>
          </a:prstGeom>
          <a:solidFill>
            <a:srgbClr val="81817B"/>
          </a:solidFill>
          <a:ln w="12700">
            <a:solidFill>
              <a:srgbClr val="81817B">
                <a:alpha val="0"/>
              </a:srgbClr>
            </a:solidFill>
            <a:prstDash val="solid"/>
          </a:ln>
        </p:spPr>
      </p:sp>
      <p:sp>
        <p:nvSpPr>
          <p:cNvPr id="57" name="Shape 55"/>
          <p:cNvSpPr/>
          <p:nvPr/>
        </p:nvSpPr>
        <p:spPr>
          <a:xfrm>
            <a:off x="4736592" y="1792224"/>
            <a:ext cx="6748272" cy="3529584"/>
          </a:xfrm>
          <a:prstGeom prst="roundRect">
            <a:avLst>
              <a:gd name="adj" fmla="val 1425"/>
            </a:avLst>
          </a:prstGeom>
          <a:solidFill>
            <a:srgbClr val="FFFFFF"/>
          </a:solidFill>
          <a:ln w="10160">
            <a:solidFill>
              <a:srgbClr val="D0D0CB"/>
            </a:solidFill>
            <a:prstDash val="solid"/>
          </a:ln>
        </p:spPr>
      </p:sp>
      <p:sp>
        <p:nvSpPr>
          <p:cNvPr id="58" name="Text 56"/>
          <p:cNvSpPr/>
          <p:nvPr/>
        </p:nvSpPr>
        <p:spPr>
          <a:xfrm>
            <a:off x="5029200" y="2020824"/>
            <a:ext cx="6071616" cy="283464"/>
          </a:xfrm>
          <a:prstGeom prst="rect">
            <a:avLst/>
          </a:prstGeom>
          <a:noFill/>
          <a:ln/>
        </p:spPr>
        <p:txBody>
          <a:bodyPr wrap="square" lIns="0" tIns="0" rIns="0" bIns="0" rtlCol="0" anchor="ctr">
            <a:normAutofit/>
          </a:bodyPr>
          <a:lstStyle/>
          <a:p>
            <a:pPr indent="0" marL="0">
              <a:buNone/>
            </a:pPr>
            <a:r>
              <a:rPr lang="en-US" sz="1200" b="1" dirty="0">
                <a:solidFill>
                  <a:srgbClr val="B91622"/>
                </a:solidFill>
                <a:latin typeface="Inter Display" pitchFamily="34" charset="0"/>
                <a:ea typeface="Inter Display" pitchFamily="34" charset="-122"/>
                <a:cs typeface="Inter Display" pitchFamily="34" charset="-120"/>
              </a:rPr>
              <a:t>MODULES  •  VERIFIED TECHNICAL MARKS</a:t>
            </a:r>
            <a:endParaRPr lang="en-US" sz="1200" dirty="0"/>
          </a:p>
        </p:txBody>
      </p:sp>
      <p:sp>
        <p:nvSpPr>
          <p:cNvPr id="59" name="Text 57"/>
          <p:cNvSpPr/>
          <p:nvPr/>
        </p:nvSpPr>
        <p:spPr>
          <a:xfrm>
            <a:off x="5074920" y="2551176"/>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App</a:t>
            </a:r>
            <a:endParaRPr lang="en-US" sz="1000" dirty="0"/>
          </a:p>
        </p:txBody>
      </p:sp>
      <p:sp>
        <p:nvSpPr>
          <p:cNvPr id="60" name="Shape 58"/>
          <p:cNvSpPr/>
          <p:nvPr/>
        </p:nvSpPr>
        <p:spPr>
          <a:xfrm>
            <a:off x="6355080" y="2587752"/>
            <a:ext cx="1207008" cy="109728"/>
          </a:xfrm>
          <a:prstGeom prst="roundRect">
            <a:avLst>
              <a:gd name="adj" fmla="val 33333"/>
            </a:avLst>
          </a:prstGeom>
          <a:solidFill>
            <a:srgbClr val="D0D0CB"/>
          </a:solidFill>
          <a:ln w="12700">
            <a:solidFill>
              <a:srgbClr val="D0D0CB">
                <a:alpha val="0"/>
              </a:srgbClr>
            </a:solidFill>
            <a:prstDash val="solid"/>
          </a:ln>
        </p:spPr>
      </p:sp>
      <p:sp>
        <p:nvSpPr>
          <p:cNvPr id="61" name="Shape 59"/>
          <p:cNvSpPr/>
          <p:nvPr/>
        </p:nvSpPr>
        <p:spPr>
          <a:xfrm>
            <a:off x="6355080" y="2587752"/>
            <a:ext cx="1207008" cy="109728"/>
          </a:xfrm>
          <a:prstGeom prst="roundRect">
            <a:avLst>
              <a:gd name="adj" fmla="val 33333"/>
            </a:avLst>
          </a:prstGeom>
          <a:solidFill>
            <a:srgbClr val="D71928"/>
          </a:solidFill>
          <a:ln w="12700">
            <a:solidFill>
              <a:srgbClr val="D71928">
                <a:alpha val="0"/>
              </a:srgbClr>
            </a:solidFill>
            <a:prstDash val="solid"/>
          </a:ln>
        </p:spPr>
      </p:sp>
      <p:sp>
        <p:nvSpPr>
          <p:cNvPr id="62" name="Text 60"/>
          <p:cNvSpPr/>
          <p:nvPr/>
        </p:nvSpPr>
        <p:spPr>
          <a:xfrm>
            <a:off x="7607808" y="2542032"/>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10/10</a:t>
            </a:r>
            <a:endParaRPr lang="en-US" sz="900" dirty="0"/>
          </a:p>
        </p:txBody>
      </p:sp>
      <p:sp>
        <p:nvSpPr>
          <p:cNvPr id="63" name="Text 61"/>
          <p:cNvSpPr/>
          <p:nvPr/>
        </p:nvSpPr>
        <p:spPr>
          <a:xfrm>
            <a:off x="5074920" y="3026664"/>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Testing</a:t>
            </a:r>
            <a:endParaRPr lang="en-US" sz="1000" dirty="0"/>
          </a:p>
        </p:txBody>
      </p:sp>
      <p:sp>
        <p:nvSpPr>
          <p:cNvPr id="64" name="Shape 62"/>
          <p:cNvSpPr/>
          <p:nvPr/>
        </p:nvSpPr>
        <p:spPr>
          <a:xfrm>
            <a:off x="6355080" y="3063240"/>
            <a:ext cx="1207008" cy="109728"/>
          </a:xfrm>
          <a:prstGeom prst="roundRect">
            <a:avLst>
              <a:gd name="adj" fmla="val 33333"/>
            </a:avLst>
          </a:prstGeom>
          <a:solidFill>
            <a:srgbClr val="D0D0CB"/>
          </a:solidFill>
          <a:ln w="12700">
            <a:solidFill>
              <a:srgbClr val="D0D0CB">
                <a:alpha val="0"/>
              </a:srgbClr>
            </a:solidFill>
            <a:prstDash val="solid"/>
          </a:ln>
        </p:spPr>
      </p:sp>
      <p:sp>
        <p:nvSpPr>
          <p:cNvPr id="65" name="Shape 63"/>
          <p:cNvSpPr/>
          <p:nvPr/>
        </p:nvSpPr>
        <p:spPr>
          <a:xfrm>
            <a:off x="6355080" y="3063240"/>
            <a:ext cx="1207008" cy="109728"/>
          </a:xfrm>
          <a:prstGeom prst="roundRect">
            <a:avLst>
              <a:gd name="adj" fmla="val 33333"/>
            </a:avLst>
          </a:prstGeom>
          <a:solidFill>
            <a:srgbClr val="D71928"/>
          </a:solidFill>
          <a:ln w="12700">
            <a:solidFill>
              <a:srgbClr val="D71928">
                <a:alpha val="0"/>
              </a:srgbClr>
            </a:solidFill>
            <a:prstDash val="solid"/>
          </a:ln>
        </p:spPr>
      </p:sp>
      <p:sp>
        <p:nvSpPr>
          <p:cNvPr id="66" name="Text 64"/>
          <p:cNvSpPr/>
          <p:nvPr/>
        </p:nvSpPr>
        <p:spPr>
          <a:xfrm>
            <a:off x="7607808" y="3017520"/>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10/10</a:t>
            </a:r>
            <a:endParaRPr lang="en-US" sz="900" dirty="0"/>
          </a:p>
        </p:txBody>
      </p:sp>
      <p:sp>
        <p:nvSpPr>
          <p:cNvPr id="67" name="Text 65"/>
          <p:cNvSpPr/>
          <p:nvPr/>
        </p:nvSpPr>
        <p:spPr>
          <a:xfrm>
            <a:off x="5074920" y="3502152"/>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Git</a:t>
            </a:r>
            <a:endParaRPr lang="en-US" sz="1000" dirty="0"/>
          </a:p>
        </p:txBody>
      </p:sp>
      <p:sp>
        <p:nvSpPr>
          <p:cNvPr id="68" name="Shape 66"/>
          <p:cNvSpPr/>
          <p:nvPr/>
        </p:nvSpPr>
        <p:spPr>
          <a:xfrm>
            <a:off x="6355080" y="3538728"/>
            <a:ext cx="1207008" cy="109728"/>
          </a:xfrm>
          <a:prstGeom prst="roundRect">
            <a:avLst>
              <a:gd name="adj" fmla="val 33333"/>
            </a:avLst>
          </a:prstGeom>
          <a:solidFill>
            <a:srgbClr val="D0D0CB"/>
          </a:solidFill>
          <a:ln w="12700">
            <a:solidFill>
              <a:srgbClr val="D0D0CB">
                <a:alpha val="0"/>
              </a:srgbClr>
            </a:solidFill>
            <a:prstDash val="solid"/>
          </a:ln>
        </p:spPr>
      </p:sp>
      <p:sp>
        <p:nvSpPr>
          <p:cNvPr id="69" name="Shape 67"/>
          <p:cNvSpPr/>
          <p:nvPr/>
        </p:nvSpPr>
        <p:spPr>
          <a:xfrm>
            <a:off x="6355080" y="3538728"/>
            <a:ext cx="724205" cy="109728"/>
          </a:xfrm>
          <a:prstGeom prst="roundRect">
            <a:avLst>
              <a:gd name="adj" fmla="val 33333"/>
            </a:avLst>
          </a:prstGeom>
          <a:solidFill>
            <a:srgbClr val="D71928"/>
          </a:solidFill>
          <a:ln w="12700">
            <a:solidFill>
              <a:srgbClr val="D71928">
                <a:alpha val="0"/>
              </a:srgbClr>
            </a:solidFill>
            <a:prstDash val="solid"/>
          </a:ln>
        </p:spPr>
      </p:sp>
      <p:sp>
        <p:nvSpPr>
          <p:cNvPr id="70" name="Text 68"/>
          <p:cNvSpPr/>
          <p:nvPr/>
        </p:nvSpPr>
        <p:spPr>
          <a:xfrm>
            <a:off x="7607808" y="3493008"/>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3/5</a:t>
            </a:r>
            <a:endParaRPr lang="en-US" sz="900" dirty="0"/>
          </a:p>
        </p:txBody>
      </p:sp>
      <p:sp>
        <p:nvSpPr>
          <p:cNvPr id="71" name="Text 69"/>
          <p:cNvSpPr/>
          <p:nvPr/>
        </p:nvSpPr>
        <p:spPr>
          <a:xfrm>
            <a:off x="5074920" y="3977640"/>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Docker</a:t>
            </a:r>
            <a:endParaRPr lang="en-US" sz="1000" dirty="0"/>
          </a:p>
        </p:txBody>
      </p:sp>
      <p:sp>
        <p:nvSpPr>
          <p:cNvPr id="72" name="Shape 70"/>
          <p:cNvSpPr/>
          <p:nvPr/>
        </p:nvSpPr>
        <p:spPr>
          <a:xfrm>
            <a:off x="6355080" y="4014216"/>
            <a:ext cx="1207008" cy="109728"/>
          </a:xfrm>
          <a:prstGeom prst="roundRect">
            <a:avLst>
              <a:gd name="adj" fmla="val 33333"/>
            </a:avLst>
          </a:prstGeom>
          <a:solidFill>
            <a:srgbClr val="D0D0CB"/>
          </a:solidFill>
          <a:ln w="12700">
            <a:solidFill>
              <a:srgbClr val="D0D0CB">
                <a:alpha val="0"/>
              </a:srgbClr>
            </a:solidFill>
            <a:prstDash val="solid"/>
          </a:ln>
        </p:spPr>
      </p:sp>
      <p:sp>
        <p:nvSpPr>
          <p:cNvPr id="73" name="Shape 71"/>
          <p:cNvSpPr/>
          <p:nvPr/>
        </p:nvSpPr>
        <p:spPr>
          <a:xfrm>
            <a:off x="6355080" y="4014216"/>
            <a:ext cx="1207008" cy="109728"/>
          </a:xfrm>
          <a:prstGeom prst="roundRect">
            <a:avLst>
              <a:gd name="adj" fmla="val 33333"/>
            </a:avLst>
          </a:prstGeom>
          <a:solidFill>
            <a:srgbClr val="D71928"/>
          </a:solidFill>
          <a:ln w="12700">
            <a:solidFill>
              <a:srgbClr val="D71928">
                <a:alpha val="0"/>
              </a:srgbClr>
            </a:solidFill>
            <a:prstDash val="solid"/>
          </a:ln>
        </p:spPr>
      </p:sp>
      <p:sp>
        <p:nvSpPr>
          <p:cNvPr id="74" name="Text 72"/>
          <p:cNvSpPr/>
          <p:nvPr/>
        </p:nvSpPr>
        <p:spPr>
          <a:xfrm>
            <a:off x="7607808" y="3968496"/>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10/10</a:t>
            </a:r>
            <a:endParaRPr lang="en-US" sz="900" dirty="0"/>
          </a:p>
        </p:txBody>
      </p:sp>
      <p:sp>
        <p:nvSpPr>
          <p:cNvPr id="75" name="Text 73"/>
          <p:cNvSpPr/>
          <p:nvPr/>
        </p:nvSpPr>
        <p:spPr>
          <a:xfrm>
            <a:off x="5074920" y="4453128"/>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CI/CD</a:t>
            </a:r>
            <a:endParaRPr lang="en-US" sz="1000" dirty="0"/>
          </a:p>
        </p:txBody>
      </p:sp>
      <p:sp>
        <p:nvSpPr>
          <p:cNvPr id="76" name="Shape 74"/>
          <p:cNvSpPr/>
          <p:nvPr/>
        </p:nvSpPr>
        <p:spPr>
          <a:xfrm>
            <a:off x="6355080" y="4489704"/>
            <a:ext cx="1207008" cy="109728"/>
          </a:xfrm>
          <a:prstGeom prst="roundRect">
            <a:avLst>
              <a:gd name="adj" fmla="val 33333"/>
            </a:avLst>
          </a:prstGeom>
          <a:solidFill>
            <a:srgbClr val="D0D0CB"/>
          </a:solidFill>
          <a:ln w="12700">
            <a:solidFill>
              <a:srgbClr val="D0D0CB">
                <a:alpha val="0"/>
              </a:srgbClr>
            </a:solidFill>
            <a:prstDash val="solid"/>
          </a:ln>
        </p:spPr>
      </p:sp>
      <p:sp>
        <p:nvSpPr>
          <p:cNvPr id="77" name="Shape 75"/>
          <p:cNvSpPr/>
          <p:nvPr/>
        </p:nvSpPr>
        <p:spPr>
          <a:xfrm>
            <a:off x="6355080" y="4489704"/>
            <a:ext cx="1207008" cy="109728"/>
          </a:xfrm>
          <a:prstGeom prst="roundRect">
            <a:avLst>
              <a:gd name="adj" fmla="val 33333"/>
            </a:avLst>
          </a:prstGeom>
          <a:solidFill>
            <a:srgbClr val="D71928"/>
          </a:solidFill>
          <a:ln w="12700">
            <a:solidFill>
              <a:srgbClr val="D71928">
                <a:alpha val="0"/>
              </a:srgbClr>
            </a:solidFill>
            <a:prstDash val="solid"/>
          </a:ln>
        </p:spPr>
      </p:sp>
      <p:sp>
        <p:nvSpPr>
          <p:cNvPr id="78" name="Text 76"/>
          <p:cNvSpPr/>
          <p:nvPr/>
        </p:nvSpPr>
        <p:spPr>
          <a:xfrm>
            <a:off x="7607808" y="4443984"/>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15/15</a:t>
            </a:r>
            <a:endParaRPr lang="en-US" sz="900" dirty="0"/>
          </a:p>
        </p:txBody>
      </p:sp>
      <p:sp>
        <p:nvSpPr>
          <p:cNvPr id="79" name="Text 77"/>
          <p:cNvSpPr/>
          <p:nvPr/>
        </p:nvSpPr>
        <p:spPr>
          <a:xfrm>
            <a:off x="8202168" y="2551176"/>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Security</a:t>
            </a:r>
            <a:endParaRPr lang="en-US" sz="1000" dirty="0"/>
          </a:p>
        </p:txBody>
      </p:sp>
      <p:sp>
        <p:nvSpPr>
          <p:cNvPr id="80" name="Shape 78"/>
          <p:cNvSpPr/>
          <p:nvPr/>
        </p:nvSpPr>
        <p:spPr>
          <a:xfrm>
            <a:off x="9482328" y="2587752"/>
            <a:ext cx="1207008" cy="109728"/>
          </a:xfrm>
          <a:prstGeom prst="roundRect">
            <a:avLst>
              <a:gd name="adj" fmla="val 33333"/>
            </a:avLst>
          </a:prstGeom>
          <a:solidFill>
            <a:srgbClr val="D0D0CB"/>
          </a:solidFill>
          <a:ln w="12700">
            <a:solidFill>
              <a:srgbClr val="D0D0CB">
                <a:alpha val="0"/>
              </a:srgbClr>
            </a:solidFill>
            <a:prstDash val="solid"/>
          </a:ln>
        </p:spPr>
      </p:sp>
      <p:sp>
        <p:nvSpPr>
          <p:cNvPr id="81" name="Shape 79"/>
          <p:cNvSpPr/>
          <p:nvPr/>
        </p:nvSpPr>
        <p:spPr>
          <a:xfrm>
            <a:off x="9482328" y="2587752"/>
            <a:ext cx="965606" cy="109728"/>
          </a:xfrm>
          <a:prstGeom prst="roundRect">
            <a:avLst>
              <a:gd name="adj" fmla="val 33333"/>
            </a:avLst>
          </a:prstGeom>
          <a:solidFill>
            <a:srgbClr val="D71928"/>
          </a:solidFill>
          <a:ln w="12700">
            <a:solidFill>
              <a:srgbClr val="D71928">
                <a:alpha val="0"/>
              </a:srgbClr>
            </a:solidFill>
            <a:prstDash val="solid"/>
          </a:ln>
        </p:spPr>
      </p:sp>
      <p:sp>
        <p:nvSpPr>
          <p:cNvPr id="82" name="Text 80"/>
          <p:cNvSpPr/>
          <p:nvPr/>
        </p:nvSpPr>
        <p:spPr>
          <a:xfrm>
            <a:off x="10735056" y="2542032"/>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4/5</a:t>
            </a:r>
            <a:endParaRPr lang="en-US" sz="900" dirty="0"/>
          </a:p>
        </p:txBody>
      </p:sp>
      <p:sp>
        <p:nvSpPr>
          <p:cNvPr id="83" name="Text 81"/>
          <p:cNvSpPr/>
          <p:nvPr/>
        </p:nvSpPr>
        <p:spPr>
          <a:xfrm>
            <a:off x="8202168" y="3026664"/>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Terraform</a:t>
            </a:r>
            <a:endParaRPr lang="en-US" sz="1000" dirty="0"/>
          </a:p>
        </p:txBody>
      </p:sp>
      <p:sp>
        <p:nvSpPr>
          <p:cNvPr id="84" name="Shape 82"/>
          <p:cNvSpPr/>
          <p:nvPr/>
        </p:nvSpPr>
        <p:spPr>
          <a:xfrm>
            <a:off x="9482328" y="3063240"/>
            <a:ext cx="1207008" cy="109728"/>
          </a:xfrm>
          <a:prstGeom prst="roundRect">
            <a:avLst>
              <a:gd name="adj" fmla="val 33333"/>
            </a:avLst>
          </a:prstGeom>
          <a:solidFill>
            <a:srgbClr val="D0D0CB"/>
          </a:solidFill>
          <a:ln w="12700">
            <a:solidFill>
              <a:srgbClr val="D0D0CB">
                <a:alpha val="0"/>
              </a:srgbClr>
            </a:solidFill>
            <a:prstDash val="solid"/>
          </a:ln>
        </p:spPr>
      </p:sp>
      <p:sp>
        <p:nvSpPr>
          <p:cNvPr id="85" name="Shape 83"/>
          <p:cNvSpPr/>
          <p:nvPr/>
        </p:nvSpPr>
        <p:spPr>
          <a:xfrm>
            <a:off x="9482328" y="3063240"/>
            <a:ext cx="1207008" cy="109728"/>
          </a:xfrm>
          <a:prstGeom prst="roundRect">
            <a:avLst>
              <a:gd name="adj" fmla="val 33333"/>
            </a:avLst>
          </a:prstGeom>
          <a:solidFill>
            <a:srgbClr val="D71928"/>
          </a:solidFill>
          <a:ln w="12700">
            <a:solidFill>
              <a:srgbClr val="D71928">
                <a:alpha val="0"/>
              </a:srgbClr>
            </a:solidFill>
            <a:prstDash val="solid"/>
          </a:ln>
        </p:spPr>
      </p:sp>
      <p:sp>
        <p:nvSpPr>
          <p:cNvPr id="86" name="Text 84"/>
          <p:cNvSpPr/>
          <p:nvPr/>
        </p:nvSpPr>
        <p:spPr>
          <a:xfrm>
            <a:off x="10735056" y="3017520"/>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15/15</a:t>
            </a:r>
            <a:endParaRPr lang="en-US" sz="900" dirty="0"/>
          </a:p>
        </p:txBody>
      </p:sp>
      <p:sp>
        <p:nvSpPr>
          <p:cNvPr id="87" name="Text 85"/>
          <p:cNvSpPr/>
          <p:nvPr/>
        </p:nvSpPr>
        <p:spPr>
          <a:xfrm>
            <a:off x="8202168" y="3502152"/>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K8s + Helm</a:t>
            </a:r>
            <a:endParaRPr lang="en-US" sz="1000" dirty="0"/>
          </a:p>
        </p:txBody>
      </p:sp>
      <p:sp>
        <p:nvSpPr>
          <p:cNvPr id="88" name="Shape 86"/>
          <p:cNvSpPr/>
          <p:nvPr/>
        </p:nvSpPr>
        <p:spPr>
          <a:xfrm>
            <a:off x="9482328" y="3538728"/>
            <a:ext cx="1207008" cy="109728"/>
          </a:xfrm>
          <a:prstGeom prst="roundRect">
            <a:avLst>
              <a:gd name="adj" fmla="val 33333"/>
            </a:avLst>
          </a:prstGeom>
          <a:solidFill>
            <a:srgbClr val="D0D0CB"/>
          </a:solidFill>
          <a:ln w="12700">
            <a:solidFill>
              <a:srgbClr val="D0D0CB">
                <a:alpha val="0"/>
              </a:srgbClr>
            </a:solidFill>
            <a:prstDash val="solid"/>
          </a:ln>
        </p:spPr>
      </p:sp>
      <p:sp>
        <p:nvSpPr>
          <p:cNvPr id="89" name="Shape 87"/>
          <p:cNvSpPr/>
          <p:nvPr/>
        </p:nvSpPr>
        <p:spPr>
          <a:xfrm>
            <a:off x="9482328" y="3538728"/>
            <a:ext cx="1207008" cy="109728"/>
          </a:xfrm>
          <a:prstGeom prst="roundRect">
            <a:avLst>
              <a:gd name="adj" fmla="val 33333"/>
            </a:avLst>
          </a:prstGeom>
          <a:solidFill>
            <a:srgbClr val="D71928"/>
          </a:solidFill>
          <a:ln w="12700">
            <a:solidFill>
              <a:srgbClr val="D71928">
                <a:alpha val="0"/>
              </a:srgbClr>
            </a:solidFill>
            <a:prstDash val="solid"/>
          </a:ln>
        </p:spPr>
      </p:sp>
      <p:sp>
        <p:nvSpPr>
          <p:cNvPr id="90" name="Text 88"/>
          <p:cNvSpPr/>
          <p:nvPr/>
        </p:nvSpPr>
        <p:spPr>
          <a:xfrm>
            <a:off x="10735056" y="3493008"/>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15/15</a:t>
            </a:r>
            <a:endParaRPr lang="en-US" sz="900" dirty="0"/>
          </a:p>
        </p:txBody>
      </p:sp>
      <p:sp>
        <p:nvSpPr>
          <p:cNvPr id="91" name="Text 89"/>
          <p:cNvSpPr/>
          <p:nvPr/>
        </p:nvSpPr>
        <p:spPr>
          <a:xfrm>
            <a:off x="8202168" y="3977640"/>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Monitoring</a:t>
            </a:r>
            <a:endParaRPr lang="en-US" sz="1000" dirty="0"/>
          </a:p>
        </p:txBody>
      </p:sp>
      <p:sp>
        <p:nvSpPr>
          <p:cNvPr id="92" name="Shape 90"/>
          <p:cNvSpPr/>
          <p:nvPr/>
        </p:nvSpPr>
        <p:spPr>
          <a:xfrm>
            <a:off x="9482328" y="4014216"/>
            <a:ext cx="1207008" cy="109728"/>
          </a:xfrm>
          <a:prstGeom prst="roundRect">
            <a:avLst>
              <a:gd name="adj" fmla="val 33333"/>
            </a:avLst>
          </a:prstGeom>
          <a:solidFill>
            <a:srgbClr val="D0D0CB"/>
          </a:solidFill>
          <a:ln w="12700">
            <a:solidFill>
              <a:srgbClr val="D0D0CB">
                <a:alpha val="0"/>
              </a:srgbClr>
            </a:solidFill>
            <a:prstDash val="solid"/>
          </a:ln>
        </p:spPr>
      </p:sp>
      <p:sp>
        <p:nvSpPr>
          <p:cNvPr id="93" name="Shape 91"/>
          <p:cNvSpPr/>
          <p:nvPr/>
        </p:nvSpPr>
        <p:spPr>
          <a:xfrm>
            <a:off x="9482328" y="4014216"/>
            <a:ext cx="1207008" cy="109728"/>
          </a:xfrm>
          <a:prstGeom prst="roundRect">
            <a:avLst>
              <a:gd name="adj" fmla="val 33333"/>
            </a:avLst>
          </a:prstGeom>
          <a:solidFill>
            <a:srgbClr val="D71928"/>
          </a:solidFill>
          <a:ln w="12700">
            <a:solidFill>
              <a:srgbClr val="D71928">
                <a:alpha val="0"/>
              </a:srgbClr>
            </a:solidFill>
            <a:prstDash val="solid"/>
          </a:ln>
        </p:spPr>
      </p:sp>
      <p:sp>
        <p:nvSpPr>
          <p:cNvPr id="94" name="Text 92"/>
          <p:cNvSpPr/>
          <p:nvPr/>
        </p:nvSpPr>
        <p:spPr>
          <a:xfrm>
            <a:off x="10735056" y="3968496"/>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10/10</a:t>
            </a:r>
            <a:endParaRPr lang="en-US" sz="900" dirty="0"/>
          </a:p>
        </p:txBody>
      </p:sp>
      <p:sp>
        <p:nvSpPr>
          <p:cNvPr id="95" name="Text 93"/>
          <p:cNvSpPr/>
          <p:nvPr/>
        </p:nvSpPr>
        <p:spPr>
          <a:xfrm>
            <a:off x="8202168" y="4453128"/>
            <a:ext cx="1335024" cy="182880"/>
          </a:xfrm>
          <a:prstGeom prst="rect">
            <a:avLst/>
          </a:prstGeom>
          <a:noFill/>
          <a:ln/>
        </p:spPr>
        <p:txBody>
          <a:bodyPr wrap="square" lIns="0" tIns="0" rIns="0" bIns="0" rtlCol="0" anchor="ctr">
            <a:normAutofit/>
          </a:bodyPr>
          <a:lstStyle/>
          <a:p>
            <a:pPr indent="0" marL="0">
              <a:buNone/>
            </a:pPr>
            <a:r>
              <a:rPr lang="en-US" sz="1000" b="1" dirty="0">
                <a:solidFill>
                  <a:srgbClr val="575753"/>
                </a:solidFill>
                <a:latin typeface="PT Mono" pitchFamily="34" charset="0"/>
                <a:ea typeface="PT Mono" pitchFamily="34" charset="-122"/>
                <a:cs typeface="PT Mono" pitchFamily="34" charset="-120"/>
              </a:rPr>
              <a:t>Demo + Docs</a:t>
            </a:r>
            <a:endParaRPr lang="en-US" sz="1000" dirty="0"/>
          </a:p>
        </p:txBody>
      </p:sp>
      <p:sp>
        <p:nvSpPr>
          <p:cNvPr id="96" name="Shape 94"/>
          <p:cNvSpPr/>
          <p:nvPr/>
        </p:nvSpPr>
        <p:spPr>
          <a:xfrm>
            <a:off x="9482328" y="4489704"/>
            <a:ext cx="1207008" cy="109728"/>
          </a:xfrm>
          <a:prstGeom prst="roundRect">
            <a:avLst>
              <a:gd name="adj" fmla="val 33333"/>
            </a:avLst>
          </a:prstGeom>
          <a:solidFill>
            <a:srgbClr val="D0D0CB"/>
          </a:solidFill>
          <a:ln w="12700">
            <a:solidFill>
              <a:srgbClr val="D0D0CB">
                <a:alpha val="0"/>
              </a:srgbClr>
            </a:solidFill>
            <a:prstDash val="solid"/>
          </a:ln>
        </p:spPr>
      </p:sp>
      <p:sp>
        <p:nvSpPr>
          <p:cNvPr id="97" name="Shape 95"/>
          <p:cNvSpPr/>
          <p:nvPr/>
        </p:nvSpPr>
        <p:spPr>
          <a:xfrm>
            <a:off x="9482328" y="4489704"/>
            <a:ext cx="482803" cy="109728"/>
          </a:xfrm>
          <a:prstGeom prst="roundRect">
            <a:avLst>
              <a:gd name="adj" fmla="val 33333"/>
            </a:avLst>
          </a:prstGeom>
          <a:solidFill>
            <a:srgbClr val="D71928"/>
          </a:solidFill>
          <a:ln w="12700">
            <a:solidFill>
              <a:srgbClr val="D71928">
                <a:alpha val="0"/>
              </a:srgbClr>
            </a:solidFill>
            <a:prstDash val="solid"/>
          </a:ln>
        </p:spPr>
      </p:sp>
      <p:sp>
        <p:nvSpPr>
          <p:cNvPr id="98" name="Text 96"/>
          <p:cNvSpPr/>
          <p:nvPr/>
        </p:nvSpPr>
        <p:spPr>
          <a:xfrm>
            <a:off x="10735056" y="4443984"/>
            <a:ext cx="502920" cy="219456"/>
          </a:xfrm>
          <a:prstGeom prst="rect">
            <a:avLst/>
          </a:prstGeom>
          <a:noFill/>
          <a:ln/>
        </p:spPr>
        <p:txBody>
          <a:bodyPr wrap="square" lIns="0" tIns="0" rIns="0" bIns="0" rtlCol="0" anchor="ctr">
            <a:normAutofit/>
          </a:bodyPr>
          <a:lstStyle/>
          <a:p>
            <a:pPr algn="r" indent="0" marL="0">
              <a:buNone/>
            </a:pPr>
            <a:r>
              <a:rPr lang="en-US" sz="900" b="1" dirty="0">
                <a:solidFill>
                  <a:srgbClr val="303030"/>
                </a:solidFill>
                <a:latin typeface="PT Mono" pitchFamily="34" charset="0"/>
                <a:ea typeface="PT Mono" pitchFamily="34" charset="-122"/>
                <a:cs typeface="PT Mono" pitchFamily="34" charset="-120"/>
              </a:rPr>
              <a:t>2/5</a:t>
            </a:r>
            <a:endParaRPr lang="en-US" sz="900" dirty="0"/>
          </a:p>
        </p:txBody>
      </p:sp>
      <p:sp>
        <p:nvSpPr>
          <p:cNvPr id="99" name="Shape 97"/>
          <p:cNvSpPr/>
          <p:nvPr/>
        </p:nvSpPr>
        <p:spPr>
          <a:xfrm>
            <a:off x="676656" y="5504688"/>
            <a:ext cx="10789920" cy="429768"/>
          </a:xfrm>
          <a:prstGeom prst="roundRect">
            <a:avLst>
              <a:gd name="adj" fmla="val 27660"/>
            </a:avLst>
          </a:prstGeom>
          <a:solidFill>
            <a:srgbClr val="E9E9E6"/>
          </a:solidFill>
          <a:ln w="12700">
            <a:solidFill>
              <a:srgbClr val="E9E9E6">
                <a:alpha val="0"/>
              </a:srgbClr>
            </a:solidFill>
            <a:prstDash val="solid"/>
          </a:ln>
        </p:spPr>
      </p:sp>
      <p:sp>
        <p:nvSpPr>
          <p:cNvPr id="100" name="Text 98"/>
          <p:cNvSpPr/>
          <p:nvPr/>
        </p:nvSpPr>
        <p:spPr>
          <a:xfrm>
            <a:off x="969264" y="5586984"/>
            <a:ext cx="10250424" cy="256032"/>
          </a:xfrm>
          <a:prstGeom prst="rect">
            <a:avLst/>
          </a:prstGeom>
          <a:noFill/>
          <a:ln/>
        </p:spPr>
        <p:txBody>
          <a:bodyPr wrap="square" lIns="0" tIns="0" rIns="0" bIns="0" rtlCol="0" anchor="ctr">
            <a:normAutofit/>
          </a:bodyPr>
          <a:lstStyle/>
          <a:p>
            <a:pPr indent="0" marL="0">
              <a:buNone/>
            </a:pPr>
            <a:r>
              <a:rPr lang="en-US" sz="1100" b="1" dirty="0">
                <a:solidFill>
                  <a:srgbClr val="303030"/>
                </a:solidFill>
                <a:latin typeface="PT Mono" pitchFamily="34" charset="0"/>
                <a:ea typeface="PT Mono" pitchFamily="34" charset="-122"/>
                <a:cs typeface="PT Mono" pitchFamily="34" charset="-120"/>
              </a:rPr>
              <a:t>Remaining assessment: security explanation (1) + personal demo (3) + course form (2).</a:t>
            </a:r>
            <a:endParaRPr lang="en-US" sz="1100" dirty="0"/>
          </a:p>
        </p:txBody>
      </p:sp>
      <p:sp>
        <p:nvSpPr>
          <p:cNvPr id="101" name="Text 99">
            <a:hlinkClick r:id="rId1" tooltip=""/>
          </p:cNvPr>
          <p:cNvSpPr/>
          <p:nvPr/>
        </p:nvSpPr>
        <p:spPr>
          <a:xfrm>
            <a:off x="7699248" y="6108192"/>
            <a:ext cx="3739896" cy="210312"/>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Full 46-criterion evidence audit  ↗</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2"/>
        </a:solidFill>
      </p:bgPr>
    </p:bg>
    <p:spTree>
      <p:nvGrpSpPr>
        <p:cNvPr id="1" name=""/>
        <p:cNvGrpSpPr/>
        <p:nvPr/>
      </p:nvGrpSpPr>
      <p:grpSpPr>
        <a:xfrm>
          <a:off x="0" y="0"/>
          <a:ext cx="0" cy="0"/>
          <a:chOff x="0" y="0"/>
          <a:chExt cx="0" cy="0"/>
        </a:xfrm>
      </p:grpSpPr>
      <p:sp>
        <p:nvSpPr>
          <p:cNvPr id="2" name="Shape 0"/>
          <p:cNvSpPr/>
          <p:nvPr/>
        </p:nvSpPr>
        <p:spPr>
          <a:xfrm>
            <a:off x="0" y="0"/>
            <a:ext cx="59436" cy="6858000"/>
          </a:xfrm>
          <a:prstGeom prst="rect">
            <a:avLst/>
          </a:prstGeom>
          <a:solidFill>
            <a:srgbClr val="D71928"/>
          </a:solidFill>
          <a:ln w="12700">
            <a:solidFill>
              <a:srgbClr val="D71928">
                <a:alpha val="0"/>
              </a:srgbClr>
            </a:solidFill>
            <a:prstDash val="solid"/>
          </a:ln>
        </p:spPr>
      </p:sp>
      <p:sp>
        <p:nvSpPr>
          <p:cNvPr id="3" name="Shape 1"/>
          <p:cNvSpPr/>
          <p:nvPr/>
        </p:nvSpPr>
        <p:spPr>
          <a:xfrm>
            <a:off x="539496" y="237744"/>
            <a:ext cx="41148" cy="246888"/>
          </a:xfrm>
          <a:prstGeom prst="rect">
            <a:avLst/>
          </a:prstGeom>
          <a:solidFill>
            <a:srgbClr val="D71928"/>
          </a:solidFill>
          <a:ln w="12700">
            <a:solidFill>
              <a:srgbClr val="D71928">
                <a:alpha val="0"/>
              </a:srgbClr>
            </a:solidFill>
            <a:prstDash val="solid"/>
          </a:ln>
        </p:spPr>
      </p:sp>
      <p:sp>
        <p:nvSpPr>
          <p:cNvPr id="4" name="Text 2"/>
          <p:cNvSpPr/>
          <p:nvPr/>
        </p:nvSpPr>
        <p:spPr>
          <a:xfrm>
            <a:off x="685800" y="256032"/>
            <a:ext cx="8961120" cy="228600"/>
          </a:xfrm>
          <a:prstGeom prst="rect">
            <a:avLst/>
          </a:prstGeom>
          <a:noFill/>
          <a:ln/>
        </p:spPr>
        <p:txBody>
          <a:bodyPr wrap="square" lIns="0" tIns="0" rIns="0" bIns="0" rtlCol="0" anchor="ctr">
            <a:normAutofit/>
          </a:bodyPr>
          <a:lstStyle/>
          <a:p>
            <a:pPr indent="0" marL="0">
              <a:buNone/>
            </a:pPr>
            <a:r>
              <a:rPr lang="en-US" sz="1000" b="1" spc="160" kern="0" dirty="0">
                <a:solidFill>
                  <a:srgbClr val="B91622"/>
                </a:solidFill>
                <a:latin typeface="PT Mono" pitchFamily="34" charset="0"/>
                <a:ea typeface="PT Mono" pitchFamily="34" charset="-122"/>
                <a:cs typeface="PT Mono" pitchFamily="34" charset="-120"/>
              </a:rPr>
              <a:t>14 / DEMONSTRATION CHECKLIST</a:t>
            </a:r>
            <a:endParaRPr lang="en-US" sz="1000" dirty="0"/>
          </a:p>
        </p:txBody>
      </p:sp>
      <p:sp>
        <p:nvSpPr>
          <p:cNvPr id="5" name="Shape 3"/>
          <p:cNvSpPr/>
          <p:nvPr/>
        </p:nvSpPr>
        <p:spPr>
          <a:xfrm>
            <a:off x="10817352" y="292608"/>
            <a:ext cx="30175" cy="30175"/>
          </a:xfrm>
          <a:prstGeom prst="ellipse">
            <a:avLst/>
          </a:prstGeom>
          <a:solidFill>
            <a:srgbClr val="D0D0CB"/>
          </a:solidFill>
          <a:ln w="12700">
            <a:solidFill>
              <a:srgbClr val="D0D0CB">
                <a:alpha val="0"/>
              </a:srgbClr>
            </a:solidFill>
            <a:prstDash val="solid"/>
          </a:ln>
        </p:spPr>
      </p:sp>
      <p:sp>
        <p:nvSpPr>
          <p:cNvPr id="6" name="Shape 4"/>
          <p:cNvSpPr/>
          <p:nvPr/>
        </p:nvSpPr>
        <p:spPr>
          <a:xfrm>
            <a:off x="10887761" y="292608"/>
            <a:ext cx="30175" cy="30175"/>
          </a:xfrm>
          <a:prstGeom prst="ellipse">
            <a:avLst/>
          </a:prstGeom>
          <a:solidFill>
            <a:srgbClr val="D0D0CB"/>
          </a:solidFill>
          <a:ln w="12700">
            <a:solidFill>
              <a:srgbClr val="D0D0CB">
                <a:alpha val="0"/>
              </a:srgbClr>
            </a:solidFill>
            <a:prstDash val="solid"/>
          </a:ln>
        </p:spPr>
      </p:sp>
      <p:sp>
        <p:nvSpPr>
          <p:cNvPr id="7" name="Shape 5"/>
          <p:cNvSpPr/>
          <p:nvPr/>
        </p:nvSpPr>
        <p:spPr>
          <a:xfrm>
            <a:off x="10958170" y="292608"/>
            <a:ext cx="30175" cy="30175"/>
          </a:xfrm>
          <a:prstGeom prst="ellipse">
            <a:avLst/>
          </a:prstGeom>
          <a:solidFill>
            <a:srgbClr val="D0D0CB"/>
          </a:solidFill>
          <a:ln w="12700">
            <a:solidFill>
              <a:srgbClr val="D0D0CB">
                <a:alpha val="0"/>
              </a:srgbClr>
            </a:solidFill>
            <a:prstDash val="solid"/>
          </a:ln>
        </p:spPr>
      </p:sp>
      <p:sp>
        <p:nvSpPr>
          <p:cNvPr id="8" name="Shape 6"/>
          <p:cNvSpPr/>
          <p:nvPr/>
        </p:nvSpPr>
        <p:spPr>
          <a:xfrm>
            <a:off x="11028578" y="292608"/>
            <a:ext cx="30175" cy="30175"/>
          </a:xfrm>
          <a:prstGeom prst="ellipse">
            <a:avLst/>
          </a:prstGeom>
          <a:solidFill>
            <a:srgbClr val="D0D0CB"/>
          </a:solidFill>
          <a:ln w="12700">
            <a:solidFill>
              <a:srgbClr val="D0D0CB">
                <a:alpha val="0"/>
              </a:srgbClr>
            </a:solidFill>
            <a:prstDash val="solid"/>
          </a:ln>
        </p:spPr>
      </p:sp>
      <p:sp>
        <p:nvSpPr>
          <p:cNvPr id="9" name="Shape 7"/>
          <p:cNvSpPr/>
          <p:nvPr/>
        </p:nvSpPr>
        <p:spPr>
          <a:xfrm>
            <a:off x="11098987" y="292608"/>
            <a:ext cx="30175" cy="30175"/>
          </a:xfrm>
          <a:prstGeom prst="ellipse">
            <a:avLst/>
          </a:prstGeom>
          <a:solidFill>
            <a:srgbClr val="D0D0CB"/>
          </a:solidFill>
          <a:ln w="12700">
            <a:solidFill>
              <a:srgbClr val="D0D0CB">
                <a:alpha val="0"/>
              </a:srgbClr>
            </a:solidFill>
            <a:prstDash val="solid"/>
          </a:ln>
        </p:spPr>
      </p:sp>
      <p:sp>
        <p:nvSpPr>
          <p:cNvPr id="10" name="Shape 8"/>
          <p:cNvSpPr/>
          <p:nvPr/>
        </p:nvSpPr>
        <p:spPr>
          <a:xfrm>
            <a:off x="11239805" y="292608"/>
            <a:ext cx="30175" cy="30175"/>
          </a:xfrm>
          <a:prstGeom prst="ellipse">
            <a:avLst/>
          </a:prstGeom>
          <a:solidFill>
            <a:srgbClr val="D0D0CB"/>
          </a:solidFill>
          <a:ln w="12700">
            <a:solidFill>
              <a:srgbClr val="D0D0CB">
                <a:alpha val="0"/>
              </a:srgbClr>
            </a:solidFill>
            <a:prstDash val="solid"/>
          </a:ln>
        </p:spPr>
      </p:sp>
      <p:sp>
        <p:nvSpPr>
          <p:cNvPr id="11" name="Shape 9"/>
          <p:cNvSpPr/>
          <p:nvPr/>
        </p:nvSpPr>
        <p:spPr>
          <a:xfrm>
            <a:off x="11310214" y="292608"/>
            <a:ext cx="30175" cy="30175"/>
          </a:xfrm>
          <a:prstGeom prst="ellipse">
            <a:avLst/>
          </a:prstGeom>
          <a:solidFill>
            <a:srgbClr val="D0D0CB"/>
          </a:solidFill>
          <a:ln w="12700">
            <a:solidFill>
              <a:srgbClr val="D0D0CB">
                <a:alpha val="0"/>
              </a:srgbClr>
            </a:solidFill>
            <a:prstDash val="solid"/>
          </a:ln>
        </p:spPr>
      </p:sp>
      <p:sp>
        <p:nvSpPr>
          <p:cNvPr id="12" name="Shape 10"/>
          <p:cNvSpPr/>
          <p:nvPr/>
        </p:nvSpPr>
        <p:spPr>
          <a:xfrm>
            <a:off x="11380622" y="292608"/>
            <a:ext cx="30175" cy="30175"/>
          </a:xfrm>
          <a:prstGeom prst="ellipse">
            <a:avLst/>
          </a:prstGeom>
          <a:solidFill>
            <a:srgbClr val="D0D0CB"/>
          </a:solidFill>
          <a:ln w="12700">
            <a:solidFill>
              <a:srgbClr val="D0D0CB">
                <a:alpha val="0"/>
              </a:srgbClr>
            </a:solidFill>
            <a:prstDash val="solid"/>
          </a:ln>
        </p:spPr>
      </p:sp>
      <p:sp>
        <p:nvSpPr>
          <p:cNvPr id="13" name="Shape 11"/>
          <p:cNvSpPr/>
          <p:nvPr/>
        </p:nvSpPr>
        <p:spPr>
          <a:xfrm>
            <a:off x="11451031" y="292608"/>
            <a:ext cx="30175" cy="30175"/>
          </a:xfrm>
          <a:prstGeom prst="ellipse">
            <a:avLst/>
          </a:prstGeom>
          <a:solidFill>
            <a:srgbClr val="D0D0CB"/>
          </a:solidFill>
          <a:ln w="12700">
            <a:solidFill>
              <a:srgbClr val="D0D0CB">
                <a:alpha val="0"/>
              </a:srgbClr>
            </a:solidFill>
            <a:prstDash val="solid"/>
          </a:ln>
        </p:spPr>
      </p:sp>
      <p:sp>
        <p:nvSpPr>
          <p:cNvPr id="14" name="Shape 12"/>
          <p:cNvSpPr/>
          <p:nvPr/>
        </p:nvSpPr>
        <p:spPr>
          <a:xfrm>
            <a:off x="11521440" y="292608"/>
            <a:ext cx="30175" cy="30175"/>
          </a:xfrm>
          <a:prstGeom prst="ellipse">
            <a:avLst/>
          </a:prstGeom>
          <a:solidFill>
            <a:srgbClr val="D0D0CB"/>
          </a:solidFill>
          <a:ln w="12700">
            <a:solidFill>
              <a:srgbClr val="D0D0CB">
                <a:alpha val="0"/>
              </a:srgbClr>
            </a:solidFill>
            <a:prstDash val="solid"/>
          </a:ln>
        </p:spPr>
      </p:sp>
      <p:sp>
        <p:nvSpPr>
          <p:cNvPr id="15" name="Shape 13"/>
          <p:cNvSpPr/>
          <p:nvPr/>
        </p:nvSpPr>
        <p:spPr>
          <a:xfrm>
            <a:off x="10817352" y="363017"/>
            <a:ext cx="30175" cy="30175"/>
          </a:xfrm>
          <a:prstGeom prst="ellipse">
            <a:avLst/>
          </a:prstGeom>
          <a:solidFill>
            <a:srgbClr val="D0D0CB"/>
          </a:solidFill>
          <a:ln w="12700">
            <a:solidFill>
              <a:srgbClr val="D0D0CB">
                <a:alpha val="0"/>
              </a:srgbClr>
            </a:solidFill>
            <a:prstDash val="solid"/>
          </a:ln>
        </p:spPr>
      </p:sp>
      <p:sp>
        <p:nvSpPr>
          <p:cNvPr id="16" name="Shape 14"/>
          <p:cNvSpPr/>
          <p:nvPr/>
        </p:nvSpPr>
        <p:spPr>
          <a:xfrm>
            <a:off x="10958170" y="363017"/>
            <a:ext cx="30175" cy="30175"/>
          </a:xfrm>
          <a:prstGeom prst="ellipse">
            <a:avLst/>
          </a:prstGeom>
          <a:solidFill>
            <a:srgbClr val="D0D0CB"/>
          </a:solidFill>
          <a:ln w="12700">
            <a:solidFill>
              <a:srgbClr val="D0D0CB">
                <a:alpha val="0"/>
              </a:srgbClr>
            </a:solidFill>
            <a:prstDash val="solid"/>
          </a:ln>
        </p:spPr>
      </p:sp>
      <p:sp>
        <p:nvSpPr>
          <p:cNvPr id="17" name="Shape 15"/>
          <p:cNvSpPr/>
          <p:nvPr/>
        </p:nvSpPr>
        <p:spPr>
          <a:xfrm>
            <a:off x="11028578" y="363017"/>
            <a:ext cx="30175" cy="30175"/>
          </a:xfrm>
          <a:prstGeom prst="ellipse">
            <a:avLst/>
          </a:prstGeom>
          <a:solidFill>
            <a:srgbClr val="D0D0CB"/>
          </a:solidFill>
          <a:ln w="12700">
            <a:solidFill>
              <a:srgbClr val="D0D0CB">
                <a:alpha val="0"/>
              </a:srgbClr>
            </a:solidFill>
            <a:prstDash val="solid"/>
          </a:ln>
        </p:spPr>
      </p:sp>
      <p:sp>
        <p:nvSpPr>
          <p:cNvPr id="18" name="Shape 16"/>
          <p:cNvSpPr/>
          <p:nvPr/>
        </p:nvSpPr>
        <p:spPr>
          <a:xfrm>
            <a:off x="11098987" y="363017"/>
            <a:ext cx="30175" cy="30175"/>
          </a:xfrm>
          <a:prstGeom prst="ellipse">
            <a:avLst/>
          </a:prstGeom>
          <a:solidFill>
            <a:srgbClr val="D0D0CB"/>
          </a:solidFill>
          <a:ln w="12700">
            <a:solidFill>
              <a:srgbClr val="D0D0CB">
                <a:alpha val="0"/>
              </a:srgbClr>
            </a:solidFill>
            <a:prstDash val="solid"/>
          </a:ln>
        </p:spPr>
      </p:sp>
      <p:sp>
        <p:nvSpPr>
          <p:cNvPr id="19" name="Shape 17"/>
          <p:cNvSpPr/>
          <p:nvPr/>
        </p:nvSpPr>
        <p:spPr>
          <a:xfrm>
            <a:off x="11169396" y="363017"/>
            <a:ext cx="30175" cy="30175"/>
          </a:xfrm>
          <a:prstGeom prst="ellipse">
            <a:avLst/>
          </a:prstGeom>
          <a:solidFill>
            <a:srgbClr val="D0D0CB"/>
          </a:solidFill>
          <a:ln w="12700">
            <a:solidFill>
              <a:srgbClr val="D0D0CB">
                <a:alpha val="0"/>
              </a:srgbClr>
            </a:solidFill>
            <a:prstDash val="solid"/>
          </a:ln>
        </p:spPr>
      </p:sp>
      <p:sp>
        <p:nvSpPr>
          <p:cNvPr id="20" name="Shape 18"/>
          <p:cNvSpPr/>
          <p:nvPr/>
        </p:nvSpPr>
        <p:spPr>
          <a:xfrm>
            <a:off x="11239805" y="363017"/>
            <a:ext cx="30175" cy="30175"/>
          </a:xfrm>
          <a:prstGeom prst="ellipse">
            <a:avLst/>
          </a:prstGeom>
          <a:solidFill>
            <a:srgbClr val="D0D0CB"/>
          </a:solidFill>
          <a:ln w="12700">
            <a:solidFill>
              <a:srgbClr val="D0D0CB">
                <a:alpha val="0"/>
              </a:srgbClr>
            </a:solidFill>
            <a:prstDash val="solid"/>
          </a:ln>
        </p:spPr>
      </p:sp>
      <p:sp>
        <p:nvSpPr>
          <p:cNvPr id="21" name="Shape 19"/>
          <p:cNvSpPr/>
          <p:nvPr/>
        </p:nvSpPr>
        <p:spPr>
          <a:xfrm>
            <a:off x="11310214" y="363017"/>
            <a:ext cx="30175" cy="30175"/>
          </a:xfrm>
          <a:prstGeom prst="ellipse">
            <a:avLst/>
          </a:prstGeom>
          <a:solidFill>
            <a:srgbClr val="D0D0CB"/>
          </a:solidFill>
          <a:ln w="12700">
            <a:solidFill>
              <a:srgbClr val="D0D0CB">
                <a:alpha val="0"/>
              </a:srgbClr>
            </a:solidFill>
            <a:prstDash val="solid"/>
          </a:ln>
        </p:spPr>
      </p:sp>
      <p:sp>
        <p:nvSpPr>
          <p:cNvPr id="22" name="Shape 20"/>
          <p:cNvSpPr/>
          <p:nvPr/>
        </p:nvSpPr>
        <p:spPr>
          <a:xfrm>
            <a:off x="11451031" y="363017"/>
            <a:ext cx="30175" cy="30175"/>
          </a:xfrm>
          <a:prstGeom prst="ellipse">
            <a:avLst/>
          </a:prstGeom>
          <a:solidFill>
            <a:srgbClr val="D0D0CB"/>
          </a:solidFill>
          <a:ln w="12700">
            <a:solidFill>
              <a:srgbClr val="D0D0CB">
                <a:alpha val="0"/>
              </a:srgbClr>
            </a:solidFill>
            <a:prstDash val="solid"/>
          </a:ln>
        </p:spPr>
      </p:sp>
      <p:sp>
        <p:nvSpPr>
          <p:cNvPr id="23" name="Shape 21"/>
          <p:cNvSpPr/>
          <p:nvPr/>
        </p:nvSpPr>
        <p:spPr>
          <a:xfrm>
            <a:off x="11521440" y="363017"/>
            <a:ext cx="30175" cy="30175"/>
          </a:xfrm>
          <a:prstGeom prst="ellipse">
            <a:avLst/>
          </a:prstGeom>
          <a:solidFill>
            <a:srgbClr val="D0D0CB"/>
          </a:solidFill>
          <a:ln w="12700">
            <a:solidFill>
              <a:srgbClr val="D0D0CB">
                <a:alpha val="0"/>
              </a:srgbClr>
            </a:solidFill>
            <a:prstDash val="solid"/>
          </a:ln>
        </p:spPr>
      </p:sp>
      <p:sp>
        <p:nvSpPr>
          <p:cNvPr id="24" name="Shape 22"/>
          <p:cNvSpPr/>
          <p:nvPr/>
        </p:nvSpPr>
        <p:spPr>
          <a:xfrm>
            <a:off x="10817352" y="433426"/>
            <a:ext cx="30175" cy="30175"/>
          </a:xfrm>
          <a:prstGeom prst="ellipse">
            <a:avLst/>
          </a:prstGeom>
          <a:solidFill>
            <a:srgbClr val="D0D0CB"/>
          </a:solidFill>
          <a:ln w="12700">
            <a:solidFill>
              <a:srgbClr val="D0D0CB">
                <a:alpha val="0"/>
              </a:srgbClr>
            </a:solidFill>
            <a:prstDash val="solid"/>
          </a:ln>
        </p:spPr>
      </p:sp>
      <p:sp>
        <p:nvSpPr>
          <p:cNvPr id="25" name="Shape 23"/>
          <p:cNvSpPr/>
          <p:nvPr/>
        </p:nvSpPr>
        <p:spPr>
          <a:xfrm>
            <a:off x="10887761" y="433426"/>
            <a:ext cx="30175" cy="30175"/>
          </a:xfrm>
          <a:prstGeom prst="ellipse">
            <a:avLst/>
          </a:prstGeom>
          <a:solidFill>
            <a:srgbClr val="D0D0CB"/>
          </a:solidFill>
          <a:ln w="12700">
            <a:solidFill>
              <a:srgbClr val="D0D0CB">
                <a:alpha val="0"/>
              </a:srgbClr>
            </a:solidFill>
            <a:prstDash val="solid"/>
          </a:ln>
        </p:spPr>
      </p:sp>
      <p:sp>
        <p:nvSpPr>
          <p:cNvPr id="26" name="Shape 24"/>
          <p:cNvSpPr/>
          <p:nvPr/>
        </p:nvSpPr>
        <p:spPr>
          <a:xfrm>
            <a:off x="10958170" y="433426"/>
            <a:ext cx="30175" cy="30175"/>
          </a:xfrm>
          <a:prstGeom prst="ellipse">
            <a:avLst/>
          </a:prstGeom>
          <a:solidFill>
            <a:srgbClr val="D0D0CB"/>
          </a:solidFill>
          <a:ln w="12700">
            <a:solidFill>
              <a:srgbClr val="D0D0CB">
                <a:alpha val="0"/>
              </a:srgbClr>
            </a:solidFill>
            <a:prstDash val="solid"/>
          </a:ln>
        </p:spPr>
      </p:sp>
      <p:sp>
        <p:nvSpPr>
          <p:cNvPr id="27" name="Shape 25"/>
          <p:cNvSpPr/>
          <p:nvPr/>
        </p:nvSpPr>
        <p:spPr>
          <a:xfrm>
            <a:off x="11028578" y="433426"/>
            <a:ext cx="30175" cy="30175"/>
          </a:xfrm>
          <a:prstGeom prst="ellipse">
            <a:avLst/>
          </a:prstGeom>
          <a:solidFill>
            <a:srgbClr val="D0D0CB"/>
          </a:solidFill>
          <a:ln w="12700">
            <a:solidFill>
              <a:srgbClr val="D0D0CB">
                <a:alpha val="0"/>
              </a:srgbClr>
            </a:solidFill>
            <a:prstDash val="solid"/>
          </a:ln>
        </p:spPr>
      </p:sp>
      <p:sp>
        <p:nvSpPr>
          <p:cNvPr id="28" name="Shape 26"/>
          <p:cNvSpPr/>
          <p:nvPr/>
        </p:nvSpPr>
        <p:spPr>
          <a:xfrm>
            <a:off x="11169396" y="433426"/>
            <a:ext cx="30175" cy="30175"/>
          </a:xfrm>
          <a:prstGeom prst="ellipse">
            <a:avLst/>
          </a:prstGeom>
          <a:solidFill>
            <a:srgbClr val="D0D0CB"/>
          </a:solidFill>
          <a:ln w="12700">
            <a:solidFill>
              <a:srgbClr val="D0D0CB">
                <a:alpha val="0"/>
              </a:srgbClr>
            </a:solidFill>
            <a:prstDash val="solid"/>
          </a:ln>
        </p:spPr>
      </p:sp>
      <p:sp>
        <p:nvSpPr>
          <p:cNvPr id="29" name="Shape 27"/>
          <p:cNvSpPr/>
          <p:nvPr/>
        </p:nvSpPr>
        <p:spPr>
          <a:xfrm>
            <a:off x="11239805" y="433426"/>
            <a:ext cx="30175" cy="30175"/>
          </a:xfrm>
          <a:prstGeom prst="ellipse">
            <a:avLst/>
          </a:prstGeom>
          <a:solidFill>
            <a:srgbClr val="D0D0CB"/>
          </a:solidFill>
          <a:ln w="12700">
            <a:solidFill>
              <a:srgbClr val="D0D0CB">
                <a:alpha val="0"/>
              </a:srgbClr>
            </a:solidFill>
            <a:prstDash val="solid"/>
          </a:ln>
        </p:spPr>
      </p:sp>
      <p:sp>
        <p:nvSpPr>
          <p:cNvPr id="30" name="Shape 28"/>
          <p:cNvSpPr/>
          <p:nvPr/>
        </p:nvSpPr>
        <p:spPr>
          <a:xfrm>
            <a:off x="11310214" y="433426"/>
            <a:ext cx="30175" cy="30175"/>
          </a:xfrm>
          <a:prstGeom prst="ellipse">
            <a:avLst/>
          </a:prstGeom>
          <a:solidFill>
            <a:srgbClr val="D0D0CB"/>
          </a:solidFill>
          <a:ln w="12700">
            <a:solidFill>
              <a:srgbClr val="D0D0CB">
                <a:alpha val="0"/>
              </a:srgbClr>
            </a:solidFill>
            <a:prstDash val="solid"/>
          </a:ln>
        </p:spPr>
      </p:sp>
      <p:sp>
        <p:nvSpPr>
          <p:cNvPr id="31" name="Shape 29"/>
          <p:cNvSpPr/>
          <p:nvPr/>
        </p:nvSpPr>
        <p:spPr>
          <a:xfrm>
            <a:off x="11380622" y="433426"/>
            <a:ext cx="30175" cy="30175"/>
          </a:xfrm>
          <a:prstGeom prst="ellipse">
            <a:avLst/>
          </a:prstGeom>
          <a:solidFill>
            <a:srgbClr val="D0D0CB"/>
          </a:solidFill>
          <a:ln w="12700">
            <a:solidFill>
              <a:srgbClr val="D0D0CB">
                <a:alpha val="0"/>
              </a:srgbClr>
            </a:solidFill>
            <a:prstDash val="solid"/>
          </a:ln>
        </p:spPr>
      </p:sp>
      <p:sp>
        <p:nvSpPr>
          <p:cNvPr id="32" name="Shape 30"/>
          <p:cNvSpPr/>
          <p:nvPr/>
        </p:nvSpPr>
        <p:spPr>
          <a:xfrm>
            <a:off x="11451031" y="433426"/>
            <a:ext cx="30175" cy="30175"/>
          </a:xfrm>
          <a:prstGeom prst="ellipse">
            <a:avLst/>
          </a:prstGeom>
          <a:solidFill>
            <a:srgbClr val="D0D0CB"/>
          </a:solidFill>
          <a:ln w="12700">
            <a:solidFill>
              <a:srgbClr val="D0D0CB">
                <a:alpha val="0"/>
              </a:srgbClr>
            </a:solidFill>
            <a:prstDash val="solid"/>
          </a:ln>
        </p:spPr>
      </p:sp>
      <p:sp>
        <p:nvSpPr>
          <p:cNvPr id="33" name="Shape 31"/>
          <p:cNvSpPr/>
          <p:nvPr/>
        </p:nvSpPr>
        <p:spPr>
          <a:xfrm>
            <a:off x="11521440" y="433426"/>
            <a:ext cx="30175" cy="30175"/>
          </a:xfrm>
          <a:prstGeom prst="ellipse">
            <a:avLst/>
          </a:prstGeom>
          <a:solidFill>
            <a:srgbClr val="D0D0CB"/>
          </a:solidFill>
          <a:ln w="12700">
            <a:solidFill>
              <a:srgbClr val="D0D0CB">
                <a:alpha val="0"/>
              </a:srgbClr>
            </a:solidFill>
            <a:prstDash val="solid"/>
          </a:ln>
        </p:spPr>
      </p:sp>
      <p:sp>
        <p:nvSpPr>
          <p:cNvPr id="34" name="Shape 32"/>
          <p:cNvSpPr/>
          <p:nvPr/>
        </p:nvSpPr>
        <p:spPr>
          <a:xfrm>
            <a:off x="10887761" y="503834"/>
            <a:ext cx="30175" cy="30175"/>
          </a:xfrm>
          <a:prstGeom prst="ellipse">
            <a:avLst/>
          </a:prstGeom>
          <a:solidFill>
            <a:srgbClr val="D0D0CB"/>
          </a:solidFill>
          <a:ln w="12700">
            <a:solidFill>
              <a:srgbClr val="D0D0CB">
                <a:alpha val="0"/>
              </a:srgbClr>
            </a:solidFill>
            <a:prstDash val="solid"/>
          </a:ln>
        </p:spPr>
      </p:sp>
      <p:sp>
        <p:nvSpPr>
          <p:cNvPr id="35" name="Shape 33"/>
          <p:cNvSpPr/>
          <p:nvPr/>
        </p:nvSpPr>
        <p:spPr>
          <a:xfrm>
            <a:off x="10958170" y="503834"/>
            <a:ext cx="30175" cy="30175"/>
          </a:xfrm>
          <a:prstGeom prst="ellipse">
            <a:avLst/>
          </a:prstGeom>
          <a:solidFill>
            <a:srgbClr val="D0D0CB"/>
          </a:solidFill>
          <a:ln w="12700">
            <a:solidFill>
              <a:srgbClr val="D0D0CB">
                <a:alpha val="0"/>
              </a:srgbClr>
            </a:solidFill>
            <a:prstDash val="solid"/>
          </a:ln>
        </p:spPr>
      </p:sp>
      <p:sp>
        <p:nvSpPr>
          <p:cNvPr id="36" name="Shape 34"/>
          <p:cNvSpPr/>
          <p:nvPr/>
        </p:nvSpPr>
        <p:spPr>
          <a:xfrm>
            <a:off x="11028578" y="503834"/>
            <a:ext cx="30175" cy="30175"/>
          </a:xfrm>
          <a:prstGeom prst="ellipse">
            <a:avLst/>
          </a:prstGeom>
          <a:solidFill>
            <a:srgbClr val="D0D0CB"/>
          </a:solidFill>
          <a:ln w="12700">
            <a:solidFill>
              <a:srgbClr val="D0D0CB">
                <a:alpha val="0"/>
              </a:srgbClr>
            </a:solidFill>
            <a:prstDash val="solid"/>
          </a:ln>
        </p:spPr>
      </p:sp>
      <p:sp>
        <p:nvSpPr>
          <p:cNvPr id="37" name="Shape 35"/>
          <p:cNvSpPr/>
          <p:nvPr/>
        </p:nvSpPr>
        <p:spPr>
          <a:xfrm>
            <a:off x="11098987" y="503834"/>
            <a:ext cx="30175" cy="30175"/>
          </a:xfrm>
          <a:prstGeom prst="ellipse">
            <a:avLst/>
          </a:prstGeom>
          <a:solidFill>
            <a:srgbClr val="D0D0CB"/>
          </a:solidFill>
          <a:ln w="12700">
            <a:solidFill>
              <a:srgbClr val="D0D0CB">
                <a:alpha val="0"/>
              </a:srgbClr>
            </a:solidFill>
            <a:prstDash val="solid"/>
          </a:ln>
        </p:spPr>
      </p:sp>
      <p:sp>
        <p:nvSpPr>
          <p:cNvPr id="38" name="Shape 36"/>
          <p:cNvSpPr/>
          <p:nvPr/>
        </p:nvSpPr>
        <p:spPr>
          <a:xfrm>
            <a:off x="11169396" y="503834"/>
            <a:ext cx="30175" cy="30175"/>
          </a:xfrm>
          <a:prstGeom prst="ellipse">
            <a:avLst/>
          </a:prstGeom>
          <a:solidFill>
            <a:srgbClr val="D0D0CB"/>
          </a:solidFill>
          <a:ln w="12700">
            <a:solidFill>
              <a:srgbClr val="D0D0CB">
                <a:alpha val="0"/>
              </a:srgbClr>
            </a:solidFill>
            <a:prstDash val="solid"/>
          </a:ln>
        </p:spPr>
      </p:sp>
      <p:sp>
        <p:nvSpPr>
          <p:cNvPr id="39" name="Shape 37"/>
          <p:cNvSpPr/>
          <p:nvPr/>
        </p:nvSpPr>
        <p:spPr>
          <a:xfrm>
            <a:off x="11239805" y="503834"/>
            <a:ext cx="30175" cy="30175"/>
          </a:xfrm>
          <a:prstGeom prst="ellipse">
            <a:avLst/>
          </a:prstGeom>
          <a:solidFill>
            <a:srgbClr val="D0D0CB"/>
          </a:solidFill>
          <a:ln w="12700">
            <a:solidFill>
              <a:srgbClr val="D0D0CB">
                <a:alpha val="0"/>
              </a:srgbClr>
            </a:solidFill>
            <a:prstDash val="solid"/>
          </a:ln>
        </p:spPr>
      </p:sp>
      <p:sp>
        <p:nvSpPr>
          <p:cNvPr id="40" name="Shape 38"/>
          <p:cNvSpPr/>
          <p:nvPr/>
        </p:nvSpPr>
        <p:spPr>
          <a:xfrm>
            <a:off x="11380622" y="503834"/>
            <a:ext cx="30175" cy="30175"/>
          </a:xfrm>
          <a:prstGeom prst="ellipse">
            <a:avLst/>
          </a:prstGeom>
          <a:solidFill>
            <a:srgbClr val="D0D0CB"/>
          </a:solidFill>
          <a:ln w="12700">
            <a:solidFill>
              <a:srgbClr val="D0D0CB">
                <a:alpha val="0"/>
              </a:srgbClr>
            </a:solidFill>
            <a:prstDash val="solid"/>
          </a:ln>
        </p:spPr>
      </p:sp>
      <p:sp>
        <p:nvSpPr>
          <p:cNvPr id="41" name="Shape 39"/>
          <p:cNvSpPr/>
          <p:nvPr/>
        </p:nvSpPr>
        <p:spPr>
          <a:xfrm>
            <a:off x="11451031" y="503834"/>
            <a:ext cx="30175" cy="30175"/>
          </a:xfrm>
          <a:prstGeom prst="ellipse">
            <a:avLst/>
          </a:prstGeom>
          <a:solidFill>
            <a:srgbClr val="D0D0CB"/>
          </a:solidFill>
          <a:ln w="12700">
            <a:solidFill>
              <a:srgbClr val="D0D0CB">
                <a:alpha val="0"/>
              </a:srgbClr>
            </a:solidFill>
            <a:prstDash val="solid"/>
          </a:ln>
        </p:spPr>
      </p:sp>
      <p:sp>
        <p:nvSpPr>
          <p:cNvPr id="42" name="Shape 40"/>
          <p:cNvSpPr/>
          <p:nvPr/>
        </p:nvSpPr>
        <p:spPr>
          <a:xfrm>
            <a:off x="11521440" y="503834"/>
            <a:ext cx="30175" cy="30175"/>
          </a:xfrm>
          <a:prstGeom prst="ellipse">
            <a:avLst/>
          </a:prstGeom>
          <a:solidFill>
            <a:srgbClr val="D0D0CB"/>
          </a:solidFill>
          <a:ln w="12700">
            <a:solidFill>
              <a:srgbClr val="D0D0CB">
                <a:alpha val="0"/>
              </a:srgbClr>
            </a:solidFill>
            <a:prstDash val="solid"/>
          </a:ln>
        </p:spPr>
      </p:sp>
      <p:sp>
        <p:nvSpPr>
          <p:cNvPr id="43" name="Text 41"/>
          <p:cNvSpPr/>
          <p:nvPr/>
        </p:nvSpPr>
        <p:spPr>
          <a:xfrm>
            <a:off x="530352" y="640080"/>
            <a:ext cx="11137392" cy="557784"/>
          </a:xfrm>
          <a:prstGeom prst="rect">
            <a:avLst/>
          </a:prstGeom>
          <a:noFill/>
          <a:ln/>
        </p:spPr>
        <p:txBody>
          <a:bodyPr wrap="square" lIns="0" tIns="0" rIns="0" bIns="0" rtlCol="0" anchor="ctr">
            <a:normAutofit/>
          </a:bodyPr>
          <a:lstStyle/>
          <a:p>
            <a:pPr indent="0" marL="0">
              <a:buNone/>
            </a:pPr>
            <a:r>
              <a:rPr lang="en-US" sz="3000" b="1" dirty="0">
                <a:solidFill>
                  <a:srgbClr val="101010"/>
                </a:solidFill>
                <a:latin typeface="Inter Display" pitchFamily="34" charset="0"/>
                <a:ea typeface="Inter Display" pitchFamily="34" charset="-122"/>
                <a:cs typeface="Inter Display" pitchFamily="34" charset="-120"/>
              </a:rPr>
              <a:t>My final presentation: the live walkthrough</a:t>
            </a:r>
            <a:endParaRPr lang="en-US" sz="3000" dirty="0"/>
          </a:p>
        </p:txBody>
      </p:sp>
      <p:sp>
        <p:nvSpPr>
          <p:cNvPr id="44" name="Text 42"/>
          <p:cNvSpPr/>
          <p:nvPr/>
        </p:nvSpPr>
        <p:spPr>
          <a:xfrm>
            <a:off x="539496" y="1225296"/>
            <a:ext cx="10972800" cy="393192"/>
          </a:xfrm>
          <a:prstGeom prst="rect">
            <a:avLst/>
          </a:prstGeom>
          <a:noFill/>
          <a:ln/>
        </p:spPr>
        <p:txBody>
          <a:bodyPr wrap="square" lIns="0" tIns="0" rIns="0" bIns="0" rtlCol="0" anchor="ctr">
            <a:normAutofit/>
          </a:bodyPr>
          <a:lstStyle/>
          <a:p>
            <a:pPr indent="0" marL="0">
              <a:buNone/>
            </a:pPr>
            <a:r>
              <a:rPr lang="en-US" sz="1240" dirty="0">
                <a:solidFill>
                  <a:srgbClr val="575753"/>
                </a:solidFill>
                <a:latin typeface="Inter" pitchFamily="34" charset="0"/>
                <a:ea typeface="Inter" pitchFamily="34" charset="-122"/>
                <a:cs typeface="Inter" pitchFamily="34" charset="-120"/>
              </a:rPr>
              <a:t>A confident 10–15-minute story: product → engineering → proof.</a:t>
            </a:r>
            <a:endParaRPr lang="en-US" sz="1240" dirty="0"/>
          </a:p>
        </p:txBody>
      </p:sp>
      <p:sp>
        <p:nvSpPr>
          <p:cNvPr id="45" name="Shape 43"/>
          <p:cNvSpPr/>
          <p:nvPr/>
        </p:nvSpPr>
        <p:spPr>
          <a:xfrm>
            <a:off x="530352" y="6437376"/>
            <a:ext cx="11100816" cy="0"/>
          </a:xfrm>
          <a:prstGeom prst="line">
            <a:avLst/>
          </a:prstGeom>
          <a:noFill/>
          <a:ln w="10160">
            <a:solidFill>
              <a:srgbClr val="D0D0CB"/>
            </a:solidFill>
            <a:prstDash val="solid"/>
            <a:headEnd type="none"/>
            <a:tailEnd type="none"/>
          </a:ln>
        </p:spPr>
      </p:sp>
      <p:sp>
        <p:nvSpPr>
          <p:cNvPr id="46" name="Text 44"/>
          <p:cNvSpPr/>
          <p:nvPr/>
        </p:nvSpPr>
        <p:spPr>
          <a:xfrm>
            <a:off x="548640" y="6519672"/>
            <a:ext cx="7955280" cy="182880"/>
          </a:xfrm>
          <a:prstGeom prst="rect">
            <a:avLst/>
          </a:prstGeom>
          <a:noFill/>
          <a:ln/>
        </p:spPr>
        <p:txBody>
          <a:bodyPr wrap="square" lIns="0" tIns="0" rIns="0" bIns="0" rtlCol="0" anchor="ctr">
            <a:normAutofit/>
          </a:bodyPr>
          <a:lstStyle/>
          <a:p>
            <a:pPr indent="0" marL="0">
              <a:buNone/>
            </a:pPr>
            <a:r>
              <a:rPr lang="en-US" sz="800" b="1" dirty="0">
                <a:solidFill>
                  <a:srgbClr val="81817B"/>
                </a:solidFill>
                <a:latin typeface="PT Mono" pitchFamily="34" charset="0"/>
                <a:ea typeface="PT Mono" pitchFamily="34" charset="-122"/>
                <a:cs typeface="PT Mono" pitchFamily="34" charset="-120"/>
              </a:rPr>
              <a:t>S T O C K P I L O T    /    D E V O P S   C A P S T O N E</a:t>
            </a:r>
            <a:endParaRPr lang="en-US" sz="800" dirty="0"/>
          </a:p>
        </p:txBody>
      </p:sp>
      <p:sp>
        <p:nvSpPr>
          <p:cNvPr id="47" name="Text 45"/>
          <p:cNvSpPr/>
          <p:nvPr/>
        </p:nvSpPr>
        <p:spPr>
          <a:xfrm>
            <a:off x="11009376" y="6510528"/>
            <a:ext cx="658368" cy="182880"/>
          </a:xfrm>
          <a:prstGeom prst="rect">
            <a:avLst/>
          </a:prstGeom>
          <a:noFill/>
          <a:ln/>
        </p:spPr>
        <p:txBody>
          <a:bodyPr wrap="square" lIns="0" tIns="0" rIns="0" bIns="0" rtlCol="0" anchor="ctr">
            <a:normAutofit/>
          </a:bodyPr>
          <a:lstStyle/>
          <a:p>
            <a:pPr algn="r" indent="0" marL="0">
              <a:buNone/>
            </a:pPr>
            <a:r>
              <a:rPr lang="en-US" sz="850" b="1" dirty="0">
                <a:solidFill>
                  <a:srgbClr val="81817B"/>
                </a:solidFill>
                <a:latin typeface="PT Mono" pitchFamily="34" charset="0"/>
                <a:ea typeface="PT Mono" pitchFamily="34" charset="-122"/>
                <a:cs typeface="PT Mono" pitchFamily="34" charset="-120"/>
              </a:rPr>
              <a:t>15 / 16</a:t>
            </a:r>
            <a:endParaRPr lang="en-US" sz="850" dirty="0"/>
          </a:p>
        </p:txBody>
      </p:sp>
      <p:sp>
        <p:nvSpPr>
          <p:cNvPr id="48" name="Shape 46"/>
          <p:cNvSpPr/>
          <p:nvPr/>
        </p:nvSpPr>
        <p:spPr>
          <a:xfrm>
            <a:off x="667512" y="1746504"/>
            <a:ext cx="5276088" cy="1143000"/>
          </a:xfrm>
          <a:prstGeom prst="roundRect">
            <a:avLst>
              <a:gd name="adj" fmla="val 4400"/>
            </a:avLst>
          </a:prstGeom>
          <a:solidFill>
            <a:srgbClr val="FFFFFF"/>
          </a:solidFill>
          <a:ln w="10160">
            <a:solidFill>
              <a:srgbClr val="D0D0CB"/>
            </a:solidFill>
            <a:prstDash val="solid"/>
          </a:ln>
        </p:spPr>
      </p:sp>
      <p:sp>
        <p:nvSpPr>
          <p:cNvPr id="49" name="Shape 47"/>
          <p:cNvSpPr/>
          <p:nvPr/>
        </p:nvSpPr>
        <p:spPr>
          <a:xfrm>
            <a:off x="868680" y="1929384"/>
            <a:ext cx="1051560" cy="256032"/>
          </a:xfrm>
          <a:prstGeom prst="roundRect">
            <a:avLst>
              <a:gd name="adj" fmla="val 50000"/>
            </a:avLst>
          </a:prstGeom>
          <a:solidFill>
            <a:srgbClr val="ECECEA"/>
          </a:solidFill>
          <a:ln w="12700">
            <a:solidFill>
              <a:srgbClr val="ECECEA">
                <a:alpha val="0"/>
              </a:srgbClr>
            </a:solidFill>
            <a:prstDash val="solid"/>
          </a:ln>
        </p:spPr>
      </p:sp>
      <p:sp>
        <p:nvSpPr>
          <p:cNvPr id="50" name="Text 48"/>
          <p:cNvSpPr/>
          <p:nvPr/>
        </p:nvSpPr>
        <p:spPr>
          <a:xfrm>
            <a:off x="978408" y="1947672"/>
            <a:ext cx="832104" cy="219456"/>
          </a:xfrm>
          <a:prstGeom prst="rect">
            <a:avLst/>
          </a:prstGeom>
          <a:noFill/>
          <a:ln/>
        </p:spPr>
        <p:txBody>
          <a:bodyPr wrap="square" lIns="0" tIns="0" rIns="0" bIns="0" rtlCol="0" anchor="ctr">
            <a:normAutofit/>
          </a:bodyPr>
          <a:lstStyle/>
          <a:p>
            <a:pPr algn="ctr" indent="0" marL="0">
              <a:buNone/>
            </a:pPr>
            <a:r>
              <a:rPr lang="en-US" sz="840" b="1" dirty="0">
                <a:solidFill>
                  <a:srgbClr val="B91622"/>
                </a:solidFill>
                <a:latin typeface="PT Mono" pitchFamily="34" charset="0"/>
                <a:ea typeface="PT Mono" pitchFamily="34" charset="-122"/>
                <a:cs typeface="PT Mono" pitchFamily="34" charset="-120"/>
              </a:rPr>
              <a:t>00–02 MIN</a:t>
            </a:r>
            <a:endParaRPr lang="en-US" sz="840" dirty="0"/>
          </a:p>
        </p:txBody>
      </p:sp>
      <p:sp>
        <p:nvSpPr>
          <p:cNvPr id="51" name="Text 49"/>
          <p:cNvSpPr/>
          <p:nvPr/>
        </p:nvSpPr>
        <p:spPr>
          <a:xfrm>
            <a:off x="2112264" y="1901952"/>
            <a:ext cx="3529584" cy="237744"/>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PRODUCT</a:t>
            </a:r>
            <a:endParaRPr lang="en-US" sz="1200" dirty="0"/>
          </a:p>
        </p:txBody>
      </p:sp>
      <p:sp>
        <p:nvSpPr>
          <p:cNvPr id="52" name="Text 50"/>
          <p:cNvSpPr/>
          <p:nvPr/>
        </p:nvSpPr>
        <p:spPr>
          <a:xfrm>
            <a:off x="2112264" y="2258568"/>
            <a:ext cx="3547872" cy="384048"/>
          </a:xfrm>
          <a:prstGeom prst="rect">
            <a:avLst/>
          </a:prstGeom>
          <a:noFill/>
          <a:ln/>
        </p:spPr>
        <p:txBody>
          <a:bodyPr wrap="square" lIns="0" tIns="0" rIns="0" bIns="0" rtlCol="0" anchor="ctr">
            <a:normAutofit/>
          </a:bodyPr>
          <a:lstStyle/>
          <a:p>
            <a:pPr indent="0" marL="0">
              <a:buNone/>
            </a:pPr>
            <a:r>
              <a:rPr lang="en-US" sz="1030" dirty="0">
                <a:solidFill>
                  <a:srgbClr val="575753"/>
                </a:solidFill>
                <a:latin typeface="PT Mono" pitchFamily="34" charset="0"/>
                <a:ea typeface="PT Mono" pitchFamily="34" charset="-122"/>
                <a:cs typeface="PT Mono" pitchFamily="34" charset="-120"/>
              </a:rPr>
              <a:t>Create product → adjust stock → show 409</a:t>
            </a:r>
            <a:endParaRPr lang="en-US" sz="1030" dirty="0"/>
          </a:p>
        </p:txBody>
      </p:sp>
      <p:sp>
        <p:nvSpPr>
          <p:cNvPr id="53" name="Shape 51"/>
          <p:cNvSpPr/>
          <p:nvPr/>
        </p:nvSpPr>
        <p:spPr>
          <a:xfrm>
            <a:off x="6217920" y="1746504"/>
            <a:ext cx="5276088" cy="1143000"/>
          </a:xfrm>
          <a:prstGeom prst="roundRect">
            <a:avLst>
              <a:gd name="adj" fmla="val 4400"/>
            </a:avLst>
          </a:prstGeom>
          <a:solidFill>
            <a:srgbClr val="FFFFFF"/>
          </a:solidFill>
          <a:ln w="10160">
            <a:solidFill>
              <a:srgbClr val="D0D0CB"/>
            </a:solidFill>
            <a:prstDash val="solid"/>
          </a:ln>
        </p:spPr>
      </p:sp>
      <p:sp>
        <p:nvSpPr>
          <p:cNvPr id="54" name="Shape 52"/>
          <p:cNvSpPr/>
          <p:nvPr/>
        </p:nvSpPr>
        <p:spPr>
          <a:xfrm>
            <a:off x="6419088" y="1929384"/>
            <a:ext cx="1051560" cy="256032"/>
          </a:xfrm>
          <a:prstGeom prst="roundRect">
            <a:avLst>
              <a:gd name="adj" fmla="val 50000"/>
            </a:avLst>
          </a:prstGeom>
          <a:solidFill>
            <a:srgbClr val="ECECEA"/>
          </a:solidFill>
          <a:ln w="12700">
            <a:solidFill>
              <a:srgbClr val="ECECEA">
                <a:alpha val="0"/>
              </a:srgbClr>
            </a:solidFill>
            <a:prstDash val="solid"/>
          </a:ln>
        </p:spPr>
      </p:sp>
      <p:sp>
        <p:nvSpPr>
          <p:cNvPr id="55" name="Text 53"/>
          <p:cNvSpPr/>
          <p:nvPr/>
        </p:nvSpPr>
        <p:spPr>
          <a:xfrm>
            <a:off x="6528816" y="1947672"/>
            <a:ext cx="832104" cy="219456"/>
          </a:xfrm>
          <a:prstGeom prst="rect">
            <a:avLst/>
          </a:prstGeom>
          <a:noFill/>
          <a:ln/>
        </p:spPr>
        <p:txBody>
          <a:bodyPr wrap="square" lIns="0" tIns="0" rIns="0" bIns="0" rtlCol="0" anchor="ctr">
            <a:normAutofit/>
          </a:bodyPr>
          <a:lstStyle/>
          <a:p>
            <a:pPr algn="ctr" indent="0" marL="0">
              <a:buNone/>
            </a:pPr>
            <a:r>
              <a:rPr lang="en-US" sz="840" b="1" dirty="0">
                <a:solidFill>
                  <a:srgbClr val="B91622"/>
                </a:solidFill>
                <a:latin typeface="PT Mono" pitchFamily="34" charset="0"/>
                <a:ea typeface="PT Mono" pitchFamily="34" charset="-122"/>
                <a:cs typeface="PT Mono" pitchFamily="34" charset="-120"/>
              </a:rPr>
              <a:t>02–05 MIN</a:t>
            </a:r>
            <a:endParaRPr lang="en-US" sz="840" dirty="0"/>
          </a:p>
        </p:txBody>
      </p:sp>
      <p:sp>
        <p:nvSpPr>
          <p:cNvPr id="56" name="Text 54"/>
          <p:cNvSpPr/>
          <p:nvPr/>
        </p:nvSpPr>
        <p:spPr>
          <a:xfrm>
            <a:off x="7662672" y="1901952"/>
            <a:ext cx="3529584" cy="237744"/>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IMPLEMENTATION</a:t>
            </a:r>
            <a:endParaRPr lang="en-US" sz="1200" dirty="0"/>
          </a:p>
        </p:txBody>
      </p:sp>
      <p:sp>
        <p:nvSpPr>
          <p:cNvPr id="57" name="Text 55"/>
          <p:cNvSpPr/>
          <p:nvPr/>
        </p:nvSpPr>
        <p:spPr>
          <a:xfrm>
            <a:off x="7662672" y="2258568"/>
            <a:ext cx="3547872" cy="384048"/>
          </a:xfrm>
          <a:prstGeom prst="rect">
            <a:avLst/>
          </a:prstGeom>
          <a:noFill/>
          <a:ln/>
        </p:spPr>
        <p:txBody>
          <a:bodyPr wrap="square" lIns="0" tIns="0" rIns="0" bIns="0" rtlCol="0" anchor="ctr">
            <a:normAutofit/>
          </a:bodyPr>
          <a:lstStyle/>
          <a:p>
            <a:pPr indent="0" marL="0">
              <a:buNone/>
            </a:pPr>
            <a:r>
              <a:rPr lang="en-US" sz="1030" dirty="0">
                <a:solidFill>
                  <a:srgbClr val="575753"/>
                </a:solidFill>
                <a:latin typeface="PT Mono" pitchFamily="34" charset="0"/>
                <a:ea typeface="PT Mono" pitchFamily="34" charset="-122"/>
                <a:cs typeface="PT Mono" pitchFamily="34" charset="-120"/>
              </a:rPr>
              <a:t>REST + database + isolated tests + Compose</a:t>
            </a:r>
            <a:endParaRPr lang="en-US" sz="1030" dirty="0"/>
          </a:p>
        </p:txBody>
      </p:sp>
      <p:sp>
        <p:nvSpPr>
          <p:cNvPr id="58" name="Shape 56"/>
          <p:cNvSpPr/>
          <p:nvPr/>
        </p:nvSpPr>
        <p:spPr>
          <a:xfrm>
            <a:off x="667512" y="3108960"/>
            <a:ext cx="5276088" cy="1143000"/>
          </a:xfrm>
          <a:prstGeom prst="roundRect">
            <a:avLst>
              <a:gd name="adj" fmla="val 4400"/>
            </a:avLst>
          </a:prstGeom>
          <a:solidFill>
            <a:srgbClr val="FFFFFF"/>
          </a:solidFill>
          <a:ln w="10160">
            <a:solidFill>
              <a:srgbClr val="D0D0CB"/>
            </a:solidFill>
            <a:prstDash val="solid"/>
          </a:ln>
        </p:spPr>
      </p:sp>
      <p:sp>
        <p:nvSpPr>
          <p:cNvPr id="59" name="Shape 57"/>
          <p:cNvSpPr/>
          <p:nvPr/>
        </p:nvSpPr>
        <p:spPr>
          <a:xfrm>
            <a:off x="868680" y="3291840"/>
            <a:ext cx="1051560" cy="256032"/>
          </a:xfrm>
          <a:prstGeom prst="roundRect">
            <a:avLst>
              <a:gd name="adj" fmla="val 50000"/>
            </a:avLst>
          </a:prstGeom>
          <a:solidFill>
            <a:srgbClr val="ECECEA"/>
          </a:solidFill>
          <a:ln w="12700">
            <a:solidFill>
              <a:srgbClr val="ECECEA">
                <a:alpha val="0"/>
              </a:srgbClr>
            </a:solidFill>
            <a:prstDash val="solid"/>
          </a:ln>
        </p:spPr>
      </p:sp>
      <p:sp>
        <p:nvSpPr>
          <p:cNvPr id="60" name="Text 58"/>
          <p:cNvSpPr/>
          <p:nvPr/>
        </p:nvSpPr>
        <p:spPr>
          <a:xfrm>
            <a:off x="978408" y="3310128"/>
            <a:ext cx="832104" cy="219456"/>
          </a:xfrm>
          <a:prstGeom prst="rect">
            <a:avLst/>
          </a:prstGeom>
          <a:noFill/>
          <a:ln/>
        </p:spPr>
        <p:txBody>
          <a:bodyPr wrap="square" lIns="0" tIns="0" rIns="0" bIns="0" rtlCol="0" anchor="ctr">
            <a:normAutofit/>
          </a:bodyPr>
          <a:lstStyle/>
          <a:p>
            <a:pPr algn="ctr" indent="0" marL="0">
              <a:buNone/>
            </a:pPr>
            <a:r>
              <a:rPr lang="en-US" sz="840" b="1" dirty="0">
                <a:solidFill>
                  <a:srgbClr val="B91622"/>
                </a:solidFill>
                <a:latin typeface="PT Mono" pitchFamily="34" charset="0"/>
                <a:ea typeface="PT Mono" pitchFamily="34" charset="-122"/>
                <a:cs typeface="PT Mono" pitchFamily="34" charset="-120"/>
              </a:rPr>
              <a:t>05–08 MIN</a:t>
            </a:r>
            <a:endParaRPr lang="en-US" sz="840" dirty="0"/>
          </a:p>
        </p:txBody>
      </p:sp>
      <p:sp>
        <p:nvSpPr>
          <p:cNvPr id="61" name="Text 59"/>
          <p:cNvSpPr/>
          <p:nvPr/>
        </p:nvSpPr>
        <p:spPr>
          <a:xfrm>
            <a:off x="2112264" y="3264408"/>
            <a:ext cx="3529584" cy="237744"/>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CI + SECURITY</a:t>
            </a:r>
            <a:endParaRPr lang="en-US" sz="1200" dirty="0"/>
          </a:p>
        </p:txBody>
      </p:sp>
      <p:sp>
        <p:nvSpPr>
          <p:cNvPr id="62" name="Text 60"/>
          <p:cNvSpPr/>
          <p:nvPr/>
        </p:nvSpPr>
        <p:spPr>
          <a:xfrm>
            <a:off x="2112264" y="3621024"/>
            <a:ext cx="3547872" cy="384048"/>
          </a:xfrm>
          <a:prstGeom prst="rect">
            <a:avLst/>
          </a:prstGeom>
          <a:noFill/>
          <a:ln/>
        </p:spPr>
        <p:txBody>
          <a:bodyPr wrap="square" lIns="0" tIns="0" rIns="0" bIns="0" rtlCol="0" anchor="ctr">
            <a:normAutofit/>
          </a:bodyPr>
          <a:lstStyle/>
          <a:p>
            <a:pPr indent="0" marL="0">
              <a:buNone/>
            </a:pPr>
            <a:r>
              <a:rPr lang="en-US" sz="1030" dirty="0">
                <a:solidFill>
                  <a:srgbClr val="575753"/>
                </a:solidFill>
                <a:latin typeface="PT Mono" pitchFamily="34" charset="0"/>
                <a:ea typeface="PT Mono" pitchFamily="34" charset="-122"/>
                <a:cs typeface="PT Mono" pitchFamily="34" charset="-120"/>
              </a:rPr>
              <a:t>Meaningful commit → green pipeline → SHA images</a:t>
            </a:r>
            <a:endParaRPr lang="en-US" sz="1030" dirty="0"/>
          </a:p>
        </p:txBody>
      </p:sp>
      <p:sp>
        <p:nvSpPr>
          <p:cNvPr id="63" name="Shape 61"/>
          <p:cNvSpPr/>
          <p:nvPr/>
        </p:nvSpPr>
        <p:spPr>
          <a:xfrm>
            <a:off x="6217920" y="3108960"/>
            <a:ext cx="5276088" cy="1143000"/>
          </a:xfrm>
          <a:prstGeom prst="roundRect">
            <a:avLst>
              <a:gd name="adj" fmla="val 4400"/>
            </a:avLst>
          </a:prstGeom>
          <a:solidFill>
            <a:srgbClr val="FFFFFF"/>
          </a:solidFill>
          <a:ln w="10160">
            <a:solidFill>
              <a:srgbClr val="D0D0CB"/>
            </a:solidFill>
            <a:prstDash val="solid"/>
          </a:ln>
        </p:spPr>
      </p:sp>
      <p:sp>
        <p:nvSpPr>
          <p:cNvPr id="64" name="Shape 62"/>
          <p:cNvSpPr/>
          <p:nvPr/>
        </p:nvSpPr>
        <p:spPr>
          <a:xfrm>
            <a:off x="6419088" y="3291840"/>
            <a:ext cx="1051560" cy="256032"/>
          </a:xfrm>
          <a:prstGeom prst="roundRect">
            <a:avLst>
              <a:gd name="adj" fmla="val 50000"/>
            </a:avLst>
          </a:prstGeom>
          <a:solidFill>
            <a:srgbClr val="ECECEA"/>
          </a:solidFill>
          <a:ln w="12700">
            <a:solidFill>
              <a:srgbClr val="ECECEA">
                <a:alpha val="0"/>
              </a:srgbClr>
            </a:solidFill>
            <a:prstDash val="solid"/>
          </a:ln>
        </p:spPr>
      </p:sp>
      <p:sp>
        <p:nvSpPr>
          <p:cNvPr id="65" name="Text 63"/>
          <p:cNvSpPr/>
          <p:nvPr/>
        </p:nvSpPr>
        <p:spPr>
          <a:xfrm>
            <a:off x="6528816" y="3310128"/>
            <a:ext cx="832104" cy="219456"/>
          </a:xfrm>
          <a:prstGeom prst="rect">
            <a:avLst/>
          </a:prstGeom>
          <a:noFill/>
          <a:ln/>
        </p:spPr>
        <p:txBody>
          <a:bodyPr wrap="square" lIns="0" tIns="0" rIns="0" bIns="0" rtlCol="0" anchor="ctr">
            <a:normAutofit/>
          </a:bodyPr>
          <a:lstStyle/>
          <a:p>
            <a:pPr algn="ctr" indent="0" marL="0">
              <a:buNone/>
            </a:pPr>
            <a:r>
              <a:rPr lang="en-US" sz="840" b="1" dirty="0">
                <a:solidFill>
                  <a:srgbClr val="B91622"/>
                </a:solidFill>
                <a:latin typeface="PT Mono" pitchFamily="34" charset="0"/>
                <a:ea typeface="PT Mono" pitchFamily="34" charset="-122"/>
                <a:cs typeface="PT Mono" pitchFamily="34" charset="-120"/>
              </a:rPr>
              <a:t>08–11 MIN</a:t>
            </a:r>
            <a:endParaRPr lang="en-US" sz="840" dirty="0"/>
          </a:p>
        </p:txBody>
      </p:sp>
      <p:sp>
        <p:nvSpPr>
          <p:cNvPr id="66" name="Text 64"/>
          <p:cNvSpPr/>
          <p:nvPr/>
        </p:nvSpPr>
        <p:spPr>
          <a:xfrm>
            <a:off x="7662672" y="3264408"/>
            <a:ext cx="3529584" cy="237744"/>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KUBERNETES</a:t>
            </a:r>
            <a:endParaRPr lang="en-US" sz="1200" dirty="0"/>
          </a:p>
        </p:txBody>
      </p:sp>
      <p:sp>
        <p:nvSpPr>
          <p:cNvPr id="67" name="Text 65"/>
          <p:cNvSpPr/>
          <p:nvPr/>
        </p:nvSpPr>
        <p:spPr>
          <a:xfrm>
            <a:off x="7662672" y="3621024"/>
            <a:ext cx="3547872" cy="384048"/>
          </a:xfrm>
          <a:prstGeom prst="rect">
            <a:avLst/>
          </a:prstGeom>
          <a:noFill/>
          <a:ln/>
        </p:spPr>
        <p:txBody>
          <a:bodyPr wrap="square" lIns="0" tIns="0" rIns="0" bIns="0" rtlCol="0" anchor="ctr">
            <a:normAutofit/>
          </a:bodyPr>
          <a:lstStyle/>
          <a:p>
            <a:pPr indent="0" marL="0">
              <a:buNone/>
            </a:pPr>
            <a:r>
              <a:rPr lang="en-US" sz="1030" dirty="0">
                <a:solidFill>
                  <a:srgbClr val="575753"/>
                </a:solidFill>
                <a:latin typeface="PT Mono" pitchFamily="34" charset="0"/>
                <a:ea typeface="PT Mono" pitchFamily="34" charset="-122"/>
                <a:cs typeface="PT Mono" pitchFamily="34" charset="-120"/>
              </a:rPr>
              <a:t>Helm / ingress / HPA / monitoring + Flux</a:t>
            </a:r>
            <a:endParaRPr lang="en-US" sz="1030" dirty="0"/>
          </a:p>
        </p:txBody>
      </p:sp>
      <p:sp>
        <p:nvSpPr>
          <p:cNvPr id="68" name="Shape 66"/>
          <p:cNvSpPr/>
          <p:nvPr/>
        </p:nvSpPr>
        <p:spPr>
          <a:xfrm>
            <a:off x="667512" y="4471416"/>
            <a:ext cx="5276088" cy="1143000"/>
          </a:xfrm>
          <a:prstGeom prst="roundRect">
            <a:avLst>
              <a:gd name="adj" fmla="val 4400"/>
            </a:avLst>
          </a:prstGeom>
          <a:solidFill>
            <a:srgbClr val="FFFFFF"/>
          </a:solidFill>
          <a:ln w="10160">
            <a:solidFill>
              <a:srgbClr val="D0D0CB"/>
            </a:solidFill>
            <a:prstDash val="solid"/>
          </a:ln>
        </p:spPr>
      </p:sp>
      <p:sp>
        <p:nvSpPr>
          <p:cNvPr id="69" name="Shape 67"/>
          <p:cNvSpPr/>
          <p:nvPr/>
        </p:nvSpPr>
        <p:spPr>
          <a:xfrm>
            <a:off x="868680" y="4654296"/>
            <a:ext cx="1051560" cy="256032"/>
          </a:xfrm>
          <a:prstGeom prst="roundRect">
            <a:avLst>
              <a:gd name="adj" fmla="val 50000"/>
            </a:avLst>
          </a:prstGeom>
          <a:solidFill>
            <a:srgbClr val="ECECEA"/>
          </a:solidFill>
          <a:ln w="12700">
            <a:solidFill>
              <a:srgbClr val="ECECEA">
                <a:alpha val="0"/>
              </a:srgbClr>
            </a:solidFill>
            <a:prstDash val="solid"/>
          </a:ln>
        </p:spPr>
      </p:sp>
      <p:sp>
        <p:nvSpPr>
          <p:cNvPr id="70" name="Text 68"/>
          <p:cNvSpPr/>
          <p:nvPr/>
        </p:nvSpPr>
        <p:spPr>
          <a:xfrm>
            <a:off x="978408" y="4672584"/>
            <a:ext cx="832104" cy="219456"/>
          </a:xfrm>
          <a:prstGeom prst="rect">
            <a:avLst/>
          </a:prstGeom>
          <a:noFill/>
          <a:ln/>
        </p:spPr>
        <p:txBody>
          <a:bodyPr wrap="square" lIns="0" tIns="0" rIns="0" bIns="0" rtlCol="0" anchor="ctr">
            <a:normAutofit/>
          </a:bodyPr>
          <a:lstStyle/>
          <a:p>
            <a:pPr algn="ctr" indent="0" marL="0">
              <a:buNone/>
            </a:pPr>
            <a:r>
              <a:rPr lang="en-US" sz="840" b="1" dirty="0">
                <a:solidFill>
                  <a:srgbClr val="B91622"/>
                </a:solidFill>
                <a:latin typeface="PT Mono" pitchFamily="34" charset="0"/>
                <a:ea typeface="PT Mono" pitchFamily="34" charset="-122"/>
                <a:cs typeface="PT Mono" pitchFamily="34" charset="-120"/>
              </a:rPr>
              <a:t>11–13 MIN</a:t>
            </a:r>
            <a:endParaRPr lang="en-US" sz="840" dirty="0"/>
          </a:p>
        </p:txBody>
      </p:sp>
      <p:sp>
        <p:nvSpPr>
          <p:cNvPr id="71" name="Text 69"/>
          <p:cNvSpPr/>
          <p:nvPr/>
        </p:nvSpPr>
        <p:spPr>
          <a:xfrm>
            <a:off x="2112264" y="4626864"/>
            <a:ext cx="3529584" cy="237744"/>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AWS LIFECYCLE</a:t>
            </a:r>
            <a:endParaRPr lang="en-US" sz="1200" dirty="0"/>
          </a:p>
        </p:txBody>
      </p:sp>
      <p:sp>
        <p:nvSpPr>
          <p:cNvPr id="72" name="Text 70"/>
          <p:cNvSpPr/>
          <p:nvPr/>
        </p:nvSpPr>
        <p:spPr>
          <a:xfrm>
            <a:off x="2112264" y="4983480"/>
            <a:ext cx="3547872" cy="384048"/>
          </a:xfrm>
          <a:prstGeom prst="rect">
            <a:avLst/>
          </a:prstGeom>
          <a:noFill/>
          <a:ln/>
        </p:spPr>
        <p:txBody>
          <a:bodyPr wrap="square" lIns="0" tIns="0" rIns="0" bIns="0" rtlCol="0" anchor="ctr">
            <a:normAutofit/>
          </a:bodyPr>
          <a:lstStyle/>
          <a:p>
            <a:pPr indent="0" marL="0">
              <a:buNone/>
            </a:pPr>
            <a:r>
              <a:rPr lang="en-US" sz="1030" dirty="0">
                <a:solidFill>
                  <a:srgbClr val="575753"/>
                </a:solidFill>
                <a:latin typeface="PT Mono" pitchFamily="34" charset="0"/>
                <a:ea typeface="PT Mono" pitchFamily="34" charset="-122"/>
                <a:cs typeface="PT Mono" pitchFamily="34" charset="-120"/>
              </a:rPr>
              <a:t>Historical EKS evidence → teardown receipt</a:t>
            </a:r>
            <a:endParaRPr lang="en-US" sz="1030" dirty="0"/>
          </a:p>
        </p:txBody>
      </p:sp>
      <p:sp>
        <p:nvSpPr>
          <p:cNvPr id="73" name="Shape 71"/>
          <p:cNvSpPr/>
          <p:nvPr/>
        </p:nvSpPr>
        <p:spPr>
          <a:xfrm>
            <a:off x="6217920" y="4471416"/>
            <a:ext cx="5276088" cy="1143000"/>
          </a:xfrm>
          <a:prstGeom prst="roundRect">
            <a:avLst>
              <a:gd name="adj" fmla="val 4400"/>
            </a:avLst>
          </a:prstGeom>
          <a:solidFill>
            <a:srgbClr val="FFFFFF"/>
          </a:solidFill>
          <a:ln w="10160">
            <a:solidFill>
              <a:srgbClr val="D0D0CB"/>
            </a:solidFill>
            <a:prstDash val="solid"/>
          </a:ln>
        </p:spPr>
      </p:sp>
      <p:sp>
        <p:nvSpPr>
          <p:cNvPr id="74" name="Shape 72"/>
          <p:cNvSpPr/>
          <p:nvPr/>
        </p:nvSpPr>
        <p:spPr>
          <a:xfrm>
            <a:off x="6419088" y="4654296"/>
            <a:ext cx="1051560" cy="256032"/>
          </a:xfrm>
          <a:prstGeom prst="roundRect">
            <a:avLst>
              <a:gd name="adj" fmla="val 50000"/>
            </a:avLst>
          </a:prstGeom>
          <a:solidFill>
            <a:srgbClr val="ECECEA"/>
          </a:solidFill>
          <a:ln w="12700">
            <a:solidFill>
              <a:srgbClr val="ECECEA">
                <a:alpha val="0"/>
              </a:srgbClr>
            </a:solidFill>
            <a:prstDash val="solid"/>
          </a:ln>
        </p:spPr>
      </p:sp>
      <p:sp>
        <p:nvSpPr>
          <p:cNvPr id="75" name="Text 73"/>
          <p:cNvSpPr/>
          <p:nvPr/>
        </p:nvSpPr>
        <p:spPr>
          <a:xfrm>
            <a:off x="6528816" y="4672584"/>
            <a:ext cx="832104" cy="219456"/>
          </a:xfrm>
          <a:prstGeom prst="rect">
            <a:avLst/>
          </a:prstGeom>
          <a:noFill/>
          <a:ln/>
        </p:spPr>
        <p:txBody>
          <a:bodyPr wrap="square" lIns="0" tIns="0" rIns="0" bIns="0" rtlCol="0" anchor="ctr">
            <a:normAutofit/>
          </a:bodyPr>
          <a:lstStyle/>
          <a:p>
            <a:pPr algn="ctr" indent="0" marL="0">
              <a:buNone/>
            </a:pPr>
            <a:r>
              <a:rPr lang="en-US" sz="840" b="1" dirty="0">
                <a:solidFill>
                  <a:srgbClr val="B91622"/>
                </a:solidFill>
                <a:latin typeface="PT Mono" pitchFamily="34" charset="0"/>
                <a:ea typeface="PT Mono" pitchFamily="34" charset="-122"/>
                <a:cs typeface="PT Mono" pitchFamily="34" charset="-120"/>
              </a:rPr>
              <a:t>13–15 MIN</a:t>
            </a:r>
            <a:endParaRPr lang="en-US" sz="840" dirty="0"/>
          </a:p>
        </p:txBody>
      </p:sp>
      <p:sp>
        <p:nvSpPr>
          <p:cNvPr id="76" name="Text 74"/>
          <p:cNvSpPr/>
          <p:nvPr/>
        </p:nvSpPr>
        <p:spPr>
          <a:xfrm>
            <a:off x="7662672" y="4626864"/>
            <a:ext cx="3529584" cy="237744"/>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Inter Display" pitchFamily="34" charset="0"/>
                <a:ea typeface="Inter Display" pitchFamily="34" charset="-122"/>
                <a:cs typeface="Inter Display" pitchFamily="34" charset="-120"/>
              </a:rPr>
              <a:t>Q&amp;A</a:t>
            </a:r>
            <a:endParaRPr lang="en-US" sz="1200" dirty="0"/>
          </a:p>
        </p:txBody>
      </p:sp>
      <p:sp>
        <p:nvSpPr>
          <p:cNvPr id="77" name="Text 75"/>
          <p:cNvSpPr/>
          <p:nvPr/>
        </p:nvSpPr>
        <p:spPr>
          <a:xfrm>
            <a:off x="7662672" y="4983480"/>
            <a:ext cx="3547872" cy="384048"/>
          </a:xfrm>
          <a:prstGeom prst="rect">
            <a:avLst/>
          </a:prstGeom>
          <a:noFill/>
          <a:ln/>
        </p:spPr>
        <p:txBody>
          <a:bodyPr wrap="square" lIns="0" tIns="0" rIns="0" bIns="0" rtlCol="0" anchor="ctr">
            <a:normAutofit/>
          </a:bodyPr>
          <a:lstStyle/>
          <a:p>
            <a:pPr indent="0" marL="0">
              <a:buNone/>
            </a:pPr>
            <a:r>
              <a:rPr lang="en-US" sz="1030" dirty="0">
                <a:solidFill>
                  <a:srgbClr val="575753"/>
                </a:solidFill>
                <a:latin typeface="PT Mono" pitchFamily="34" charset="0"/>
                <a:ea typeface="PT Mono" pitchFamily="34" charset="-122"/>
                <a:cs typeface="PT Mono" pitchFamily="34" charset="-120"/>
              </a:rPr>
              <a:t>Tradeoffs, CVE, architecture, limitations</a:t>
            </a:r>
            <a:endParaRPr lang="en-US" sz="1030" dirty="0"/>
          </a:p>
        </p:txBody>
      </p:sp>
      <p:sp>
        <p:nvSpPr>
          <p:cNvPr id="78" name="Shape 76"/>
          <p:cNvSpPr/>
          <p:nvPr/>
        </p:nvSpPr>
        <p:spPr>
          <a:xfrm>
            <a:off x="832104" y="6044184"/>
            <a:ext cx="4297680" cy="265176"/>
          </a:xfrm>
          <a:prstGeom prst="roundRect">
            <a:avLst>
              <a:gd name="adj" fmla="val 50000"/>
            </a:avLst>
          </a:prstGeom>
          <a:solidFill>
            <a:srgbClr val="E9E9E6"/>
          </a:solidFill>
          <a:ln w="12700">
            <a:solidFill>
              <a:srgbClr val="E9E9E6">
                <a:alpha val="0"/>
              </a:srgbClr>
            </a:solidFill>
            <a:prstDash val="solid"/>
          </a:ln>
        </p:spPr>
      </p:sp>
      <p:sp>
        <p:nvSpPr>
          <p:cNvPr id="79" name="Text 77"/>
          <p:cNvSpPr/>
          <p:nvPr/>
        </p:nvSpPr>
        <p:spPr>
          <a:xfrm>
            <a:off x="941832" y="6062472"/>
            <a:ext cx="4078224" cy="228600"/>
          </a:xfrm>
          <a:prstGeom prst="rect">
            <a:avLst/>
          </a:prstGeom>
          <a:noFill/>
          <a:ln/>
        </p:spPr>
        <p:txBody>
          <a:bodyPr wrap="square" lIns="0" tIns="0" rIns="0" bIns="0" rtlCol="0" anchor="ctr">
            <a:normAutofit/>
          </a:bodyPr>
          <a:lstStyle/>
          <a:p>
            <a:pPr algn="ctr" indent="0" marL="0">
              <a:buNone/>
            </a:pPr>
            <a:r>
              <a:rPr lang="en-US" sz="900" b="1" dirty="0">
                <a:solidFill>
                  <a:srgbClr val="8C652E"/>
                </a:solidFill>
                <a:latin typeface="PT Mono" pitchFamily="34" charset="0"/>
                <a:ea typeface="PT Mono" pitchFamily="34" charset="-122"/>
                <a:cs typeface="PT Mono" pitchFamily="34" charset="-120"/>
              </a:rPr>
              <a:t>PRESENT HISTORICAL AWS PROOF HONESTLY</a:t>
            </a:r>
            <a:endParaRPr lang="en-US" sz="900" dirty="0"/>
          </a:p>
        </p:txBody>
      </p:sp>
      <p:sp>
        <p:nvSpPr>
          <p:cNvPr id="80" name="Text 78">
            <a:hlinkClick r:id="rId1" tooltip=""/>
          </p:cNvPr>
          <p:cNvSpPr/>
          <p:nvPr/>
        </p:nvSpPr>
        <p:spPr>
          <a:xfrm>
            <a:off x="8129016" y="6099048"/>
            <a:ext cx="3282696" cy="201168"/>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Detailed timed presenter script  ↗</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D71928"/>
          </a:solidFill>
          <a:ln w="12700">
            <a:solidFill>
              <a:srgbClr val="D71928">
                <a:alpha val="0"/>
              </a:srgbClr>
            </a:solidFill>
            <a:prstDash val="solid"/>
          </a:ln>
        </p:spPr>
      </p:sp>
      <p:sp>
        <p:nvSpPr>
          <p:cNvPr id="3" name="Shape 1"/>
          <p:cNvSpPr/>
          <p:nvPr/>
        </p:nvSpPr>
        <p:spPr>
          <a:xfrm>
            <a:off x="685800" y="603504"/>
            <a:ext cx="548640" cy="548640"/>
          </a:xfrm>
          <a:prstGeom prst="roundRect">
            <a:avLst>
              <a:gd name="adj" fmla="val 16667"/>
            </a:avLst>
          </a:prstGeom>
          <a:solidFill>
            <a:srgbClr val="D71928"/>
          </a:solidFill>
          <a:ln w="12700">
            <a:solidFill>
              <a:srgbClr val="D71928">
                <a:alpha val="0"/>
              </a:srgbClr>
            </a:solidFill>
            <a:prstDash val="solid"/>
          </a:ln>
        </p:spPr>
      </p:sp>
      <p:sp>
        <p:nvSpPr>
          <p:cNvPr id="4" name="Shape 2"/>
          <p:cNvSpPr/>
          <p:nvPr/>
        </p:nvSpPr>
        <p:spPr>
          <a:xfrm>
            <a:off x="777240" y="804672"/>
            <a:ext cx="50292" cy="118872"/>
          </a:xfrm>
          <a:prstGeom prst="roundRect">
            <a:avLst>
              <a:gd name="adj" fmla="val 14545"/>
            </a:avLst>
          </a:prstGeom>
          <a:solidFill>
            <a:srgbClr val="F5F5F2"/>
          </a:solidFill>
          <a:ln w="12700">
            <a:solidFill>
              <a:srgbClr val="F5F5F2">
                <a:alpha val="0"/>
              </a:srgbClr>
            </a:solidFill>
            <a:prstDash val="solid"/>
          </a:ln>
        </p:spPr>
      </p:sp>
      <p:sp>
        <p:nvSpPr>
          <p:cNvPr id="5" name="Shape 3"/>
          <p:cNvSpPr/>
          <p:nvPr/>
        </p:nvSpPr>
        <p:spPr>
          <a:xfrm>
            <a:off x="852221" y="758952"/>
            <a:ext cx="50292" cy="164592"/>
          </a:xfrm>
          <a:prstGeom prst="roundRect">
            <a:avLst>
              <a:gd name="adj" fmla="val 14545"/>
            </a:avLst>
          </a:prstGeom>
          <a:solidFill>
            <a:srgbClr val="F5F5F2"/>
          </a:solidFill>
          <a:ln w="12700">
            <a:solidFill>
              <a:srgbClr val="F5F5F2">
                <a:alpha val="0"/>
              </a:srgbClr>
            </a:solidFill>
            <a:prstDash val="solid"/>
          </a:ln>
        </p:spPr>
      </p:sp>
      <p:sp>
        <p:nvSpPr>
          <p:cNvPr id="6" name="Shape 4"/>
          <p:cNvSpPr/>
          <p:nvPr/>
        </p:nvSpPr>
        <p:spPr>
          <a:xfrm>
            <a:off x="927202" y="713232"/>
            <a:ext cx="50292" cy="210312"/>
          </a:xfrm>
          <a:prstGeom prst="roundRect">
            <a:avLst>
              <a:gd name="adj" fmla="val 14545"/>
            </a:avLst>
          </a:prstGeom>
          <a:solidFill>
            <a:srgbClr val="F5F5F2"/>
          </a:solidFill>
          <a:ln w="12700">
            <a:solidFill>
              <a:srgbClr val="F5F5F2">
                <a:alpha val="0"/>
              </a:srgbClr>
            </a:solidFill>
            <a:prstDash val="solid"/>
          </a:ln>
        </p:spPr>
      </p:sp>
      <p:sp>
        <p:nvSpPr>
          <p:cNvPr id="7" name="Shape 5"/>
          <p:cNvSpPr/>
          <p:nvPr/>
        </p:nvSpPr>
        <p:spPr>
          <a:xfrm>
            <a:off x="1613916" y="749808"/>
            <a:ext cx="32918" cy="32918"/>
          </a:xfrm>
          <a:prstGeom prst="ellipse">
            <a:avLst/>
          </a:prstGeom>
          <a:solidFill>
            <a:srgbClr val="FFFFFF"/>
          </a:solidFill>
          <a:ln w="12700">
            <a:solidFill>
              <a:srgbClr val="FFFFFF">
                <a:alpha val="0"/>
              </a:srgbClr>
            </a:solidFill>
            <a:prstDash val="solid"/>
          </a:ln>
        </p:spPr>
      </p:sp>
      <p:sp>
        <p:nvSpPr>
          <p:cNvPr id="8" name="Shape 6"/>
          <p:cNvSpPr/>
          <p:nvPr/>
        </p:nvSpPr>
        <p:spPr>
          <a:xfrm>
            <a:off x="1673352" y="749808"/>
            <a:ext cx="32918" cy="32918"/>
          </a:xfrm>
          <a:prstGeom prst="ellipse">
            <a:avLst/>
          </a:prstGeom>
          <a:solidFill>
            <a:srgbClr val="FFFFFF"/>
          </a:solidFill>
          <a:ln w="12700">
            <a:solidFill>
              <a:srgbClr val="FFFFFF">
                <a:alpha val="0"/>
              </a:srgbClr>
            </a:solidFill>
            <a:prstDash val="solid"/>
          </a:ln>
        </p:spPr>
      </p:sp>
      <p:sp>
        <p:nvSpPr>
          <p:cNvPr id="9" name="Shape 7"/>
          <p:cNvSpPr/>
          <p:nvPr/>
        </p:nvSpPr>
        <p:spPr>
          <a:xfrm>
            <a:off x="1732788" y="749808"/>
            <a:ext cx="32918" cy="32918"/>
          </a:xfrm>
          <a:prstGeom prst="ellipse">
            <a:avLst/>
          </a:prstGeom>
          <a:solidFill>
            <a:srgbClr val="FFFFFF"/>
          </a:solidFill>
          <a:ln w="12700">
            <a:solidFill>
              <a:srgbClr val="FFFFFF">
                <a:alpha val="0"/>
              </a:srgbClr>
            </a:solidFill>
            <a:prstDash val="solid"/>
          </a:ln>
        </p:spPr>
      </p:sp>
      <p:sp>
        <p:nvSpPr>
          <p:cNvPr id="10" name="Shape 8"/>
          <p:cNvSpPr/>
          <p:nvPr/>
        </p:nvSpPr>
        <p:spPr>
          <a:xfrm>
            <a:off x="1792224" y="749808"/>
            <a:ext cx="32918" cy="32918"/>
          </a:xfrm>
          <a:prstGeom prst="ellipse">
            <a:avLst/>
          </a:prstGeom>
          <a:solidFill>
            <a:srgbClr val="FFFFFF"/>
          </a:solidFill>
          <a:ln w="12700">
            <a:solidFill>
              <a:srgbClr val="FFFFFF">
                <a:alpha val="0"/>
              </a:srgbClr>
            </a:solidFill>
            <a:prstDash val="solid"/>
          </a:ln>
        </p:spPr>
      </p:sp>
      <p:sp>
        <p:nvSpPr>
          <p:cNvPr id="11" name="Shape 9"/>
          <p:cNvSpPr/>
          <p:nvPr/>
        </p:nvSpPr>
        <p:spPr>
          <a:xfrm>
            <a:off x="1554480" y="809244"/>
            <a:ext cx="32918" cy="32918"/>
          </a:xfrm>
          <a:prstGeom prst="ellipse">
            <a:avLst/>
          </a:prstGeom>
          <a:solidFill>
            <a:srgbClr val="FFFFFF"/>
          </a:solidFill>
          <a:ln w="12700">
            <a:solidFill>
              <a:srgbClr val="FFFFFF">
                <a:alpha val="0"/>
              </a:srgbClr>
            </a:solidFill>
            <a:prstDash val="solid"/>
          </a:ln>
        </p:spPr>
      </p:sp>
      <p:sp>
        <p:nvSpPr>
          <p:cNvPr id="12" name="Shape 10"/>
          <p:cNvSpPr/>
          <p:nvPr/>
        </p:nvSpPr>
        <p:spPr>
          <a:xfrm>
            <a:off x="1554480" y="868680"/>
            <a:ext cx="32918" cy="32918"/>
          </a:xfrm>
          <a:prstGeom prst="ellipse">
            <a:avLst/>
          </a:prstGeom>
          <a:solidFill>
            <a:srgbClr val="FFFFFF"/>
          </a:solidFill>
          <a:ln w="12700">
            <a:solidFill>
              <a:srgbClr val="FFFFFF">
                <a:alpha val="0"/>
              </a:srgbClr>
            </a:solidFill>
            <a:prstDash val="solid"/>
          </a:ln>
        </p:spPr>
      </p:sp>
      <p:sp>
        <p:nvSpPr>
          <p:cNvPr id="13" name="Shape 11"/>
          <p:cNvSpPr/>
          <p:nvPr/>
        </p:nvSpPr>
        <p:spPr>
          <a:xfrm>
            <a:off x="1613916" y="928116"/>
            <a:ext cx="32918" cy="32918"/>
          </a:xfrm>
          <a:prstGeom prst="ellipse">
            <a:avLst/>
          </a:prstGeom>
          <a:solidFill>
            <a:srgbClr val="FFFFFF"/>
          </a:solidFill>
          <a:ln w="12700">
            <a:solidFill>
              <a:srgbClr val="FFFFFF">
                <a:alpha val="0"/>
              </a:srgbClr>
            </a:solidFill>
            <a:prstDash val="solid"/>
          </a:ln>
        </p:spPr>
      </p:sp>
      <p:sp>
        <p:nvSpPr>
          <p:cNvPr id="14" name="Shape 12"/>
          <p:cNvSpPr/>
          <p:nvPr/>
        </p:nvSpPr>
        <p:spPr>
          <a:xfrm>
            <a:off x="1673352" y="928116"/>
            <a:ext cx="32918" cy="32918"/>
          </a:xfrm>
          <a:prstGeom prst="ellipse">
            <a:avLst/>
          </a:prstGeom>
          <a:solidFill>
            <a:srgbClr val="FFFFFF"/>
          </a:solidFill>
          <a:ln w="12700">
            <a:solidFill>
              <a:srgbClr val="FFFFFF">
                <a:alpha val="0"/>
              </a:srgbClr>
            </a:solidFill>
            <a:prstDash val="solid"/>
          </a:ln>
        </p:spPr>
      </p:sp>
      <p:sp>
        <p:nvSpPr>
          <p:cNvPr id="15" name="Shape 13"/>
          <p:cNvSpPr/>
          <p:nvPr/>
        </p:nvSpPr>
        <p:spPr>
          <a:xfrm>
            <a:off x="1732788" y="928116"/>
            <a:ext cx="32918" cy="32918"/>
          </a:xfrm>
          <a:prstGeom prst="ellipse">
            <a:avLst/>
          </a:prstGeom>
          <a:solidFill>
            <a:srgbClr val="FFFFFF"/>
          </a:solidFill>
          <a:ln w="12700">
            <a:solidFill>
              <a:srgbClr val="FFFFFF">
                <a:alpha val="0"/>
              </a:srgbClr>
            </a:solidFill>
            <a:prstDash val="solid"/>
          </a:ln>
        </p:spPr>
      </p:sp>
      <p:sp>
        <p:nvSpPr>
          <p:cNvPr id="16" name="Shape 14"/>
          <p:cNvSpPr/>
          <p:nvPr/>
        </p:nvSpPr>
        <p:spPr>
          <a:xfrm>
            <a:off x="1792224" y="987552"/>
            <a:ext cx="32918" cy="32918"/>
          </a:xfrm>
          <a:prstGeom prst="ellipse">
            <a:avLst/>
          </a:prstGeom>
          <a:solidFill>
            <a:srgbClr val="FFFFFF"/>
          </a:solidFill>
          <a:ln w="12700">
            <a:solidFill>
              <a:srgbClr val="FFFFFF">
                <a:alpha val="0"/>
              </a:srgbClr>
            </a:solidFill>
            <a:prstDash val="solid"/>
          </a:ln>
        </p:spPr>
      </p:sp>
      <p:sp>
        <p:nvSpPr>
          <p:cNvPr id="17" name="Shape 15"/>
          <p:cNvSpPr/>
          <p:nvPr/>
        </p:nvSpPr>
        <p:spPr>
          <a:xfrm>
            <a:off x="1792224" y="1046988"/>
            <a:ext cx="32918" cy="32918"/>
          </a:xfrm>
          <a:prstGeom prst="ellipse">
            <a:avLst/>
          </a:prstGeom>
          <a:solidFill>
            <a:srgbClr val="FFFFFF"/>
          </a:solidFill>
          <a:ln w="12700">
            <a:solidFill>
              <a:srgbClr val="FFFFFF">
                <a:alpha val="0"/>
              </a:srgbClr>
            </a:solidFill>
            <a:prstDash val="solid"/>
          </a:ln>
        </p:spPr>
      </p:sp>
      <p:sp>
        <p:nvSpPr>
          <p:cNvPr id="18" name="Shape 16"/>
          <p:cNvSpPr/>
          <p:nvPr/>
        </p:nvSpPr>
        <p:spPr>
          <a:xfrm>
            <a:off x="1554480" y="1106424"/>
            <a:ext cx="32918" cy="32918"/>
          </a:xfrm>
          <a:prstGeom prst="ellipse">
            <a:avLst/>
          </a:prstGeom>
          <a:solidFill>
            <a:srgbClr val="FFFFFF"/>
          </a:solidFill>
          <a:ln w="12700">
            <a:solidFill>
              <a:srgbClr val="FFFFFF">
                <a:alpha val="0"/>
              </a:srgbClr>
            </a:solidFill>
            <a:prstDash val="solid"/>
          </a:ln>
        </p:spPr>
      </p:sp>
      <p:sp>
        <p:nvSpPr>
          <p:cNvPr id="19" name="Shape 17"/>
          <p:cNvSpPr/>
          <p:nvPr/>
        </p:nvSpPr>
        <p:spPr>
          <a:xfrm>
            <a:off x="1613916" y="1106424"/>
            <a:ext cx="32918" cy="32918"/>
          </a:xfrm>
          <a:prstGeom prst="ellipse">
            <a:avLst/>
          </a:prstGeom>
          <a:solidFill>
            <a:srgbClr val="FFFFFF"/>
          </a:solidFill>
          <a:ln w="12700">
            <a:solidFill>
              <a:srgbClr val="FFFFFF">
                <a:alpha val="0"/>
              </a:srgbClr>
            </a:solidFill>
            <a:prstDash val="solid"/>
          </a:ln>
        </p:spPr>
      </p:sp>
      <p:sp>
        <p:nvSpPr>
          <p:cNvPr id="20" name="Shape 18"/>
          <p:cNvSpPr/>
          <p:nvPr/>
        </p:nvSpPr>
        <p:spPr>
          <a:xfrm>
            <a:off x="1673352" y="1106424"/>
            <a:ext cx="32918" cy="32918"/>
          </a:xfrm>
          <a:prstGeom prst="ellipse">
            <a:avLst/>
          </a:prstGeom>
          <a:solidFill>
            <a:srgbClr val="FFFFFF"/>
          </a:solidFill>
          <a:ln w="12700">
            <a:solidFill>
              <a:srgbClr val="FFFFFF">
                <a:alpha val="0"/>
              </a:srgbClr>
            </a:solidFill>
            <a:prstDash val="solid"/>
          </a:ln>
        </p:spPr>
      </p:sp>
      <p:sp>
        <p:nvSpPr>
          <p:cNvPr id="21" name="Shape 19"/>
          <p:cNvSpPr/>
          <p:nvPr/>
        </p:nvSpPr>
        <p:spPr>
          <a:xfrm>
            <a:off x="1732788" y="1106424"/>
            <a:ext cx="32918" cy="32918"/>
          </a:xfrm>
          <a:prstGeom prst="ellipse">
            <a:avLst/>
          </a:prstGeom>
          <a:solidFill>
            <a:srgbClr val="FFFFFF"/>
          </a:solidFill>
          <a:ln w="12700">
            <a:solidFill>
              <a:srgbClr val="FFFFFF">
                <a:alpha val="0"/>
              </a:srgbClr>
            </a:solidFill>
            <a:prstDash val="solid"/>
          </a:ln>
        </p:spPr>
      </p:sp>
      <p:sp>
        <p:nvSpPr>
          <p:cNvPr id="22" name="Shape 20"/>
          <p:cNvSpPr/>
          <p:nvPr/>
        </p:nvSpPr>
        <p:spPr>
          <a:xfrm>
            <a:off x="1911096" y="749808"/>
            <a:ext cx="32918" cy="32918"/>
          </a:xfrm>
          <a:prstGeom prst="ellipse">
            <a:avLst/>
          </a:prstGeom>
          <a:solidFill>
            <a:srgbClr val="FFFFFF"/>
          </a:solidFill>
          <a:ln w="12700">
            <a:solidFill>
              <a:srgbClr val="FFFFFF">
                <a:alpha val="0"/>
              </a:srgbClr>
            </a:solidFill>
            <a:prstDash val="solid"/>
          </a:ln>
        </p:spPr>
      </p:sp>
      <p:sp>
        <p:nvSpPr>
          <p:cNvPr id="23" name="Shape 21"/>
          <p:cNvSpPr/>
          <p:nvPr/>
        </p:nvSpPr>
        <p:spPr>
          <a:xfrm>
            <a:off x="1970532" y="749808"/>
            <a:ext cx="32918" cy="32918"/>
          </a:xfrm>
          <a:prstGeom prst="ellipse">
            <a:avLst/>
          </a:prstGeom>
          <a:solidFill>
            <a:srgbClr val="FFFFFF"/>
          </a:solidFill>
          <a:ln w="12700">
            <a:solidFill>
              <a:srgbClr val="FFFFFF">
                <a:alpha val="0"/>
              </a:srgbClr>
            </a:solidFill>
            <a:prstDash val="solid"/>
          </a:ln>
        </p:spPr>
      </p:sp>
      <p:sp>
        <p:nvSpPr>
          <p:cNvPr id="24" name="Shape 22"/>
          <p:cNvSpPr/>
          <p:nvPr/>
        </p:nvSpPr>
        <p:spPr>
          <a:xfrm>
            <a:off x="2029968" y="749808"/>
            <a:ext cx="32918" cy="32918"/>
          </a:xfrm>
          <a:prstGeom prst="ellipse">
            <a:avLst/>
          </a:prstGeom>
          <a:solidFill>
            <a:srgbClr val="FFFFFF"/>
          </a:solidFill>
          <a:ln w="12700">
            <a:solidFill>
              <a:srgbClr val="FFFFFF">
                <a:alpha val="0"/>
              </a:srgbClr>
            </a:solidFill>
            <a:prstDash val="solid"/>
          </a:ln>
        </p:spPr>
      </p:sp>
      <p:sp>
        <p:nvSpPr>
          <p:cNvPr id="25" name="Shape 23"/>
          <p:cNvSpPr/>
          <p:nvPr/>
        </p:nvSpPr>
        <p:spPr>
          <a:xfrm>
            <a:off x="2089404" y="749808"/>
            <a:ext cx="32918" cy="32918"/>
          </a:xfrm>
          <a:prstGeom prst="ellipse">
            <a:avLst/>
          </a:prstGeom>
          <a:solidFill>
            <a:srgbClr val="FFFFFF"/>
          </a:solidFill>
          <a:ln w="12700">
            <a:solidFill>
              <a:srgbClr val="FFFFFF">
                <a:alpha val="0"/>
              </a:srgbClr>
            </a:solidFill>
            <a:prstDash val="solid"/>
          </a:ln>
        </p:spPr>
      </p:sp>
      <p:sp>
        <p:nvSpPr>
          <p:cNvPr id="26" name="Shape 24"/>
          <p:cNvSpPr/>
          <p:nvPr/>
        </p:nvSpPr>
        <p:spPr>
          <a:xfrm>
            <a:off x="2148840" y="749808"/>
            <a:ext cx="32918" cy="32918"/>
          </a:xfrm>
          <a:prstGeom prst="ellipse">
            <a:avLst/>
          </a:prstGeom>
          <a:solidFill>
            <a:srgbClr val="FFFFFF"/>
          </a:solidFill>
          <a:ln w="12700">
            <a:solidFill>
              <a:srgbClr val="FFFFFF">
                <a:alpha val="0"/>
              </a:srgbClr>
            </a:solidFill>
            <a:prstDash val="solid"/>
          </a:ln>
        </p:spPr>
      </p:sp>
      <p:sp>
        <p:nvSpPr>
          <p:cNvPr id="27" name="Shape 25"/>
          <p:cNvSpPr/>
          <p:nvPr/>
        </p:nvSpPr>
        <p:spPr>
          <a:xfrm>
            <a:off x="2029968" y="809244"/>
            <a:ext cx="32918" cy="32918"/>
          </a:xfrm>
          <a:prstGeom prst="ellipse">
            <a:avLst/>
          </a:prstGeom>
          <a:solidFill>
            <a:srgbClr val="FFFFFF"/>
          </a:solidFill>
          <a:ln w="12700">
            <a:solidFill>
              <a:srgbClr val="FFFFFF">
                <a:alpha val="0"/>
              </a:srgbClr>
            </a:solidFill>
            <a:prstDash val="solid"/>
          </a:ln>
        </p:spPr>
      </p:sp>
      <p:sp>
        <p:nvSpPr>
          <p:cNvPr id="28" name="Shape 26"/>
          <p:cNvSpPr/>
          <p:nvPr/>
        </p:nvSpPr>
        <p:spPr>
          <a:xfrm>
            <a:off x="2029968" y="868680"/>
            <a:ext cx="32918" cy="32918"/>
          </a:xfrm>
          <a:prstGeom prst="ellipse">
            <a:avLst/>
          </a:prstGeom>
          <a:solidFill>
            <a:srgbClr val="FFFFFF"/>
          </a:solidFill>
          <a:ln w="12700">
            <a:solidFill>
              <a:srgbClr val="FFFFFF">
                <a:alpha val="0"/>
              </a:srgbClr>
            </a:solidFill>
            <a:prstDash val="solid"/>
          </a:ln>
        </p:spPr>
      </p:sp>
      <p:sp>
        <p:nvSpPr>
          <p:cNvPr id="29" name="Shape 27"/>
          <p:cNvSpPr/>
          <p:nvPr/>
        </p:nvSpPr>
        <p:spPr>
          <a:xfrm>
            <a:off x="2029968" y="928116"/>
            <a:ext cx="32918" cy="32918"/>
          </a:xfrm>
          <a:prstGeom prst="ellipse">
            <a:avLst/>
          </a:prstGeom>
          <a:solidFill>
            <a:srgbClr val="FFFFFF"/>
          </a:solidFill>
          <a:ln w="12700">
            <a:solidFill>
              <a:srgbClr val="FFFFFF">
                <a:alpha val="0"/>
              </a:srgbClr>
            </a:solidFill>
            <a:prstDash val="solid"/>
          </a:ln>
        </p:spPr>
      </p:sp>
      <p:sp>
        <p:nvSpPr>
          <p:cNvPr id="30" name="Shape 28"/>
          <p:cNvSpPr/>
          <p:nvPr/>
        </p:nvSpPr>
        <p:spPr>
          <a:xfrm>
            <a:off x="2029968" y="987552"/>
            <a:ext cx="32918" cy="32918"/>
          </a:xfrm>
          <a:prstGeom prst="ellipse">
            <a:avLst/>
          </a:prstGeom>
          <a:solidFill>
            <a:srgbClr val="FFFFFF"/>
          </a:solidFill>
          <a:ln w="12700">
            <a:solidFill>
              <a:srgbClr val="FFFFFF">
                <a:alpha val="0"/>
              </a:srgbClr>
            </a:solidFill>
            <a:prstDash val="solid"/>
          </a:ln>
        </p:spPr>
      </p:sp>
      <p:sp>
        <p:nvSpPr>
          <p:cNvPr id="31" name="Shape 29"/>
          <p:cNvSpPr/>
          <p:nvPr/>
        </p:nvSpPr>
        <p:spPr>
          <a:xfrm>
            <a:off x="2029968" y="1046988"/>
            <a:ext cx="32918" cy="32918"/>
          </a:xfrm>
          <a:prstGeom prst="ellipse">
            <a:avLst/>
          </a:prstGeom>
          <a:solidFill>
            <a:srgbClr val="FFFFFF"/>
          </a:solidFill>
          <a:ln w="12700">
            <a:solidFill>
              <a:srgbClr val="FFFFFF">
                <a:alpha val="0"/>
              </a:srgbClr>
            </a:solidFill>
            <a:prstDash val="solid"/>
          </a:ln>
        </p:spPr>
      </p:sp>
      <p:sp>
        <p:nvSpPr>
          <p:cNvPr id="32" name="Shape 30"/>
          <p:cNvSpPr/>
          <p:nvPr/>
        </p:nvSpPr>
        <p:spPr>
          <a:xfrm>
            <a:off x="2029968" y="1106424"/>
            <a:ext cx="32918" cy="32918"/>
          </a:xfrm>
          <a:prstGeom prst="ellipse">
            <a:avLst/>
          </a:prstGeom>
          <a:solidFill>
            <a:srgbClr val="FFFFFF"/>
          </a:solidFill>
          <a:ln w="12700">
            <a:solidFill>
              <a:srgbClr val="FFFFFF">
                <a:alpha val="0"/>
              </a:srgbClr>
            </a:solidFill>
            <a:prstDash val="solid"/>
          </a:ln>
        </p:spPr>
      </p:sp>
      <p:sp>
        <p:nvSpPr>
          <p:cNvPr id="33" name="Shape 31"/>
          <p:cNvSpPr/>
          <p:nvPr/>
        </p:nvSpPr>
        <p:spPr>
          <a:xfrm>
            <a:off x="2327148" y="749808"/>
            <a:ext cx="32918" cy="32918"/>
          </a:xfrm>
          <a:prstGeom prst="ellipse">
            <a:avLst/>
          </a:prstGeom>
          <a:solidFill>
            <a:srgbClr val="FFFFFF"/>
          </a:solidFill>
          <a:ln w="12700">
            <a:solidFill>
              <a:srgbClr val="FFFFFF">
                <a:alpha val="0"/>
              </a:srgbClr>
            </a:solidFill>
            <a:prstDash val="solid"/>
          </a:ln>
        </p:spPr>
      </p:sp>
      <p:sp>
        <p:nvSpPr>
          <p:cNvPr id="34" name="Shape 32"/>
          <p:cNvSpPr/>
          <p:nvPr/>
        </p:nvSpPr>
        <p:spPr>
          <a:xfrm>
            <a:off x="2386584" y="749808"/>
            <a:ext cx="32918" cy="32918"/>
          </a:xfrm>
          <a:prstGeom prst="ellipse">
            <a:avLst/>
          </a:prstGeom>
          <a:solidFill>
            <a:srgbClr val="FFFFFF"/>
          </a:solidFill>
          <a:ln w="12700">
            <a:solidFill>
              <a:srgbClr val="FFFFFF">
                <a:alpha val="0"/>
              </a:srgbClr>
            </a:solidFill>
            <a:prstDash val="solid"/>
          </a:ln>
        </p:spPr>
      </p:sp>
      <p:sp>
        <p:nvSpPr>
          <p:cNvPr id="35" name="Shape 33"/>
          <p:cNvSpPr/>
          <p:nvPr/>
        </p:nvSpPr>
        <p:spPr>
          <a:xfrm>
            <a:off x="2446020" y="749808"/>
            <a:ext cx="32918" cy="32918"/>
          </a:xfrm>
          <a:prstGeom prst="ellipse">
            <a:avLst/>
          </a:prstGeom>
          <a:solidFill>
            <a:srgbClr val="FFFFFF"/>
          </a:solidFill>
          <a:ln w="12700">
            <a:solidFill>
              <a:srgbClr val="FFFFFF">
                <a:alpha val="0"/>
              </a:srgbClr>
            </a:solidFill>
            <a:prstDash val="solid"/>
          </a:ln>
        </p:spPr>
      </p:sp>
      <p:sp>
        <p:nvSpPr>
          <p:cNvPr id="36" name="Shape 34"/>
          <p:cNvSpPr/>
          <p:nvPr/>
        </p:nvSpPr>
        <p:spPr>
          <a:xfrm>
            <a:off x="2267712" y="809244"/>
            <a:ext cx="32918" cy="32918"/>
          </a:xfrm>
          <a:prstGeom prst="ellipse">
            <a:avLst/>
          </a:prstGeom>
          <a:solidFill>
            <a:srgbClr val="FFFFFF"/>
          </a:solidFill>
          <a:ln w="12700">
            <a:solidFill>
              <a:srgbClr val="FFFFFF">
                <a:alpha val="0"/>
              </a:srgbClr>
            </a:solidFill>
            <a:prstDash val="solid"/>
          </a:ln>
        </p:spPr>
      </p:sp>
      <p:sp>
        <p:nvSpPr>
          <p:cNvPr id="37" name="Shape 35"/>
          <p:cNvSpPr/>
          <p:nvPr/>
        </p:nvSpPr>
        <p:spPr>
          <a:xfrm>
            <a:off x="2505456" y="809244"/>
            <a:ext cx="32918" cy="32918"/>
          </a:xfrm>
          <a:prstGeom prst="ellipse">
            <a:avLst/>
          </a:prstGeom>
          <a:solidFill>
            <a:srgbClr val="FFFFFF"/>
          </a:solidFill>
          <a:ln w="12700">
            <a:solidFill>
              <a:srgbClr val="FFFFFF">
                <a:alpha val="0"/>
              </a:srgbClr>
            </a:solidFill>
            <a:prstDash val="solid"/>
          </a:ln>
        </p:spPr>
      </p:sp>
      <p:sp>
        <p:nvSpPr>
          <p:cNvPr id="38" name="Shape 36"/>
          <p:cNvSpPr/>
          <p:nvPr/>
        </p:nvSpPr>
        <p:spPr>
          <a:xfrm>
            <a:off x="2267712" y="868680"/>
            <a:ext cx="32918" cy="32918"/>
          </a:xfrm>
          <a:prstGeom prst="ellipse">
            <a:avLst/>
          </a:prstGeom>
          <a:solidFill>
            <a:srgbClr val="FFFFFF"/>
          </a:solidFill>
          <a:ln w="12700">
            <a:solidFill>
              <a:srgbClr val="FFFFFF">
                <a:alpha val="0"/>
              </a:srgbClr>
            </a:solidFill>
            <a:prstDash val="solid"/>
          </a:ln>
        </p:spPr>
      </p:sp>
      <p:sp>
        <p:nvSpPr>
          <p:cNvPr id="39" name="Shape 37"/>
          <p:cNvSpPr/>
          <p:nvPr/>
        </p:nvSpPr>
        <p:spPr>
          <a:xfrm>
            <a:off x="2505456" y="868680"/>
            <a:ext cx="32918" cy="32918"/>
          </a:xfrm>
          <a:prstGeom prst="ellipse">
            <a:avLst/>
          </a:prstGeom>
          <a:solidFill>
            <a:srgbClr val="FFFFFF"/>
          </a:solidFill>
          <a:ln w="12700">
            <a:solidFill>
              <a:srgbClr val="FFFFFF">
                <a:alpha val="0"/>
              </a:srgbClr>
            </a:solidFill>
            <a:prstDash val="solid"/>
          </a:ln>
        </p:spPr>
      </p:sp>
      <p:sp>
        <p:nvSpPr>
          <p:cNvPr id="40" name="Shape 38"/>
          <p:cNvSpPr/>
          <p:nvPr/>
        </p:nvSpPr>
        <p:spPr>
          <a:xfrm>
            <a:off x="2267712" y="928116"/>
            <a:ext cx="32918" cy="32918"/>
          </a:xfrm>
          <a:prstGeom prst="ellipse">
            <a:avLst/>
          </a:prstGeom>
          <a:solidFill>
            <a:srgbClr val="FFFFFF"/>
          </a:solidFill>
          <a:ln w="12700">
            <a:solidFill>
              <a:srgbClr val="FFFFFF">
                <a:alpha val="0"/>
              </a:srgbClr>
            </a:solidFill>
            <a:prstDash val="solid"/>
          </a:ln>
        </p:spPr>
      </p:sp>
      <p:sp>
        <p:nvSpPr>
          <p:cNvPr id="41" name="Shape 39"/>
          <p:cNvSpPr/>
          <p:nvPr/>
        </p:nvSpPr>
        <p:spPr>
          <a:xfrm>
            <a:off x="2505456" y="928116"/>
            <a:ext cx="32918" cy="32918"/>
          </a:xfrm>
          <a:prstGeom prst="ellipse">
            <a:avLst/>
          </a:prstGeom>
          <a:solidFill>
            <a:srgbClr val="FFFFFF"/>
          </a:solidFill>
          <a:ln w="12700">
            <a:solidFill>
              <a:srgbClr val="FFFFFF">
                <a:alpha val="0"/>
              </a:srgbClr>
            </a:solidFill>
            <a:prstDash val="solid"/>
          </a:ln>
        </p:spPr>
      </p:sp>
      <p:sp>
        <p:nvSpPr>
          <p:cNvPr id="42" name="Shape 40"/>
          <p:cNvSpPr/>
          <p:nvPr/>
        </p:nvSpPr>
        <p:spPr>
          <a:xfrm>
            <a:off x="2267712" y="987552"/>
            <a:ext cx="32918" cy="32918"/>
          </a:xfrm>
          <a:prstGeom prst="ellipse">
            <a:avLst/>
          </a:prstGeom>
          <a:solidFill>
            <a:srgbClr val="FFFFFF"/>
          </a:solidFill>
          <a:ln w="12700">
            <a:solidFill>
              <a:srgbClr val="FFFFFF">
                <a:alpha val="0"/>
              </a:srgbClr>
            </a:solidFill>
            <a:prstDash val="solid"/>
          </a:ln>
        </p:spPr>
      </p:sp>
      <p:sp>
        <p:nvSpPr>
          <p:cNvPr id="43" name="Shape 41"/>
          <p:cNvSpPr/>
          <p:nvPr/>
        </p:nvSpPr>
        <p:spPr>
          <a:xfrm>
            <a:off x="2505456" y="987552"/>
            <a:ext cx="32918" cy="32918"/>
          </a:xfrm>
          <a:prstGeom prst="ellipse">
            <a:avLst/>
          </a:prstGeom>
          <a:solidFill>
            <a:srgbClr val="FFFFFF"/>
          </a:solidFill>
          <a:ln w="12700">
            <a:solidFill>
              <a:srgbClr val="FFFFFF">
                <a:alpha val="0"/>
              </a:srgbClr>
            </a:solidFill>
            <a:prstDash val="solid"/>
          </a:ln>
        </p:spPr>
      </p:sp>
      <p:sp>
        <p:nvSpPr>
          <p:cNvPr id="44" name="Shape 42"/>
          <p:cNvSpPr/>
          <p:nvPr/>
        </p:nvSpPr>
        <p:spPr>
          <a:xfrm>
            <a:off x="2267712" y="1046988"/>
            <a:ext cx="32918" cy="32918"/>
          </a:xfrm>
          <a:prstGeom prst="ellipse">
            <a:avLst/>
          </a:prstGeom>
          <a:solidFill>
            <a:srgbClr val="FFFFFF"/>
          </a:solidFill>
          <a:ln w="12700">
            <a:solidFill>
              <a:srgbClr val="FFFFFF">
                <a:alpha val="0"/>
              </a:srgbClr>
            </a:solidFill>
            <a:prstDash val="solid"/>
          </a:ln>
        </p:spPr>
      </p:sp>
      <p:sp>
        <p:nvSpPr>
          <p:cNvPr id="45" name="Shape 43"/>
          <p:cNvSpPr/>
          <p:nvPr/>
        </p:nvSpPr>
        <p:spPr>
          <a:xfrm>
            <a:off x="2505456" y="1046988"/>
            <a:ext cx="32918" cy="32918"/>
          </a:xfrm>
          <a:prstGeom prst="ellipse">
            <a:avLst/>
          </a:prstGeom>
          <a:solidFill>
            <a:srgbClr val="FFFFFF"/>
          </a:solidFill>
          <a:ln w="12700">
            <a:solidFill>
              <a:srgbClr val="FFFFFF">
                <a:alpha val="0"/>
              </a:srgbClr>
            </a:solidFill>
            <a:prstDash val="solid"/>
          </a:ln>
        </p:spPr>
      </p:sp>
      <p:sp>
        <p:nvSpPr>
          <p:cNvPr id="46" name="Shape 44"/>
          <p:cNvSpPr/>
          <p:nvPr/>
        </p:nvSpPr>
        <p:spPr>
          <a:xfrm>
            <a:off x="2327148" y="1106424"/>
            <a:ext cx="32918" cy="32918"/>
          </a:xfrm>
          <a:prstGeom prst="ellipse">
            <a:avLst/>
          </a:prstGeom>
          <a:solidFill>
            <a:srgbClr val="FFFFFF"/>
          </a:solidFill>
          <a:ln w="12700">
            <a:solidFill>
              <a:srgbClr val="FFFFFF">
                <a:alpha val="0"/>
              </a:srgbClr>
            </a:solidFill>
            <a:prstDash val="solid"/>
          </a:ln>
        </p:spPr>
      </p:sp>
      <p:sp>
        <p:nvSpPr>
          <p:cNvPr id="47" name="Shape 45"/>
          <p:cNvSpPr/>
          <p:nvPr/>
        </p:nvSpPr>
        <p:spPr>
          <a:xfrm>
            <a:off x="2386584" y="1106424"/>
            <a:ext cx="32918" cy="32918"/>
          </a:xfrm>
          <a:prstGeom prst="ellipse">
            <a:avLst/>
          </a:prstGeom>
          <a:solidFill>
            <a:srgbClr val="FFFFFF"/>
          </a:solidFill>
          <a:ln w="12700">
            <a:solidFill>
              <a:srgbClr val="FFFFFF">
                <a:alpha val="0"/>
              </a:srgbClr>
            </a:solidFill>
            <a:prstDash val="solid"/>
          </a:ln>
        </p:spPr>
      </p:sp>
      <p:sp>
        <p:nvSpPr>
          <p:cNvPr id="48" name="Shape 46"/>
          <p:cNvSpPr/>
          <p:nvPr/>
        </p:nvSpPr>
        <p:spPr>
          <a:xfrm>
            <a:off x="2446020" y="1106424"/>
            <a:ext cx="32918" cy="32918"/>
          </a:xfrm>
          <a:prstGeom prst="ellipse">
            <a:avLst/>
          </a:prstGeom>
          <a:solidFill>
            <a:srgbClr val="FFFFFF"/>
          </a:solidFill>
          <a:ln w="12700">
            <a:solidFill>
              <a:srgbClr val="FFFFFF">
                <a:alpha val="0"/>
              </a:srgbClr>
            </a:solidFill>
            <a:prstDash val="solid"/>
          </a:ln>
        </p:spPr>
      </p:sp>
      <p:sp>
        <p:nvSpPr>
          <p:cNvPr id="49" name="Shape 47"/>
          <p:cNvSpPr/>
          <p:nvPr/>
        </p:nvSpPr>
        <p:spPr>
          <a:xfrm>
            <a:off x="2683764" y="749808"/>
            <a:ext cx="32918" cy="32918"/>
          </a:xfrm>
          <a:prstGeom prst="ellipse">
            <a:avLst/>
          </a:prstGeom>
          <a:solidFill>
            <a:srgbClr val="FFFFFF"/>
          </a:solidFill>
          <a:ln w="12700">
            <a:solidFill>
              <a:srgbClr val="FFFFFF">
                <a:alpha val="0"/>
              </a:srgbClr>
            </a:solidFill>
            <a:prstDash val="solid"/>
          </a:ln>
        </p:spPr>
      </p:sp>
      <p:sp>
        <p:nvSpPr>
          <p:cNvPr id="50" name="Shape 48"/>
          <p:cNvSpPr/>
          <p:nvPr/>
        </p:nvSpPr>
        <p:spPr>
          <a:xfrm>
            <a:off x="2743200" y="749808"/>
            <a:ext cx="32918" cy="32918"/>
          </a:xfrm>
          <a:prstGeom prst="ellipse">
            <a:avLst/>
          </a:prstGeom>
          <a:solidFill>
            <a:srgbClr val="FFFFFF"/>
          </a:solidFill>
          <a:ln w="12700">
            <a:solidFill>
              <a:srgbClr val="FFFFFF">
                <a:alpha val="0"/>
              </a:srgbClr>
            </a:solidFill>
            <a:prstDash val="solid"/>
          </a:ln>
        </p:spPr>
      </p:sp>
      <p:sp>
        <p:nvSpPr>
          <p:cNvPr id="51" name="Shape 49"/>
          <p:cNvSpPr/>
          <p:nvPr/>
        </p:nvSpPr>
        <p:spPr>
          <a:xfrm>
            <a:off x="2802636" y="749808"/>
            <a:ext cx="32918" cy="32918"/>
          </a:xfrm>
          <a:prstGeom prst="ellipse">
            <a:avLst/>
          </a:prstGeom>
          <a:solidFill>
            <a:srgbClr val="FFFFFF"/>
          </a:solidFill>
          <a:ln w="12700">
            <a:solidFill>
              <a:srgbClr val="FFFFFF">
                <a:alpha val="0"/>
              </a:srgbClr>
            </a:solidFill>
            <a:prstDash val="solid"/>
          </a:ln>
        </p:spPr>
      </p:sp>
      <p:sp>
        <p:nvSpPr>
          <p:cNvPr id="52" name="Shape 50"/>
          <p:cNvSpPr/>
          <p:nvPr/>
        </p:nvSpPr>
        <p:spPr>
          <a:xfrm>
            <a:off x="2862072" y="749808"/>
            <a:ext cx="32918" cy="32918"/>
          </a:xfrm>
          <a:prstGeom prst="ellipse">
            <a:avLst/>
          </a:prstGeom>
          <a:solidFill>
            <a:srgbClr val="FFFFFF"/>
          </a:solidFill>
          <a:ln w="12700">
            <a:solidFill>
              <a:srgbClr val="FFFFFF">
                <a:alpha val="0"/>
              </a:srgbClr>
            </a:solidFill>
            <a:prstDash val="solid"/>
          </a:ln>
        </p:spPr>
      </p:sp>
      <p:sp>
        <p:nvSpPr>
          <p:cNvPr id="53" name="Shape 51"/>
          <p:cNvSpPr/>
          <p:nvPr/>
        </p:nvSpPr>
        <p:spPr>
          <a:xfrm>
            <a:off x="2624328" y="809244"/>
            <a:ext cx="32918" cy="32918"/>
          </a:xfrm>
          <a:prstGeom prst="ellipse">
            <a:avLst/>
          </a:prstGeom>
          <a:solidFill>
            <a:srgbClr val="FFFFFF"/>
          </a:solidFill>
          <a:ln w="12700">
            <a:solidFill>
              <a:srgbClr val="FFFFFF">
                <a:alpha val="0"/>
              </a:srgbClr>
            </a:solidFill>
            <a:prstDash val="solid"/>
          </a:ln>
        </p:spPr>
      </p:sp>
      <p:sp>
        <p:nvSpPr>
          <p:cNvPr id="54" name="Shape 52"/>
          <p:cNvSpPr/>
          <p:nvPr/>
        </p:nvSpPr>
        <p:spPr>
          <a:xfrm>
            <a:off x="2624328" y="868680"/>
            <a:ext cx="32918" cy="32918"/>
          </a:xfrm>
          <a:prstGeom prst="ellipse">
            <a:avLst/>
          </a:prstGeom>
          <a:solidFill>
            <a:srgbClr val="FFFFFF"/>
          </a:solidFill>
          <a:ln w="12700">
            <a:solidFill>
              <a:srgbClr val="FFFFFF">
                <a:alpha val="0"/>
              </a:srgbClr>
            </a:solidFill>
            <a:prstDash val="solid"/>
          </a:ln>
        </p:spPr>
      </p:sp>
      <p:sp>
        <p:nvSpPr>
          <p:cNvPr id="55" name="Shape 53"/>
          <p:cNvSpPr/>
          <p:nvPr/>
        </p:nvSpPr>
        <p:spPr>
          <a:xfrm>
            <a:off x="2624328" y="928116"/>
            <a:ext cx="32918" cy="32918"/>
          </a:xfrm>
          <a:prstGeom prst="ellipse">
            <a:avLst/>
          </a:prstGeom>
          <a:solidFill>
            <a:srgbClr val="FFFFFF"/>
          </a:solidFill>
          <a:ln w="12700">
            <a:solidFill>
              <a:srgbClr val="FFFFFF">
                <a:alpha val="0"/>
              </a:srgbClr>
            </a:solidFill>
            <a:prstDash val="solid"/>
          </a:ln>
        </p:spPr>
      </p:sp>
      <p:sp>
        <p:nvSpPr>
          <p:cNvPr id="56" name="Shape 54"/>
          <p:cNvSpPr/>
          <p:nvPr/>
        </p:nvSpPr>
        <p:spPr>
          <a:xfrm>
            <a:off x="2624328" y="987552"/>
            <a:ext cx="32918" cy="32918"/>
          </a:xfrm>
          <a:prstGeom prst="ellipse">
            <a:avLst/>
          </a:prstGeom>
          <a:solidFill>
            <a:srgbClr val="FFFFFF"/>
          </a:solidFill>
          <a:ln w="12700">
            <a:solidFill>
              <a:srgbClr val="FFFFFF">
                <a:alpha val="0"/>
              </a:srgbClr>
            </a:solidFill>
            <a:prstDash val="solid"/>
          </a:ln>
        </p:spPr>
      </p:sp>
      <p:sp>
        <p:nvSpPr>
          <p:cNvPr id="57" name="Shape 55"/>
          <p:cNvSpPr/>
          <p:nvPr/>
        </p:nvSpPr>
        <p:spPr>
          <a:xfrm>
            <a:off x="2624328" y="1046988"/>
            <a:ext cx="32918" cy="32918"/>
          </a:xfrm>
          <a:prstGeom prst="ellipse">
            <a:avLst/>
          </a:prstGeom>
          <a:solidFill>
            <a:srgbClr val="FFFFFF"/>
          </a:solidFill>
          <a:ln w="12700">
            <a:solidFill>
              <a:srgbClr val="FFFFFF">
                <a:alpha val="0"/>
              </a:srgbClr>
            </a:solidFill>
            <a:prstDash val="solid"/>
          </a:ln>
        </p:spPr>
      </p:sp>
      <p:sp>
        <p:nvSpPr>
          <p:cNvPr id="58" name="Shape 56"/>
          <p:cNvSpPr/>
          <p:nvPr/>
        </p:nvSpPr>
        <p:spPr>
          <a:xfrm>
            <a:off x="2683764" y="1106424"/>
            <a:ext cx="32918" cy="32918"/>
          </a:xfrm>
          <a:prstGeom prst="ellipse">
            <a:avLst/>
          </a:prstGeom>
          <a:solidFill>
            <a:srgbClr val="FFFFFF"/>
          </a:solidFill>
          <a:ln w="12700">
            <a:solidFill>
              <a:srgbClr val="FFFFFF">
                <a:alpha val="0"/>
              </a:srgbClr>
            </a:solidFill>
            <a:prstDash val="solid"/>
          </a:ln>
        </p:spPr>
      </p:sp>
      <p:sp>
        <p:nvSpPr>
          <p:cNvPr id="59" name="Shape 57"/>
          <p:cNvSpPr/>
          <p:nvPr/>
        </p:nvSpPr>
        <p:spPr>
          <a:xfrm>
            <a:off x="2743200" y="1106424"/>
            <a:ext cx="32918" cy="32918"/>
          </a:xfrm>
          <a:prstGeom prst="ellipse">
            <a:avLst/>
          </a:prstGeom>
          <a:solidFill>
            <a:srgbClr val="FFFFFF"/>
          </a:solidFill>
          <a:ln w="12700">
            <a:solidFill>
              <a:srgbClr val="FFFFFF">
                <a:alpha val="0"/>
              </a:srgbClr>
            </a:solidFill>
            <a:prstDash val="solid"/>
          </a:ln>
        </p:spPr>
      </p:sp>
      <p:sp>
        <p:nvSpPr>
          <p:cNvPr id="60" name="Shape 58"/>
          <p:cNvSpPr/>
          <p:nvPr/>
        </p:nvSpPr>
        <p:spPr>
          <a:xfrm>
            <a:off x="2802636" y="1106424"/>
            <a:ext cx="32918" cy="32918"/>
          </a:xfrm>
          <a:prstGeom prst="ellipse">
            <a:avLst/>
          </a:prstGeom>
          <a:solidFill>
            <a:srgbClr val="FFFFFF"/>
          </a:solidFill>
          <a:ln w="12700">
            <a:solidFill>
              <a:srgbClr val="FFFFFF">
                <a:alpha val="0"/>
              </a:srgbClr>
            </a:solidFill>
            <a:prstDash val="solid"/>
          </a:ln>
        </p:spPr>
      </p:sp>
      <p:sp>
        <p:nvSpPr>
          <p:cNvPr id="61" name="Shape 59"/>
          <p:cNvSpPr/>
          <p:nvPr/>
        </p:nvSpPr>
        <p:spPr>
          <a:xfrm>
            <a:off x="2862072" y="1106424"/>
            <a:ext cx="32918" cy="32918"/>
          </a:xfrm>
          <a:prstGeom prst="ellipse">
            <a:avLst/>
          </a:prstGeom>
          <a:solidFill>
            <a:srgbClr val="FFFFFF"/>
          </a:solidFill>
          <a:ln w="12700">
            <a:solidFill>
              <a:srgbClr val="FFFFFF">
                <a:alpha val="0"/>
              </a:srgbClr>
            </a:solidFill>
            <a:prstDash val="solid"/>
          </a:ln>
        </p:spPr>
      </p:sp>
      <p:sp>
        <p:nvSpPr>
          <p:cNvPr id="62" name="Shape 60"/>
          <p:cNvSpPr/>
          <p:nvPr/>
        </p:nvSpPr>
        <p:spPr>
          <a:xfrm>
            <a:off x="2980944" y="749808"/>
            <a:ext cx="32918" cy="32918"/>
          </a:xfrm>
          <a:prstGeom prst="ellipse">
            <a:avLst/>
          </a:prstGeom>
          <a:solidFill>
            <a:srgbClr val="FFFFFF"/>
          </a:solidFill>
          <a:ln w="12700">
            <a:solidFill>
              <a:srgbClr val="FFFFFF">
                <a:alpha val="0"/>
              </a:srgbClr>
            </a:solidFill>
            <a:prstDash val="solid"/>
          </a:ln>
        </p:spPr>
      </p:sp>
      <p:sp>
        <p:nvSpPr>
          <p:cNvPr id="63" name="Shape 61"/>
          <p:cNvSpPr/>
          <p:nvPr/>
        </p:nvSpPr>
        <p:spPr>
          <a:xfrm>
            <a:off x="3218688" y="749808"/>
            <a:ext cx="32918" cy="32918"/>
          </a:xfrm>
          <a:prstGeom prst="ellipse">
            <a:avLst/>
          </a:prstGeom>
          <a:solidFill>
            <a:srgbClr val="FFFFFF"/>
          </a:solidFill>
          <a:ln w="12700">
            <a:solidFill>
              <a:srgbClr val="FFFFFF">
                <a:alpha val="0"/>
              </a:srgbClr>
            </a:solidFill>
            <a:prstDash val="solid"/>
          </a:ln>
        </p:spPr>
      </p:sp>
      <p:sp>
        <p:nvSpPr>
          <p:cNvPr id="64" name="Shape 62"/>
          <p:cNvSpPr/>
          <p:nvPr/>
        </p:nvSpPr>
        <p:spPr>
          <a:xfrm>
            <a:off x="2980944" y="809244"/>
            <a:ext cx="32918" cy="32918"/>
          </a:xfrm>
          <a:prstGeom prst="ellipse">
            <a:avLst/>
          </a:prstGeom>
          <a:solidFill>
            <a:srgbClr val="FFFFFF"/>
          </a:solidFill>
          <a:ln w="12700">
            <a:solidFill>
              <a:srgbClr val="FFFFFF">
                <a:alpha val="0"/>
              </a:srgbClr>
            </a:solidFill>
            <a:prstDash val="solid"/>
          </a:ln>
        </p:spPr>
      </p:sp>
      <p:sp>
        <p:nvSpPr>
          <p:cNvPr id="65" name="Shape 63"/>
          <p:cNvSpPr/>
          <p:nvPr/>
        </p:nvSpPr>
        <p:spPr>
          <a:xfrm>
            <a:off x="3159252" y="809244"/>
            <a:ext cx="32918" cy="32918"/>
          </a:xfrm>
          <a:prstGeom prst="ellipse">
            <a:avLst/>
          </a:prstGeom>
          <a:solidFill>
            <a:srgbClr val="FFFFFF"/>
          </a:solidFill>
          <a:ln w="12700">
            <a:solidFill>
              <a:srgbClr val="FFFFFF">
                <a:alpha val="0"/>
              </a:srgbClr>
            </a:solidFill>
            <a:prstDash val="solid"/>
          </a:ln>
        </p:spPr>
      </p:sp>
      <p:sp>
        <p:nvSpPr>
          <p:cNvPr id="66" name="Shape 64"/>
          <p:cNvSpPr/>
          <p:nvPr/>
        </p:nvSpPr>
        <p:spPr>
          <a:xfrm>
            <a:off x="2980944" y="868680"/>
            <a:ext cx="32918" cy="32918"/>
          </a:xfrm>
          <a:prstGeom prst="ellipse">
            <a:avLst/>
          </a:prstGeom>
          <a:solidFill>
            <a:srgbClr val="FFFFFF"/>
          </a:solidFill>
          <a:ln w="12700">
            <a:solidFill>
              <a:srgbClr val="FFFFFF">
                <a:alpha val="0"/>
              </a:srgbClr>
            </a:solidFill>
            <a:prstDash val="solid"/>
          </a:ln>
        </p:spPr>
      </p:sp>
      <p:sp>
        <p:nvSpPr>
          <p:cNvPr id="67" name="Shape 65"/>
          <p:cNvSpPr/>
          <p:nvPr/>
        </p:nvSpPr>
        <p:spPr>
          <a:xfrm>
            <a:off x="3099816" y="868680"/>
            <a:ext cx="32918" cy="32918"/>
          </a:xfrm>
          <a:prstGeom prst="ellipse">
            <a:avLst/>
          </a:prstGeom>
          <a:solidFill>
            <a:srgbClr val="FFFFFF"/>
          </a:solidFill>
          <a:ln w="12700">
            <a:solidFill>
              <a:srgbClr val="FFFFFF">
                <a:alpha val="0"/>
              </a:srgbClr>
            </a:solidFill>
            <a:prstDash val="solid"/>
          </a:ln>
        </p:spPr>
      </p:sp>
      <p:sp>
        <p:nvSpPr>
          <p:cNvPr id="68" name="Shape 66"/>
          <p:cNvSpPr/>
          <p:nvPr/>
        </p:nvSpPr>
        <p:spPr>
          <a:xfrm>
            <a:off x="2980944" y="928116"/>
            <a:ext cx="32918" cy="32918"/>
          </a:xfrm>
          <a:prstGeom prst="ellipse">
            <a:avLst/>
          </a:prstGeom>
          <a:solidFill>
            <a:srgbClr val="FFFFFF"/>
          </a:solidFill>
          <a:ln w="12700">
            <a:solidFill>
              <a:srgbClr val="FFFFFF">
                <a:alpha val="0"/>
              </a:srgbClr>
            </a:solidFill>
            <a:prstDash val="solid"/>
          </a:ln>
        </p:spPr>
      </p:sp>
      <p:sp>
        <p:nvSpPr>
          <p:cNvPr id="69" name="Shape 67"/>
          <p:cNvSpPr/>
          <p:nvPr/>
        </p:nvSpPr>
        <p:spPr>
          <a:xfrm>
            <a:off x="3040380" y="928116"/>
            <a:ext cx="32918" cy="32918"/>
          </a:xfrm>
          <a:prstGeom prst="ellipse">
            <a:avLst/>
          </a:prstGeom>
          <a:solidFill>
            <a:srgbClr val="FFFFFF"/>
          </a:solidFill>
          <a:ln w="12700">
            <a:solidFill>
              <a:srgbClr val="FFFFFF">
                <a:alpha val="0"/>
              </a:srgbClr>
            </a:solidFill>
            <a:prstDash val="solid"/>
          </a:ln>
        </p:spPr>
      </p:sp>
      <p:sp>
        <p:nvSpPr>
          <p:cNvPr id="70" name="Shape 68"/>
          <p:cNvSpPr/>
          <p:nvPr/>
        </p:nvSpPr>
        <p:spPr>
          <a:xfrm>
            <a:off x="2980944" y="987552"/>
            <a:ext cx="32918" cy="32918"/>
          </a:xfrm>
          <a:prstGeom prst="ellipse">
            <a:avLst/>
          </a:prstGeom>
          <a:solidFill>
            <a:srgbClr val="FFFFFF"/>
          </a:solidFill>
          <a:ln w="12700">
            <a:solidFill>
              <a:srgbClr val="FFFFFF">
                <a:alpha val="0"/>
              </a:srgbClr>
            </a:solidFill>
            <a:prstDash val="solid"/>
          </a:ln>
        </p:spPr>
      </p:sp>
      <p:sp>
        <p:nvSpPr>
          <p:cNvPr id="71" name="Shape 69"/>
          <p:cNvSpPr/>
          <p:nvPr/>
        </p:nvSpPr>
        <p:spPr>
          <a:xfrm>
            <a:off x="3099816" y="987552"/>
            <a:ext cx="32918" cy="32918"/>
          </a:xfrm>
          <a:prstGeom prst="ellipse">
            <a:avLst/>
          </a:prstGeom>
          <a:solidFill>
            <a:srgbClr val="FFFFFF"/>
          </a:solidFill>
          <a:ln w="12700">
            <a:solidFill>
              <a:srgbClr val="FFFFFF">
                <a:alpha val="0"/>
              </a:srgbClr>
            </a:solidFill>
            <a:prstDash val="solid"/>
          </a:ln>
        </p:spPr>
      </p:sp>
      <p:sp>
        <p:nvSpPr>
          <p:cNvPr id="72" name="Shape 70"/>
          <p:cNvSpPr/>
          <p:nvPr/>
        </p:nvSpPr>
        <p:spPr>
          <a:xfrm>
            <a:off x="2980944" y="1046988"/>
            <a:ext cx="32918" cy="32918"/>
          </a:xfrm>
          <a:prstGeom prst="ellipse">
            <a:avLst/>
          </a:prstGeom>
          <a:solidFill>
            <a:srgbClr val="FFFFFF"/>
          </a:solidFill>
          <a:ln w="12700">
            <a:solidFill>
              <a:srgbClr val="FFFFFF">
                <a:alpha val="0"/>
              </a:srgbClr>
            </a:solidFill>
            <a:prstDash val="solid"/>
          </a:ln>
        </p:spPr>
      </p:sp>
      <p:sp>
        <p:nvSpPr>
          <p:cNvPr id="73" name="Shape 71"/>
          <p:cNvSpPr/>
          <p:nvPr/>
        </p:nvSpPr>
        <p:spPr>
          <a:xfrm>
            <a:off x="3159252" y="1046988"/>
            <a:ext cx="32918" cy="32918"/>
          </a:xfrm>
          <a:prstGeom prst="ellipse">
            <a:avLst/>
          </a:prstGeom>
          <a:solidFill>
            <a:srgbClr val="FFFFFF"/>
          </a:solidFill>
          <a:ln w="12700">
            <a:solidFill>
              <a:srgbClr val="FFFFFF">
                <a:alpha val="0"/>
              </a:srgbClr>
            </a:solidFill>
            <a:prstDash val="solid"/>
          </a:ln>
        </p:spPr>
      </p:sp>
      <p:sp>
        <p:nvSpPr>
          <p:cNvPr id="74" name="Shape 72"/>
          <p:cNvSpPr/>
          <p:nvPr/>
        </p:nvSpPr>
        <p:spPr>
          <a:xfrm>
            <a:off x="2980944" y="1106424"/>
            <a:ext cx="32918" cy="32918"/>
          </a:xfrm>
          <a:prstGeom prst="ellipse">
            <a:avLst/>
          </a:prstGeom>
          <a:solidFill>
            <a:srgbClr val="FFFFFF"/>
          </a:solidFill>
          <a:ln w="12700">
            <a:solidFill>
              <a:srgbClr val="FFFFFF">
                <a:alpha val="0"/>
              </a:srgbClr>
            </a:solidFill>
            <a:prstDash val="solid"/>
          </a:ln>
        </p:spPr>
      </p:sp>
      <p:sp>
        <p:nvSpPr>
          <p:cNvPr id="75" name="Shape 73"/>
          <p:cNvSpPr/>
          <p:nvPr/>
        </p:nvSpPr>
        <p:spPr>
          <a:xfrm>
            <a:off x="3218688" y="1106424"/>
            <a:ext cx="32918" cy="32918"/>
          </a:xfrm>
          <a:prstGeom prst="ellipse">
            <a:avLst/>
          </a:prstGeom>
          <a:solidFill>
            <a:srgbClr val="FFFFFF"/>
          </a:solidFill>
          <a:ln w="12700">
            <a:solidFill>
              <a:srgbClr val="FFFFFF">
                <a:alpha val="0"/>
              </a:srgbClr>
            </a:solidFill>
            <a:prstDash val="solid"/>
          </a:ln>
        </p:spPr>
      </p:sp>
      <p:sp>
        <p:nvSpPr>
          <p:cNvPr id="76" name="Shape 74"/>
          <p:cNvSpPr/>
          <p:nvPr/>
        </p:nvSpPr>
        <p:spPr>
          <a:xfrm>
            <a:off x="3337560" y="749808"/>
            <a:ext cx="32918" cy="32918"/>
          </a:xfrm>
          <a:prstGeom prst="ellipse">
            <a:avLst/>
          </a:prstGeom>
          <a:solidFill>
            <a:srgbClr val="FFFFFF"/>
          </a:solidFill>
          <a:ln w="12700">
            <a:solidFill>
              <a:srgbClr val="FFFFFF">
                <a:alpha val="0"/>
              </a:srgbClr>
            </a:solidFill>
            <a:prstDash val="solid"/>
          </a:ln>
        </p:spPr>
      </p:sp>
      <p:sp>
        <p:nvSpPr>
          <p:cNvPr id="77" name="Shape 75"/>
          <p:cNvSpPr/>
          <p:nvPr/>
        </p:nvSpPr>
        <p:spPr>
          <a:xfrm>
            <a:off x="3396996" y="749808"/>
            <a:ext cx="32918" cy="32918"/>
          </a:xfrm>
          <a:prstGeom prst="ellipse">
            <a:avLst/>
          </a:prstGeom>
          <a:solidFill>
            <a:srgbClr val="FFFFFF"/>
          </a:solidFill>
          <a:ln w="12700">
            <a:solidFill>
              <a:srgbClr val="FFFFFF">
                <a:alpha val="0"/>
              </a:srgbClr>
            </a:solidFill>
            <a:prstDash val="solid"/>
          </a:ln>
        </p:spPr>
      </p:sp>
      <p:sp>
        <p:nvSpPr>
          <p:cNvPr id="78" name="Shape 76"/>
          <p:cNvSpPr/>
          <p:nvPr/>
        </p:nvSpPr>
        <p:spPr>
          <a:xfrm>
            <a:off x="3456432" y="749808"/>
            <a:ext cx="32918" cy="32918"/>
          </a:xfrm>
          <a:prstGeom prst="ellipse">
            <a:avLst/>
          </a:prstGeom>
          <a:solidFill>
            <a:srgbClr val="FFFFFF"/>
          </a:solidFill>
          <a:ln w="12700">
            <a:solidFill>
              <a:srgbClr val="FFFFFF">
                <a:alpha val="0"/>
              </a:srgbClr>
            </a:solidFill>
            <a:prstDash val="solid"/>
          </a:ln>
        </p:spPr>
      </p:sp>
      <p:sp>
        <p:nvSpPr>
          <p:cNvPr id="79" name="Shape 77"/>
          <p:cNvSpPr/>
          <p:nvPr/>
        </p:nvSpPr>
        <p:spPr>
          <a:xfrm>
            <a:off x="3515868" y="749808"/>
            <a:ext cx="32918" cy="32918"/>
          </a:xfrm>
          <a:prstGeom prst="ellipse">
            <a:avLst/>
          </a:prstGeom>
          <a:solidFill>
            <a:srgbClr val="FFFFFF"/>
          </a:solidFill>
          <a:ln w="12700">
            <a:solidFill>
              <a:srgbClr val="FFFFFF">
                <a:alpha val="0"/>
              </a:srgbClr>
            </a:solidFill>
            <a:prstDash val="solid"/>
          </a:ln>
        </p:spPr>
      </p:sp>
      <p:sp>
        <p:nvSpPr>
          <p:cNvPr id="80" name="Shape 78"/>
          <p:cNvSpPr/>
          <p:nvPr/>
        </p:nvSpPr>
        <p:spPr>
          <a:xfrm>
            <a:off x="3337560" y="809244"/>
            <a:ext cx="32918" cy="32918"/>
          </a:xfrm>
          <a:prstGeom prst="ellipse">
            <a:avLst/>
          </a:prstGeom>
          <a:solidFill>
            <a:srgbClr val="FFFFFF"/>
          </a:solidFill>
          <a:ln w="12700">
            <a:solidFill>
              <a:srgbClr val="FFFFFF">
                <a:alpha val="0"/>
              </a:srgbClr>
            </a:solidFill>
            <a:prstDash val="solid"/>
          </a:ln>
        </p:spPr>
      </p:sp>
      <p:sp>
        <p:nvSpPr>
          <p:cNvPr id="81" name="Shape 79"/>
          <p:cNvSpPr/>
          <p:nvPr/>
        </p:nvSpPr>
        <p:spPr>
          <a:xfrm>
            <a:off x="3575304" y="809244"/>
            <a:ext cx="32918" cy="32918"/>
          </a:xfrm>
          <a:prstGeom prst="ellipse">
            <a:avLst/>
          </a:prstGeom>
          <a:solidFill>
            <a:srgbClr val="FFFFFF"/>
          </a:solidFill>
          <a:ln w="12700">
            <a:solidFill>
              <a:srgbClr val="FFFFFF">
                <a:alpha val="0"/>
              </a:srgbClr>
            </a:solidFill>
            <a:prstDash val="solid"/>
          </a:ln>
        </p:spPr>
      </p:sp>
      <p:sp>
        <p:nvSpPr>
          <p:cNvPr id="82" name="Shape 80"/>
          <p:cNvSpPr/>
          <p:nvPr/>
        </p:nvSpPr>
        <p:spPr>
          <a:xfrm>
            <a:off x="3337560" y="868680"/>
            <a:ext cx="32918" cy="32918"/>
          </a:xfrm>
          <a:prstGeom prst="ellipse">
            <a:avLst/>
          </a:prstGeom>
          <a:solidFill>
            <a:srgbClr val="FFFFFF"/>
          </a:solidFill>
          <a:ln w="12700">
            <a:solidFill>
              <a:srgbClr val="FFFFFF">
                <a:alpha val="0"/>
              </a:srgbClr>
            </a:solidFill>
            <a:prstDash val="solid"/>
          </a:ln>
        </p:spPr>
      </p:sp>
      <p:sp>
        <p:nvSpPr>
          <p:cNvPr id="83" name="Shape 81"/>
          <p:cNvSpPr/>
          <p:nvPr/>
        </p:nvSpPr>
        <p:spPr>
          <a:xfrm>
            <a:off x="3575304" y="868680"/>
            <a:ext cx="32918" cy="32918"/>
          </a:xfrm>
          <a:prstGeom prst="ellipse">
            <a:avLst/>
          </a:prstGeom>
          <a:solidFill>
            <a:srgbClr val="FFFFFF"/>
          </a:solidFill>
          <a:ln w="12700">
            <a:solidFill>
              <a:srgbClr val="FFFFFF">
                <a:alpha val="0"/>
              </a:srgbClr>
            </a:solidFill>
            <a:prstDash val="solid"/>
          </a:ln>
        </p:spPr>
      </p:sp>
      <p:sp>
        <p:nvSpPr>
          <p:cNvPr id="84" name="Shape 82"/>
          <p:cNvSpPr/>
          <p:nvPr/>
        </p:nvSpPr>
        <p:spPr>
          <a:xfrm>
            <a:off x="3337560" y="928116"/>
            <a:ext cx="32918" cy="32918"/>
          </a:xfrm>
          <a:prstGeom prst="ellipse">
            <a:avLst/>
          </a:prstGeom>
          <a:solidFill>
            <a:srgbClr val="FFFFFF"/>
          </a:solidFill>
          <a:ln w="12700">
            <a:solidFill>
              <a:srgbClr val="FFFFFF">
                <a:alpha val="0"/>
              </a:srgbClr>
            </a:solidFill>
            <a:prstDash val="solid"/>
          </a:ln>
        </p:spPr>
      </p:sp>
      <p:sp>
        <p:nvSpPr>
          <p:cNvPr id="85" name="Shape 83"/>
          <p:cNvSpPr/>
          <p:nvPr/>
        </p:nvSpPr>
        <p:spPr>
          <a:xfrm>
            <a:off x="3396996" y="928116"/>
            <a:ext cx="32918" cy="32918"/>
          </a:xfrm>
          <a:prstGeom prst="ellipse">
            <a:avLst/>
          </a:prstGeom>
          <a:solidFill>
            <a:srgbClr val="FFFFFF"/>
          </a:solidFill>
          <a:ln w="12700">
            <a:solidFill>
              <a:srgbClr val="FFFFFF">
                <a:alpha val="0"/>
              </a:srgbClr>
            </a:solidFill>
            <a:prstDash val="solid"/>
          </a:ln>
        </p:spPr>
      </p:sp>
      <p:sp>
        <p:nvSpPr>
          <p:cNvPr id="86" name="Shape 84"/>
          <p:cNvSpPr/>
          <p:nvPr/>
        </p:nvSpPr>
        <p:spPr>
          <a:xfrm>
            <a:off x="3456432" y="928116"/>
            <a:ext cx="32918" cy="32918"/>
          </a:xfrm>
          <a:prstGeom prst="ellipse">
            <a:avLst/>
          </a:prstGeom>
          <a:solidFill>
            <a:srgbClr val="FFFFFF"/>
          </a:solidFill>
          <a:ln w="12700">
            <a:solidFill>
              <a:srgbClr val="FFFFFF">
                <a:alpha val="0"/>
              </a:srgbClr>
            </a:solidFill>
            <a:prstDash val="solid"/>
          </a:ln>
        </p:spPr>
      </p:sp>
      <p:sp>
        <p:nvSpPr>
          <p:cNvPr id="87" name="Shape 85"/>
          <p:cNvSpPr/>
          <p:nvPr/>
        </p:nvSpPr>
        <p:spPr>
          <a:xfrm>
            <a:off x="3515868" y="928116"/>
            <a:ext cx="32918" cy="32918"/>
          </a:xfrm>
          <a:prstGeom prst="ellipse">
            <a:avLst/>
          </a:prstGeom>
          <a:solidFill>
            <a:srgbClr val="FFFFFF"/>
          </a:solidFill>
          <a:ln w="12700">
            <a:solidFill>
              <a:srgbClr val="FFFFFF">
                <a:alpha val="0"/>
              </a:srgbClr>
            </a:solidFill>
            <a:prstDash val="solid"/>
          </a:ln>
        </p:spPr>
      </p:sp>
      <p:sp>
        <p:nvSpPr>
          <p:cNvPr id="88" name="Shape 86"/>
          <p:cNvSpPr/>
          <p:nvPr/>
        </p:nvSpPr>
        <p:spPr>
          <a:xfrm>
            <a:off x="3337560" y="987552"/>
            <a:ext cx="32918" cy="32918"/>
          </a:xfrm>
          <a:prstGeom prst="ellipse">
            <a:avLst/>
          </a:prstGeom>
          <a:solidFill>
            <a:srgbClr val="FFFFFF"/>
          </a:solidFill>
          <a:ln w="12700">
            <a:solidFill>
              <a:srgbClr val="FFFFFF">
                <a:alpha val="0"/>
              </a:srgbClr>
            </a:solidFill>
            <a:prstDash val="solid"/>
          </a:ln>
        </p:spPr>
      </p:sp>
      <p:sp>
        <p:nvSpPr>
          <p:cNvPr id="89" name="Shape 87"/>
          <p:cNvSpPr/>
          <p:nvPr/>
        </p:nvSpPr>
        <p:spPr>
          <a:xfrm>
            <a:off x="3337560" y="1046988"/>
            <a:ext cx="32918" cy="32918"/>
          </a:xfrm>
          <a:prstGeom prst="ellipse">
            <a:avLst/>
          </a:prstGeom>
          <a:solidFill>
            <a:srgbClr val="FFFFFF"/>
          </a:solidFill>
          <a:ln w="12700">
            <a:solidFill>
              <a:srgbClr val="FFFFFF">
                <a:alpha val="0"/>
              </a:srgbClr>
            </a:solidFill>
            <a:prstDash val="solid"/>
          </a:ln>
        </p:spPr>
      </p:sp>
      <p:sp>
        <p:nvSpPr>
          <p:cNvPr id="90" name="Shape 88"/>
          <p:cNvSpPr/>
          <p:nvPr/>
        </p:nvSpPr>
        <p:spPr>
          <a:xfrm>
            <a:off x="3337560" y="1106424"/>
            <a:ext cx="32918" cy="32918"/>
          </a:xfrm>
          <a:prstGeom prst="ellipse">
            <a:avLst/>
          </a:prstGeom>
          <a:solidFill>
            <a:srgbClr val="FFFFFF"/>
          </a:solidFill>
          <a:ln w="12700">
            <a:solidFill>
              <a:srgbClr val="FFFFFF">
                <a:alpha val="0"/>
              </a:srgbClr>
            </a:solidFill>
            <a:prstDash val="solid"/>
          </a:ln>
        </p:spPr>
      </p:sp>
      <p:sp>
        <p:nvSpPr>
          <p:cNvPr id="91" name="Shape 89"/>
          <p:cNvSpPr/>
          <p:nvPr/>
        </p:nvSpPr>
        <p:spPr>
          <a:xfrm>
            <a:off x="3694176" y="749808"/>
            <a:ext cx="32918" cy="32918"/>
          </a:xfrm>
          <a:prstGeom prst="ellipse">
            <a:avLst/>
          </a:prstGeom>
          <a:solidFill>
            <a:srgbClr val="FFFFFF"/>
          </a:solidFill>
          <a:ln w="12700">
            <a:solidFill>
              <a:srgbClr val="FFFFFF">
                <a:alpha val="0"/>
              </a:srgbClr>
            </a:solidFill>
            <a:prstDash val="solid"/>
          </a:ln>
        </p:spPr>
      </p:sp>
      <p:sp>
        <p:nvSpPr>
          <p:cNvPr id="92" name="Shape 90"/>
          <p:cNvSpPr/>
          <p:nvPr/>
        </p:nvSpPr>
        <p:spPr>
          <a:xfrm>
            <a:off x="3753612" y="749808"/>
            <a:ext cx="32918" cy="32918"/>
          </a:xfrm>
          <a:prstGeom prst="ellipse">
            <a:avLst/>
          </a:prstGeom>
          <a:solidFill>
            <a:srgbClr val="FFFFFF"/>
          </a:solidFill>
          <a:ln w="12700">
            <a:solidFill>
              <a:srgbClr val="FFFFFF">
                <a:alpha val="0"/>
              </a:srgbClr>
            </a:solidFill>
            <a:prstDash val="solid"/>
          </a:ln>
        </p:spPr>
      </p:sp>
      <p:sp>
        <p:nvSpPr>
          <p:cNvPr id="93" name="Shape 91"/>
          <p:cNvSpPr/>
          <p:nvPr/>
        </p:nvSpPr>
        <p:spPr>
          <a:xfrm>
            <a:off x="3813048" y="749808"/>
            <a:ext cx="32918" cy="32918"/>
          </a:xfrm>
          <a:prstGeom prst="ellipse">
            <a:avLst/>
          </a:prstGeom>
          <a:solidFill>
            <a:srgbClr val="FFFFFF"/>
          </a:solidFill>
          <a:ln w="12700">
            <a:solidFill>
              <a:srgbClr val="FFFFFF">
                <a:alpha val="0"/>
              </a:srgbClr>
            </a:solidFill>
            <a:prstDash val="solid"/>
          </a:ln>
        </p:spPr>
      </p:sp>
      <p:sp>
        <p:nvSpPr>
          <p:cNvPr id="94" name="Shape 92"/>
          <p:cNvSpPr/>
          <p:nvPr/>
        </p:nvSpPr>
        <p:spPr>
          <a:xfrm>
            <a:off x="3872484" y="749808"/>
            <a:ext cx="32918" cy="32918"/>
          </a:xfrm>
          <a:prstGeom prst="ellipse">
            <a:avLst/>
          </a:prstGeom>
          <a:solidFill>
            <a:srgbClr val="FFFFFF"/>
          </a:solidFill>
          <a:ln w="12700">
            <a:solidFill>
              <a:srgbClr val="FFFFFF">
                <a:alpha val="0"/>
              </a:srgbClr>
            </a:solidFill>
            <a:prstDash val="solid"/>
          </a:ln>
        </p:spPr>
      </p:sp>
      <p:sp>
        <p:nvSpPr>
          <p:cNvPr id="95" name="Shape 93"/>
          <p:cNvSpPr/>
          <p:nvPr/>
        </p:nvSpPr>
        <p:spPr>
          <a:xfrm>
            <a:off x="3931920" y="749808"/>
            <a:ext cx="32918" cy="32918"/>
          </a:xfrm>
          <a:prstGeom prst="ellipse">
            <a:avLst/>
          </a:prstGeom>
          <a:solidFill>
            <a:srgbClr val="FFFFFF"/>
          </a:solidFill>
          <a:ln w="12700">
            <a:solidFill>
              <a:srgbClr val="FFFFFF">
                <a:alpha val="0"/>
              </a:srgbClr>
            </a:solidFill>
            <a:prstDash val="solid"/>
          </a:ln>
        </p:spPr>
      </p:sp>
      <p:sp>
        <p:nvSpPr>
          <p:cNvPr id="96" name="Shape 94"/>
          <p:cNvSpPr/>
          <p:nvPr/>
        </p:nvSpPr>
        <p:spPr>
          <a:xfrm>
            <a:off x="3813048" y="809244"/>
            <a:ext cx="32918" cy="32918"/>
          </a:xfrm>
          <a:prstGeom prst="ellipse">
            <a:avLst/>
          </a:prstGeom>
          <a:solidFill>
            <a:srgbClr val="FFFFFF"/>
          </a:solidFill>
          <a:ln w="12700">
            <a:solidFill>
              <a:srgbClr val="FFFFFF">
                <a:alpha val="0"/>
              </a:srgbClr>
            </a:solidFill>
            <a:prstDash val="solid"/>
          </a:ln>
        </p:spPr>
      </p:sp>
      <p:sp>
        <p:nvSpPr>
          <p:cNvPr id="97" name="Shape 95"/>
          <p:cNvSpPr/>
          <p:nvPr/>
        </p:nvSpPr>
        <p:spPr>
          <a:xfrm>
            <a:off x="3813048" y="868680"/>
            <a:ext cx="32918" cy="32918"/>
          </a:xfrm>
          <a:prstGeom prst="ellipse">
            <a:avLst/>
          </a:prstGeom>
          <a:solidFill>
            <a:srgbClr val="FFFFFF"/>
          </a:solidFill>
          <a:ln w="12700">
            <a:solidFill>
              <a:srgbClr val="FFFFFF">
                <a:alpha val="0"/>
              </a:srgbClr>
            </a:solidFill>
            <a:prstDash val="solid"/>
          </a:ln>
        </p:spPr>
      </p:sp>
      <p:sp>
        <p:nvSpPr>
          <p:cNvPr id="98" name="Shape 96"/>
          <p:cNvSpPr/>
          <p:nvPr/>
        </p:nvSpPr>
        <p:spPr>
          <a:xfrm>
            <a:off x="3813048" y="928116"/>
            <a:ext cx="32918" cy="32918"/>
          </a:xfrm>
          <a:prstGeom prst="ellipse">
            <a:avLst/>
          </a:prstGeom>
          <a:solidFill>
            <a:srgbClr val="FFFFFF"/>
          </a:solidFill>
          <a:ln w="12700">
            <a:solidFill>
              <a:srgbClr val="FFFFFF">
                <a:alpha val="0"/>
              </a:srgbClr>
            </a:solidFill>
            <a:prstDash val="solid"/>
          </a:ln>
        </p:spPr>
      </p:sp>
      <p:sp>
        <p:nvSpPr>
          <p:cNvPr id="99" name="Shape 97"/>
          <p:cNvSpPr/>
          <p:nvPr/>
        </p:nvSpPr>
        <p:spPr>
          <a:xfrm>
            <a:off x="3813048" y="987552"/>
            <a:ext cx="32918" cy="32918"/>
          </a:xfrm>
          <a:prstGeom prst="ellipse">
            <a:avLst/>
          </a:prstGeom>
          <a:solidFill>
            <a:srgbClr val="FFFFFF"/>
          </a:solidFill>
          <a:ln w="12700">
            <a:solidFill>
              <a:srgbClr val="FFFFFF">
                <a:alpha val="0"/>
              </a:srgbClr>
            </a:solidFill>
            <a:prstDash val="solid"/>
          </a:ln>
        </p:spPr>
      </p:sp>
      <p:sp>
        <p:nvSpPr>
          <p:cNvPr id="100" name="Shape 98"/>
          <p:cNvSpPr/>
          <p:nvPr/>
        </p:nvSpPr>
        <p:spPr>
          <a:xfrm>
            <a:off x="3813048" y="1046988"/>
            <a:ext cx="32918" cy="32918"/>
          </a:xfrm>
          <a:prstGeom prst="ellipse">
            <a:avLst/>
          </a:prstGeom>
          <a:solidFill>
            <a:srgbClr val="FFFFFF"/>
          </a:solidFill>
          <a:ln w="12700">
            <a:solidFill>
              <a:srgbClr val="FFFFFF">
                <a:alpha val="0"/>
              </a:srgbClr>
            </a:solidFill>
            <a:prstDash val="solid"/>
          </a:ln>
        </p:spPr>
      </p:sp>
      <p:sp>
        <p:nvSpPr>
          <p:cNvPr id="101" name="Shape 99"/>
          <p:cNvSpPr/>
          <p:nvPr/>
        </p:nvSpPr>
        <p:spPr>
          <a:xfrm>
            <a:off x="3694176" y="1106424"/>
            <a:ext cx="32918" cy="32918"/>
          </a:xfrm>
          <a:prstGeom prst="ellipse">
            <a:avLst/>
          </a:prstGeom>
          <a:solidFill>
            <a:srgbClr val="FFFFFF"/>
          </a:solidFill>
          <a:ln w="12700">
            <a:solidFill>
              <a:srgbClr val="FFFFFF">
                <a:alpha val="0"/>
              </a:srgbClr>
            </a:solidFill>
            <a:prstDash val="solid"/>
          </a:ln>
        </p:spPr>
      </p:sp>
      <p:sp>
        <p:nvSpPr>
          <p:cNvPr id="102" name="Shape 100"/>
          <p:cNvSpPr/>
          <p:nvPr/>
        </p:nvSpPr>
        <p:spPr>
          <a:xfrm>
            <a:off x="3753612" y="1106424"/>
            <a:ext cx="32918" cy="32918"/>
          </a:xfrm>
          <a:prstGeom prst="ellipse">
            <a:avLst/>
          </a:prstGeom>
          <a:solidFill>
            <a:srgbClr val="FFFFFF"/>
          </a:solidFill>
          <a:ln w="12700">
            <a:solidFill>
              <a:srgbClr val="FFFFFF">
                <a:alpha val="0"/>
              </a:srgbClr>
            </a:solidFill>
            <a:prstDash val="solid"/>
          </a:ln>
        </p:spPr>
      </p:sp>
      <p:sp>
        <p:nvSpPr>
          <p:cNvPr id="103" name="Shape 101"/>
          <p:cNvSpPr/>
          <p:nvPr/>
        </p:nvSpPr>
        <p:spPr>
          <a:xfrm>
            <a:off x="3813048" y="1106424"/>
            <a:ext cx="32918" cy="32918"/>
          </a:xfrm>
          <a:prstGeom prst="ellipse">
            <a:avLst/>
          </a:prstGeom>
          <a:solidFill>
            <a:srgbClr val="FFFFFF"/>
          </a:solidFill>
          <a:ln w="12700">
            <a:solidFill>
              <a:srgbClr val="FFFFFF">
                <a:alpha val="0"/>
              </a:srgbClr>
            </a:solidFill>
            <a:prstDash val="solid"/>
          </a:ln>
        </p:spPr>
      </p:sp>
      <p:sp>
        <p:nvSpPr>
          <p:cNvPr id="104" name="Shape 102"/>
          <p:cNvSpPr/>
          <p:nvPr/>
        </p:nvSpPr>
        <p:spPr>
          <a:xfrm>
            <a:off x="3872484" y="1106424"/>
            <a:ext cx="32918" cy="32918"/>
          </a:xfrm>
          <a:prstGeom prst="ellipse">
            <a:avLst/>
          </a:prstGeom>
          <a:solidFill>
            <a:srgbClr val="FFFFFF"/>
          </a:solidFill>
          <a:ln w="12700">
            <a:solidFill>
              <a:srgbClr val="FFFFFF">
                <a:alpha val="0"/>
              </a:srgbClr>
            </a:solidFill>
            <a:prstDash val="solid"/>
          </a:ln>
        </p:spPr>
      </p:sp>
      <p:sp>
        <p:nvSpPr>
          <p:cNvPr id="105" name="Shape 103"/>
          <p:cNvSpPr/>
          <p:nvPr/>
        </p:nvSpPr>
        <p:spPr>
          <a:xfrm>
            <a:off x="3931920" y="1106424"/>
            <a:ext cx="32918" cy="32918"/>
          </a:xfrm>
          <a:prstGeom prst="ellipse">
            <a:avLst/>
          </a:prstGeom>
          <a:solidFill>
            <a:srgbClr val="FFFFFF"/>
          </a:solidFill>
          <a:ln w="12700">
            <a:solidFill>
              <a:srgbClr val="FFFFFF">
                <a:alpha val="0"/>
              </a:srgbClr>
            </a:solidFill>
            <a:prstDash val="solid"/>
          </a:ln>
        </p:spPr>
      </p:sp>
      <p:sp>
        <p:nvSpPr>
          <p:cNvPr id="106" name="Shape 104"/>
          <p:cNvSpPr/>
          <p:nvPr/>
        </p:nvSpPr>
        <p:spPr>
          <a:xfrm>
            <a:off x="4050792" y="749808"/>
            <a:ext cx="32918" cy="32918"/>
          </a:xfrm>
          <a:prstGeom prst="ellipse">
            <a:avLst/>
          </a:prstGeom>
          <a:solidFill>
            <a:srgbClr val="FFFFFF"/>
          </a:solidFill>
          <a:ln w="12700">
            <a:solidFill>
              <a:srgbClr val="FFFFFF">
                <a:alpha val="0"/>
              </a:srgbClr>
            </a:solidFill>
            <a:prstDash val="solid"/>
          </a:ln>
        </p:spPr>
      </p:sp>
      <p:sp>
        <p:nvSpPr>
          <p:cNvPr id="107" name="Shape 105"/>
          <p:cNvSpPr/>
          <p:nvPr/>
        </p:nvSpPr>
        <p:spPr>
          <a:xfrm>
            <a:off x="4050792" y="809244"/>
            <a:ext cx="32918" cy="32918"/>
          </a:xfrm>
          <a:prstGeom prst="ellipse">
            <a:avLst/>
          </a:prstGeom>
          <a:solidFill>
            <a:srgbClr val="FFFFFF"/>
          </a:solidFill>
          <a:ln w="12700">
            <a:solidFill>
              <a:srgbClr val="FFFFFF">
                <a:alpha val="0"/>
              </a:srgbClr>
            </a:solidFill>
            <a:prstDash val="solid"/>
          </a:ln>
        </p:spPr>
      </p:sp>
      <p:sp>
        <p:nvSpPr>
          <p:cNvPr id="108" name="Shape 106"/>
          <p:cNvSpPr/>
          <p:nvPr/>
        </p:nvSpPr>
        <p:spPr>
          <a:xfrm>
            <a:off x="4050792" y="868680"/>
            <a:ext cx="32918" cy="32918"/>
          </a:xfrm>
          <a:prstGeom prst="ellipse">
            <a:avLst/>
          </a:prstGeom>
          <a:solidFill>
            <a:srgbClr val="FFFFFF"/>
          </a:solidFill>
          <a:ln w="12700">
            <a:solidFill>
              <a:srgbClr val="FFFFFF">
                <a:alpha val="0"/>
              </a:srgbClr>
            </a:solidFill>
            <a:prstDash val="solid"/>
          </a:ln>
        </p:spPr>
      </p:sp>
      <p:sp>
        <p:nvSpPr>
          <p:cNvPr id="109" name="Shape 107"/>
          <p:cNvSpPr/>
          <p:nvPr/>
        </p:nvSpPr>
        <p:spPr>
          <a:xfrm>
            <a:off x="4050792" y="928116"/>
            <a:ext cx="32918" cy="32918"/>
          </a:xfrm>
          <a:prstGeom prst="ellipse">
            <a:avLst/>
          </a:prstGeom>
          <a:solidFill>
            <a:srgbClr val="FFFFFF"/>
          </a:solidFill>
          <a:ln w="12700">
            <a:solidFill>
              <a:srgbClr val="FFFFFF">
                <a:alpha val="0"/>
              </a:srgbClr>
            </a:solidFill>
            <a:prstDash val="solid"/>
          </a:ln>
        </p:spPr>
      </p:sp>
      <p:sp>
        <p:nvSpPr>
          <p:cNvPr id="110" name="Shape 108"/>
          <p:cNvSpPr/>
          <p:nvPr/>
        </p:nvSpPr>
        <p:spPr>
          <a:xfrm>
            <a:off x="4050792" y="987552"/>
            <a:ext cx="32918" cy="32918"/>
          </a:xfrm>
          <a:prstGeom prst="ellipse">
            <a:avLst/>
          </a:prstGeom>
          <a:solidFill>
            <a:srgbClr val="FFFFFF"/>
          </a:solidFill>
          <a:ln w="12700">
            <a:solidFill>
              <a:srgbClr val="FFFFFF">
                <a:alpha val="0"/>
              </a:srgbClr>
            </a:solidFill>
            <a:prstDash val="solid"/>
          </a:ln>
        </p:spPr>
      </p:sp>
      <p:sp>
        <p:nvSpPr>
          <p:cNvPr id="111" name="Shape 109"/>
          <p:cNvSpPr/>
          <p:nvPr/>
        </p:nvSpPr>
        <p:spPr>
          <a:xfrm>
            <a:off x="4050792" y="1046988"/>
            <a:ext cx="32918" cy="32918"/>
          </a:xfrm>
          <a:prstGeom prst="ellipse">
            <a:avLst/>
          </a:prstGeom>
          <a:solidFill>
            <a:srgbClr val="FFFFFF"/>
          </a:solidFill>
          <a:ln w="12700">
            <a:solidFill>
              <a:srgbClr val="FFFFFF">
                <a:alpha val="0"/>
              </a:srgbClr>
            </a:solidFill>
            <a:prstDash val="solid"/>
          </a:ln>
        </p:spPr>
      </p:sp>
      <p:sp>
        <p:nvSpPr>
          <p:cNvPr id="112" name="Shape 110"/>
          <p:cNvSpPr/>
          <p:nvPr/>
        </p:nvSpPr>
        <p:spPr>
          <a:xfrm>
            <a:off x="4050792" y="1106424"/>
            <a:ext cx="32918" cy="32918"/>
          </a:xfrm>
          <a:prstGeom prst="ellipse">
            <a:avLst/>
          </a:prstGeom>
          <a:solidFill>
            <a:srgbClr val="FFFFFF"/>
          </a:solidFill>
          <a:ln w="12700">
            <a:solidFill>
              <a:srgbClr val="FFFFFF">
                <a:alpha val="0"/>
              </a:srgbClr>
            </a:solidFill>
            <a:prstDash val="solid"/>
          </a:ln>
        </p:spPr>
      </p:sp>
      <p:sp>
        <p:nvSpPr>
          <p:cNvPr id="113" name="Shape 111"/>
          <p:cNvSpPr/>
          <p:nvPr/>
        </p:nvSpPr>
        <p:spPr>
          <a:xfrm>
            <a:off x="4110228" y="1106424"/>
            <a:ext cx="32918" cy="32918"/>
          </a:xfrm>
          <a:prstGeom prst="ellipse">
            <a:avLst/>
          </a:prstGeom>
          <a:solidFill>
            <a:srgbClr val="FFFFFF"/>
          </a:solidFill>
          <a:ln w="12700">
            <a:solidFill>
              <a:srgbClr val="FFFFFF">
                <a:alpha val="0"/>
              </a:srgbClr>
            </a:solidFill>
            <a:prstDash val="solid"/>
          </a:ln>
        </p:spPr>
      </p:sp>
      <p:sp>
        <p:nvSpPr>
          <p:cNvPr id="114" name="Shape 112"/>
          <p:cNvSpPr/>
          <p:nvPr/>
        </p:nvSpPr>
        <p:spPr>
          <a:xfrm>
            <a:off x="4169664" y="1106424"/>
            <a:ext cx="32918" cy="32918"/>
          </a:xfrm>
          <a:prstGeom prst="ellipse">
            <a:avLst/>
          </a:prstGeom>
          <a:solidFill>
            <a:srgbClr val="FFFFFF"/>
          </a:solidFill>
          <a:ln w="12700">
            <a:solidFill>
              <a:srgbClr val="FFFFFF">
                <a:alpha val="0"/>
              </a:srgbClr>
            </a:solidFill>
            <a:prstDash val="solid"/>
          </a:ln>
        </p:spPr>
      </p:sp>
      <p:sp>
        <p:nvSpPr>
          <p:cNvPr id="115" name="Shape 113"/>
          <p:cNvSpPr/>
          <p:nvPr/>
        </p:nvSpPr>
        <p:spPr>
          <a:xfrm>
            <a:off x="4229100" y="1106424"/>
            <a:ext cx="32918" cy="32918"/>
          </a:xfrm>
          <a:prstGeom prst="ellipse">
            <a:avLst/>
          </a:prstGeom>
          <a:solidFill>
            <a:srgbClr val="FFFFFF"/>
          </a:solidFill>
          <a:ln w="12700">
            <a:solidFill>
              <a:srgbClr val="FFFFFF">
                <a:alpha val="0"/>
              </a:srgbClr>
            </a:solidFill>
            <a:prstDash val="solid"/>
          </a:ln>
        </p:spPr>
      </p:sp>
      <p:sp>
        <p:nvSpPr>
          <p:cNvPr id="116" name="Shape 114"/>
          <p:cNvSpPr/>
          <p:nvPr/>
        </p:nvSpPr>
        <p:spPr>
          <a:xfrm>
            <a:off x="4288536" y="1106424"/>
            <a:ext cx="32918" cy="32918"/>
          </a:xfrm>
          <a:prstGeom prst="ellipse">
            <a:avLst/>
          </a:prstGeom>
          <a:solidFill>
            <a:srgbClr val="FFFFFF"/>
          </a:solidFill>
          <a:ln w="12700">
            <a:solidFill>
              <a:srgbClr val="FFFFFF">
                <a:alpha val="0"/>
              </a:srgbClr>
            </a:solidFill>
            <a:prstDash val="solid"/>
          </a:ln>
        </p:spPr>
      </p:sp>
      <p:sp>
        <p:nvSpPr>
          <p:cNvPr id="117" name="Shape 115"/>
          <p:cNvSpPr/>
          <p:nvPr/>
        </p:nvSpPr>
        <p:spPr>
          <a:xfrm>
            <a:off x="4466844" y="749808"/>
            <a:ext cx="32918" cy="32918"/>
          </a:xfrm>
          <a:prstGeom prst="ellipse">
            <a:avLst/>
          </a:prstGeom>
          <a:solidFill>
            <a:srgbClr val="FFFFFF"/>
          </a:solidFill>
          <a:ln w="12700">
            <a:solidFill>
              <a:srgbClr val="FFFFFF">
                <a:alpha val="0"/>
              </a:srgbClr>
            </a:solidFill>
            <a:prstDash val="solid"/>
          </a:ln>
        </p:spPr>
      </p:sp>
      <p:sp>
        <p:nvSpPr>
          <p:cNvPr id="118" name="Shape 116"/>
          <p:cNvSpPr/>
          <p:nvPr/>
        </p:nvSpPr>
        <p:spPr>
          <a:xfrm>
            <a:off x="4526280" y="749808"/>
            <a:ext cx="32918" cy="32918"/>
          </a:xfrm>
          <a:prstGeom prst="ellipse">
            <a:avLst/>
          </a:prstGeom>
          <a:solidFill>
            <a:srgbClr val="FFFFFF"/>
          </a:solidFill>
          <a:ln w="12700">
            <a:solidFill>
              <a:srgbClr val="FFFFFF">
                <a:alpha val="0"/>
              </a:srgbClr>
            </a:solidFill>
            <a:prstDash val="solid"/>
          </a:ln>
        </p:spPr>
      </p:sp>
      <p:sp>
        <p:nvSpPr>
          <p:cNvPr id="119" name="Shape 117"/>
          <p:cNvSpPr/>
          <p:nvPr/>
        </p:nvSpPr>
        <p:spPr>
          <a:xfrm>
            <a:off x="4585716" y="749808"/>
            <a:ext cx="32918" cy="32918"/>
          </a:xfrm>
          <a:prstGeom prst="ellipse">
            <a:avLst/>
          </a:prstGeom>
          <a:solidFill>
            <a:srgbClr val="FFFFFF"/>
          </a:solidFill>
          <a:ln w="12700">
            <a:solidFill>
              <a:srgbClr val="FFFFFF">
                <a:alpha val="0"/>
              </a:srgbClr>
            </a:solidFill>
            <a:prstDash val="solid"/>
          </a:ln>
        </p:spPr>
      </p:sp>
      <p:sp>
        <p:nvSpPr>
          <p:cNvPr id="120" name="Shape 118"/>
          <p:cNvSpPr/>
          <p:nvPr/>
        </p:nvSpPr>
        <p:spPr>
          <a:xfrm>
            <a:off x="4407408" y="809244"/>
            <a:ext cx="32918" cy="32918"/>
          </a:xfrm>
          <a:prstGeom prst="ellipse">
            <a:avLst/>
          </a:prstGeom>
          <a:solidFill>
            <a:srgbClr val="FFFFFF"/>
          </a:solidFill>
          <a:ln w="12700">
            <a:solidFill>
              <a:srgbClr val="FFFFFF">
                <a:alpha val="0"/>
              </a:srgbClr>
            </a:solidFill>
            <a:prstDash val="solid"/>
          </a:ln>
        </p:spPr>
      </p:sp>
      <p:sp>
        <p:nvSpPr>
          <p:cNvPr id="121" name="Shape 119"/>
          <p:cNvSpPr/>
          <p:nvPr/>
        </p:nvSpPr>
        <p:spPr>
          <a:xfrm>
            <a:off x="4645152" y="809244"/>
            <a:ext cx="32918" cy="32918"/>
          </a:xfrm>
          <a:prstGeom prst="ellipse">
            <a:avLst/>
          </a:prstGeom>
          <a:solidFill>
            <a:srgbClr val="FFFFFF"/>
          </a:solidFill>
          <a:ln w="12700">
            <a:solidFill>
              <a:srgbClr val="FFFFFF">
                <a:alpha val="0"/>
              </a:srgbClr>
            </a:solidFill>
            <a:prstDash val="solid"/>
          </a:ln>
        </p:spPr>
      </p:sp>
      <p:sp>
        <p:nvSpPr>
          <p:cNvPr id="122" name="Shape 120"/>
          <p:cNvSpPr/>
          <p:nvPr/>
        </p:nvSpPr>
        <p:spPr>
          <a:xfrm>
            <a:off x="4407408" y="868680"/>
            <a:ext cx="32918" cy="32918"/>
          </a:xfrm>
          <a:prstGeom prst="ellipse">
            <a:avLst/>
          </a:prstGeom>
          <a:solidFill>
            <a:srgbClr val="FFFFFF"/>
          </a:solidFill>
          <a:ln w="12700">
            <a:solidFill>
              <a:srgbClr val="FFFFFF">
                <a:alpha val="0"/>
              </a:srgbClr>
            </a:solidFill>
            <a:prstDash val="solid"/>
          </a:ln>
        </p:spPr>
      </p:sp>
      <p:sp>
        <p:nvSpPr>
          <p:cNvPr id="123" name="Shape 121"/>
          <p:cNvSpPr/>
          <p:nvPr/>
        </p:nvSpPr>
        <p:spPr>
          <a:xfrm>
            <a:off x="4645152" y="868680"/>
            <a:ext cx="32918" cy="32918"/>
          </a:xfrm>
          <a:prstGeom prst="ellipse">
            <a:avLst/>
          </a:prstGeom>
          <a:solidFill>
            <a:srgbClr val="FFFFFF"/>
          </a:solidFill>
          <a:ln w="12700">
            <a:solidFill>
              <a:srgbClr val="FFFFFF">
                <a:alpha val="0"/>
              </a:srgbClr>
            </a:solidFill>
            <a:prstDash val="solid"/>
          </a:ln>
        </p:spPr>
      </p:sp>
      <p:sp>
        <p:nvSpPr>
          <p:cNvPr id="124" name="Shape 122"/>
          <p:cNvSpPr/>
          <p:nvPr/>
        </p:nvSpPr>
        <p:spPr>
          <a:xfrm>
            <a:off x="4407408" y="928116"/>
            <a:ext cx="32918" cy="32918"/>
          </a:xfrm>
          <a:prstGeom prst="ellipse">
            <a:avLst/>
          </a:prstGeom>
          <a:solidFill>
            <a:srgbClr val="FFFFFF"/>
          </a:solidFill>
          <a:ln w="12700">
            <a:solidFill>
              <a:srgbClr val="FFFFFF">
                <a:alpha val="0"/>
              </a:srgbClr>
            </a:solidFill>
            <a:prstDash val="solid"/>
          </a:ln>
        </p:spPr>
      </p:sp>
      <p:sp>
        <p:nvSpPr>
          <p:cNvPr id="125" name="Shape 123"/>
          <p:cNvSpPr/>
          <p:nvPr/>
        </p:nvSpPr>
        <p:spPr>
          <a:xfrm>
            <a:off x="4645152" y="928116"/>
            <a:ext cx="32918" cy="32918"/>
          </a:xfrm>
          <a:prstGeom prst="ellipse">
            <a:avLst/>
          </a:prstGeom>
          <a:solidFill>
            <a:srgbClr val="FFFFFF"/>
          </a:solidFill>
          <a:ln w="12700">
            <a:solidFill>
              <a:srgbClr val="FFFFFF">
                <a:alpha val="0"/>
              </a:srgbClr>
            </a:solidFill>
            <a:prstDash val="solid"/>
          </a:ln>
        </p:spPr>
      </p:sp>
      <p:sp>
        <p:nvSpPr>
          <p:cNvPr id="126" name="Shape 124"/>
          <p:cNvSpPr/>
          <p:nvPr/>
        </p:nvSpPr>
        <p:spPr>
          <a:xfrm>
            <a:off x="4407408" y="987552"/>
            <a:ext cx="32918" cy="32918"/>
          </a:xfrm>
          <a:prstGeom prst="ellipse">
            <a:avLst/>
          </a:prstGeom>
          <a:solidFill>
            <a:srgbClr val="FFFFFF"/>
          </a:solidFill>
          <a:ln w="12700">
            <a:solidFill>
              <a:srgbClr val="FFFFFF">
                <a:alpha val="0"/>
              </a:srgbClr>
            </a:solidFill>
            <a:prstDash val="solid"/>
          </a:ln>
        </p:spPr>
      </p:sp>
      <p:sp>
        <p:nvSpPr>
          <p:cNvPr id="127" name="Shape 125"/>
          <p:cNvSpPr/>
          <p:nvPr/>
        </p:nvSpPr>
        <p:spPr>
          <a:xfrm>
            <a:off x="4645152" y="987552"/>
            <a:ext cx="32918" cy="32918"/>
          </a:xfrm>
          <a:prstGeom prst="ellipse">
            <a:avLst/>
          </a:prstGeom>
          <a:solidFill>
            <a:srgbClr val="FFFFFF"/>
          </a:solidFill>
          <a:ln w="12700">
            <a:solidFill>
              <a:srgbClr val="FFFFFF">
                <a:alpha val="0"/>
              </a:srgbClr>
            </a:solidFill>
            <a:prstDash val="solid"/>
          </a:ln>
        </p:spPr>
      </p:sp>
      <p:sp>
        <p:nvSpPr>
          <p:cNvPr id="128" name="Shape 126"/>
          <p:cNvSpPr/>
          <p:nvPr/>
        </p:nvSpPr>
        <p:spPr>
          <a:xfrm>
            <a:off x="4407408" y="1046988"/>
            <a:ext cx="32918" cy="32918"/>
          </a:xfrm>
          <a:prstGeom prst="ellipse">
            <a:avLst/>
          </a:prstGeom>
          <a:solidFill>
            <a:srgbClr val="FFFFFF"/>
          </a:solidFill>
          <a:ln w="12700">
            <a:solidFill>
              <a:srgbClr val="FFFFFF">
                <a:alpha val="0"/>
              </a:srgbClr>
            </a:solidFill>
            <a:prstDash val="solid"/>
          </a:ln>
        </p:spPr>
      </p:sp>
      <p:sp>
        <p:nvSpPr>
          <p:cNvPr id="129" name="Shape 127"/>
          <p:cNvSpPr/>
          <p:nvPr/>
        </p:nvSpPr>
        <p:spPr>
          <a:xfrm>
            <a:off x="4645152" y="1046988"/>
            <a:ext cx="32918" cy="32918"/>
          </a:xfrm>
          <a:prstGeom prst="ellipse">
            <a:avLst/>
          </a:prstGeom>
          <a:solidFill>
            <a:srgbClr val="FFFFFF"/>
          </a:solidFill>
          <a:ln w="12700">
            <a:solidFill>
              <a:srgbClr val="FFFFFF">
                <a:alpha val="0"/>
              </a:srgbClr>
            </a:solidFill>
            <a:prstDash val="solid"/>
          </a:ln>
        </p:spPr>
      </p:sp>
      <p:sp>
        <p:nvSpPr>
          <p:cNvPr id="130" name="Shape 128"/>
          <p:cNvSpPr/>
          <p:nvPr/>
        </p:nvSpPr>
        <p:spPr>
          <a:xfrm>
            <a:off x="4466844" y="1106424"/>
            <a:ext cx="32918" cy="32918"/>
          </a:xfrm>
          <a:prstGeom prst="ellipse">
            <a:avLst/>
          </a:prstGeom>
          <a:solidFill>
            <a:srgbClr val="FFFFFF"/>
          </a:solidFill>
          <a:ln w="12700">
            <a:solidFill>
              <a:srgbClr val="FFFFFF">
                <a:alpha val="0"/>
              </a:srgbClr>
            </a:solidFill>
            <a:prstDash val="solid"/>
          </a:ln>
        </p:spPr>
      </p:sp>
      <p:sp>
        <p:nvSpPr>
          <p:cNvPr id="131" name="Shape 129"/>
          <p:cNvSpPr/>
          <p:nvPr/>
        </p:nvSpPr>
        <p:spPr>
          <a:xfrm>
            <a:off x="4526280" y="1106424"/>
            <a:ext cx="32918" cy="32918"/>
          </a:xfrm>
          <a:prstGeom prst="ellipse">
            <a:avLst/>
          </a:prstGeom>
          <a:solidFill>
            <a:srgbClr val="FFFFFF"/>
          </a:solidFill>
          <a:ln w="12700">
            <a:solidFill>
              <a:srgbClr val="FFFFFF">
                <a:alpha val="0"/>
              </a:srgbClr>
            </a:solidFill>
            <a:prstDash val="solid"/>
          </a:ln>
        </p:spPr>
      </p:sp>
      <p:sp>
        <p:nvSpPr>
          <p:cNvPr id="132" name="Shape 130"/>
          <p:cNvSpPr/>
          <p:nvPr/>
        </p:nvSpPr>
        <p:spPr>
          <a:xfrm>
            <a:off x="4585716" y="1106424"/>
            <a:ext cx="32918" cy="32918"/>
          </a:xfrm>
          <a:prstGeom prst="ellipse">
            <a:avLst/>
          </a:prstGeom>
          <a:solidFill>
            <a:srgbClr val="FFFFFF"/>
          </a:solidFill>
          <a:ln w="12700">
            <a:solidFill>
              <a:srgbClr val="FFFFFF">
                <a:alpha val="0"/>
              </a:srgbClr>
            </a:solidFill>
            <a:prstDash val="solid"/>
          </a:ln>
        </p:spPr>
      </p:sp>
      <p:sp>
        <p:nvSpPr>
          <p:cNvPr id="133" name="Shape 131"/>
          <p:cNvSpPr/>
          <p:nvPr/>
        </p:nvSpPr>
        <p:spPr>
          <a:xfrm>
            <a:off x="4764024" y="749808"/>
            <a:ext cx="32918" cy="32918"/>
          </a:xfrm>
          <a:prstGeom prst="ellipse">
            <a:avLst/>
          </a:prstGeom>
          <a:solidFill>
            <a:srgbClr val="FFFFFF"/>
          </a:solidFill>
          <a:ln w="12700">
            <a:solidFill>
              <a:srgbClr val="FFFFFF">
                <a:alpha val="0"/>
              </a:srgbClr>
            </a:solidFill>
            <a:prstDash val="solid"/>
          </a:ln>
        </p:spPr>
      </p:sp>
      <p:sp>
        <p:nvSpPr>
          <p:cNvPr id="134" name="Shape 132"/>
          <p:cNvSpPr/>
          <p:nvPr/>
        </p:nvSpPr>
        <p:spPr>
          <a:xfrm>
            <a:off x="4823460" y="749808"/>
            <a:ext cx="32918" cy="32918"/>
          </a:xfrm>
          <a:prstGeom prst="ellipse">
            <a:avLst/>
          </a:prstGeom>
          <a:solidFill>
            <a:srgbClr val="FFFFFF"/>
          </a:solidFill>
          <a:ln w="12700">
            <a:solidFill>
              <a:srgbClr val="FFFFFF">
                <a:alpha val="0"/>
              </a:srgbClr>
            </a:solidFill>
            <a:prstDash val="solid"/>
          </a:ln>
        </p:spPr>
      </p:sp>
      <p:sp>
        <p:nvSpPr>
          <p:cNvPr id="135" name="Shape 133"/>
          <p:cNvSpPr/>
          <p:nvPr/>
        </p:nvSpPr>
        <p:spPr>
          <a:xfrm>
            <a:off x="4882896" y="749808"/>
            <a:ext cx="32918" cy="32918"/>
          </a:xfrm>
          <a:prstGeom prst="ellipse">
            <a:avLst/>
          </a:prstGeom>
          <a:solidFill>
            <a:srgbClr val="FFFFFF"/>
          </a:solidFill>
          <a:ln w="12700">
            <a:solidFill>
              <a:srgbClr val="FFFFFF">
                <a:alpha val="0"/>
              </a:srgbClr>
            </a:solidFill>
            <a:prstDash val="solid"/>
          </a:ln>
        </p:spPr>
      </p:sp>
      <p:sp>
        <p:nvSpPr>
          <p:cNvPr id="136" name="Shape 134"/>
          <p:cNvSpPr/>
          <p:nvPr/>
        </p:nvSpPr>
        <p:spPr>
          <a:xfrm>
            <a:off x="4942332" y="749808"/>
            <a:ext cx="32918" cy="32918"/>
          </a:xfrm>
          <a:prstGeom prst="ellipse">
            <a:avLst/>
          </a:prstGeom>
          <a:solidFill>
            <a:srgbClr val="FFFFFF"/>
          </a:solidFill>
          <a:ln w="12700">
            <a:solidFill>
              <a:srgbClr val="FFFFFF">
                <a:alpha val="0"/>
              </a:srgbClr>
            </a:solidFill>
            <a:prstDash val="solid"/>
          </a:ln>
        </p:spPr>
      </p:sp>
      <p:sp>
        <p:nvSpPr>
          <p:cNvPr id="137" name="Shape 135"/>
          <p:cNvSpPr/>
          <p:nvPr/>
        </p:nvSpPr>
        <p:spPr>
          <a:xfrm>
            <a:off x="5001768" y="749808"/>
            <a:ext cx="32918" cy="32918"/>
          </a:xfrm>
          <a:prstGeom prst="ellipse">
            <a:avLst/>
          </a:prstGeom>
          <a:solidFill>
            <a:srgbClr val="FFFFFF"/>
          </a:solidFill>
          <a:ln w="12700">
            <a:solidFill>
              <a:srgbClr val="FFFFFF">
                <a:alpha val="0"/>
              </a:srgbClr>
            </a:solidFill>
            <a:prstDash val="solid"/>
          </a:ln>
        </p:spPr>
      </p:sp>
      <p:sp>
        <p:nvSpPr>
          <p:cNvPr id="138" name="Shape 136"/>
          <p:cNvSpPr/>
          <p:nvPr/>
        </p:nvSpPr>
        <p:spPr>
          <a:xfrm>
            <a:off x="4882896" y="809244"/>
            <a:ext cx="32918" cy="32918"/>
          </a:xfrm>
          <a:prstGeom prst="ellipse">
            <a:avLst/>
          </a:prstGeom>
          <a:solidFill>
            <a:srgbClr val="FFFFFF"/>
          </a:solidFill>
          <a:ln w="12700">
            <a:solidFill>
              <a:srgbClr val="FFFFFF">
                <a:alpha val="0"/>
              </a:srgbClr>
            </a:solidFill>
            <a:prstDash val="solid"/>
          </a:ln>
        </p:spPr>
      </p:sp>
      <p:sp>
        <p:nvSpPr>
          <p:cNvPr id="139" name="Shape 137"/>
          <p:cNvSpPr/>
          <p:nvPr/>
        </p:nvSpPr>
        <p:spPr>
          <a:xfrm>
            <a:off x="4882896" y="868680"/>
            <a:ext cx="32918" cy="32918"/>
          </a:xfrm>
          <a:prstGeom prst="ellipse">
            <a:avLst/>
          </a:prstGeom>
          <a:solidFill>
            <a:srgbClr val="FFFFFF"/>
          </a:solidFill>
          <a:ln w="12700">
            <a:solidFill>
              <a:srgbClr val="FFFFFF">
                <a:alpha val="0"/>
              </a:srgbClr>
            </a:solidFill>
            <a:prstDash val="solid"/>
          </a:ln>
        </p:spPr>
      </p:sp>
      <p:sp>
        <p:nvSpPr>
          <p:cNvPr id="140" name="Shape 138"/>
          <p:cNvSpPr/>
          <p:nvPr/>
        </p:nvSpPr>
        <p:spPr>
          <a:xfrm>
            <a:off x="4882896" y="928116"/>
            <a:ext cx="32918" cy="32918"/>
          </a:xfrm>
          <a:prstGeom prst="ellipse">
            <a:avLst/>
          </a:prstGeom>
          <a:solidFill>
            <a:srgbClr val="FFFFFF"/>
          </a:solidFill>
          <a:ln w="12700">
            <a:solidFill>
              <a:srgbClr val="FFFFFF">
                <a:alpha val="0"/>
              </a:srgbClr>
            </a:solidFill>
            <a:prstDash val="solid"/>
          </a:ln>
        </p:spPr>
      </p:sp>
      <p:sp>
        <p:nvSpPr>
          <p:cNvPr id="141" name="Shape 139"/>
          <p:cNvSpPr/>
          <p:nvPr/>
        </p:nvSpPr>
        <p:spPr>
          <a:xfrm>
            <a:off x="4882896" y="987552"/>
            <a:ext cx="32918" cy="32918"/>
          </a:xfrm>
          <a:prstGeom prst="ellipse">
            <a:avLst/>
          </a:prstGeom>
          <a:solidFill>
            <a:srgbClr val="FFFFFF"/>
          </a:solidFill>
          <a:ln w="12700">
            <a:solidFill>
              <a:srgbClr val="FFFFFF">
                <a:alpha val="0"/>
              </a:srgbClr>
            </a:solidFill>
            <a:prstDash val="solid"/>
          </a:ln>
        </p:spPr>
      </p:sp>
      <p:sp>
        <p:nvSpPr>
          <p:cNvPr id="142" name="Shape 140"/>
          <p:cNvSpPr/>
          <p:nvPr/>
        </p:nvSpPr>
        <p:spPr>
          <a:xfrm>
            <a:off x="4882896" y="1046988"/>
            <a:ext cx="32918" cy="32918"/>
          </a:xfrm>
          <a:prstGeom prst="ellipse">
            <a:avLst/>
          </a:prstGeom>
          <a:solidFill>
            <a:srgbClr val="FFFFFF"/>
          </a:solidFill>
          <a:ln w="12700">
            <a:solidFill>
              <a:srgbClr val="FFFFFF">
                <a:alpha val="0"/>
              </a:srgbClr>
            </a:solidFill>
            <a:prstDash val="solid"/>
          </a:ln>
        </p:spPr>
      </p:sp>
      <p:sp>
        <p:nvSpPr>
          <p:cNvPr id="143" name="Shape 141"/>
          <p:cNvSpPr/>
          <p:nvPr/>
        </p:nvSpPr>
        <p:spPr>
          <a:xfrm>
            <a:off x="4882896" y="1106424"/>
            <a:ext cx="32918" cy="32918"/>
          </a:xfrm>
          <a:prstGeom prst="ellipse">
            <a:avLst/>
          </a:prstGeom>
          <a:solidFill>
            <a:srgbClr val="FFFFFF"/>
          </a:solidFill>
          <a:ln w="12700">
            <a:solidFill>
              <a:srgbClr val="FFFFFF">
                <a:alpha val="0"/>
              </a:srgbClr>
            </a:solidFill>
            <a:prstDash val="solid"/>
          </a:ln>
        </p:spPr>
      </p:sp>
      <p:sp>
        <p:nvSpPr>
          <p:cNvPr id="144" name="Text 142"/>
          <p:cNvSpPr/>
          <p:nvPr/>
        </p:nvSpPr>
        <p:spPr>
          <a:xfrm>
            <a:off x="713232" y="1673352"/>
            <a:ext cx="7123176" cy="905256"/>
          </a:xfrm>
          <a:prstGeom prst="rect">
            <a:avLst/>
          </a:prstGeom>
          <a:noFill/>
          <a:ln/>
        </p:spPr>
        <p:txBody>
          <a:bodyPr wrap="square" lIns="0" tIns="0" rIns="0" bIns="0" rtlCol="0" anchor="ctr">
            <a:normAutofit/>
          </a:bodyPr>
          <a:lstStyle/>
          <a:p>
            <a:pPr indent="0" marL="0">
              <a:buNone/>
            </a:pPr>
            <a:r>
              <a:rPr lang="en-US" sz="4900" b="1" dirty="0">
                <a:solidFill>
                  <a:srgbClr val="FFFFFF"/>
                </a:solidFill>
                <a:latin typeface="Inter Display" pitchFamily="34" charset="0"/>
                <a:ea typeface="Inter Display" pitchFamily="34" charset="-122"/>
                <a:cs typeface="Inter Display" pitchFamily="34" charset="-120"/>
              </a:rPr>
              <a:t>Thank you.</a:t>
            </a:r>
            <a:endParaRPr lang="en-US" sz="4900" dirty="0"/>
          </a:p>
        </p:txBody>
      </p:sp>
      <p:sp>
        <p:nvSpPr>
          <p:cNvPr id="145" name="Text 143"/>
          <p:cNvSpPr/>
          <p:nvPr/>
        </p:nvSpPr>
        <p:spPr>
          <a:xfrm>
            <a:off x="722376" y="2706624"/>
            <a:ext cx="6574536" cy="758952"/>
          </a:xfrm>
          <a:prstGeom prst="rect">
            <a:avLst/>
          </a:prstGeom>
          <a:noFill/>
          <a:ln/>
        </p:spPr>
        <p:txBody>
          <a:bodyPr wrap="square" lIns="0" tIns="0" rIns="0" bIns="0" rtlCol="0" anchor="ctr">
            <a:normAutofit/>
          </a:bodyPr>
          <a:lstStyle/>
          <a:p>
            <a:pPr indent="0" marL="0">
              <a:buNone/>
            </a:pPr>
            <a:r>
              <a:rPr lang="en-US" sz="4000" b="1" dirty="0">
                <a:solidFill>
                  <a:srgbClr val="D71928"/>
                </a:solidFill>
                <a:latin typeface="Inter Display" pitchFamily="34" charset="0"/>
                <a:ea typeface="Inter Display" pitchFamily="34" charset="-122"/>
                <a:cs typeface="Inter Display" pitchFamily="34" charset="-120"/>
              </a:rPr>
              <a:t>Questions?</a:t>
            </a:r>
            <a:endParaRPr lang="en-US" sz="4000" dirty="0"/>
          </a:p>
        </p:txBody>
      </p:sp>
      <p:sp>
        <p:nvSpPr>
          <p:cNvPr id="146" name="Text 144"/>
          <p:cNvSpPr/>
          <p:nvPr/>
        </p:nvSpPr>
        <p:spPr>
          <a:xfrm>
            <a:off x="749808" y="3776472"/>
            <a:ext cx="8321040" cy="438912"/>
          </a:xfrm>
          <a:prstGeom prst="rect">
            <a:avLst/>
          </a:prstGeom>
          <a:noFill/>
          <a:ln/>
        </p:spPr>
        <p:txBody>
          <a:bodyPr wrap="square" lIns="0" tIns="0" rIns="0" bIns="0" rtlCol="0" anchor="ctr">
            <a:normAutofit/>
          </a:bodyPr>
          <a:lstStyle/>
          <a:p>
            <a:pPr indent="0" marL="0">
              <a:buNone/>
            </a:pPr>
            <a:r>
              <a:rPr lang="en-US" sz="1800" dirty="0">
                <a:solidFill>
                  <a:srgbClr val="C6C6C3"/>
                </a:solidFill>
                <a:latin typeface="Inter" pitchFamily="34" charset="0"/>
                <a:ea typeface="Inter" pitchFamily="34" charset="-122"/>
                <a:cs typeface="Inter" pitchFamily="34" charset="-120"/>
              </a:rPr>
              <a:t>End-to-end DevOps. Real evidence. Responsible cleanup.</a:t>
            </a:r>
            <a:endParaRPr lang="en-US" sz="1800" dirty="0"/>
          </a:p>
        </p:txBody>
      </p:sp>
      <p:sp>
        <p:nvSpPr>
          <p:cNvPr id="147" name="Shape 145"/>
          <p:cNvSpPr/>
          <p:nvPr/>
        </p:nvSpPr>
        <p:spPr>
          <a:xfrm>
            <a:off x="713232" y="4882896"/>
            <a:ext cx="7973568" cy="969264"/>
          </a:xfrm>
          <a:prstGeom prst="roundRect">
            <a:avLst>
              <a:gd name="adj" fmla="val 5189"/>
            </a:avLst>
          </a:prstGeom>
          <a:solidFill>
            <a:srgbClr val="FFFFFF"/>
          </a:solidFill>
          <a:ln w="10160">
            <a:solidFill>
              <a:srgbClr val="D0D0CB"/>
            </a:solidFill>
            <a:prstDash val="solid"/>
          </a:ln>
        </p:spPr>
      </p:sp>
      <p:sp>
        <p:nvSpPr>
          <p:cNvPr id="148" name="Text 146"/>
          <p:cNvSpPr/>
          <p:nvPr/>
        </p:nvSpPr>
        <p:spPr>
          <a:xfrm>
            <a:off x="969264" y="5056632"/>
            <a:ext cx="1673352" cy="201168"/>
          </a:xfrm>
          <a:prstGeom prst="rect">
            <a:avLst/>
          </a:prstGeom>
          <a:noFill/>
          <a:ln/>
        </p:spPr>
        <p:txBody>
          <a:bodyPr wrap="square" lIns="0" tIns="0" rIns="0" bIns="0" rtlCol="0" anchor="ctr">
            <a:normAutofit/>
          </a:bodyPr>
          <a:lstStyle/>
          <a:p>
            <a:pPr indent="0" marL="0">
              <a:buNone/>
            </a:pPr>
            <a:r>
              <a:rPr lang="en-US" sz="1000" b="1" dirty="0">
                <a:solidFill>
                  <a:srgbClr val="B91622"/>
                </a:solidFill>
                <a:latin typeface="PT Mono" pitchFamily="34" charset="0"/>
                <a:ea typeface="PT Mono" pitchFamily="34" charset="-122"/>
                <a:cs typeface="PT Mono" pitchFamily="34" charset="-120"/>
              </a:rPr>
              <a:t>REPOSITORY</a:t>
            </a:r>
            <a:endParaRPr lang="en-US" sz="1000" dirty="0"/>
          </a:p>
        </p:txBody>
      </p:sp>
      <p:sp>
        <p:nvSpPr>
          <p:cNvPr id="149" name="Text 147">
            <a:hlinkClick r:id="rId1" tooltip=""/>
          </p:cNvPr>
          <p:cNvSpPr/>
          <p:nvPr/>
        </p:nvSpPr>
        <p:spPr>
          <a:xfrm>
            <a:off x="969264" y="5376672"/>
            <a:ext cx="6922008" cy="310896"/>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github.com/not-so-shubh/devops-project  ↗</a:t>
            </a:r>
            <a:endParaRPr lang="en-US" sz="1000" dirty="0"/>
          </a:p>
        </p:txBody>
      </p:sp>
      <p:sp>
        <p:nvSpPr>
          <p:cNvPr id="150" name="Shape 148"/>
          <p:cNvSpPr/>
          <p:nvPr/>
        </p:nvSpPr>
        <p:spPr>
          <a:xfrm>
            <a:off x="9372600" y="1737360"/>
            <a:ext cx="1883664" cy="1883664"/>
          </a:xfrm>
          <a:prstGeom prst="roundRect">
            <a:avLst>
              <a:gd name="adj" fmla="val 10680"/>
            </a:avLst>
          </a:prstGeom>
          <a:solidFill>
            <a:srgbClr val="E9E9E6"/>
          </a:solidFill>
          <a:ln w="10160">
            <a:solidFill>
              <a:srgbClr val="D0D0CB"/>
            </a:solidFill>
            <a:prstDash val="solid"/>
          </a:ln>
        </p:spPr>
      </p:sp>
      <p:sp>
        <p:nvSpPr>
          <p:cNvPr id="151" name="Text 149"/>
          <p:cNvSpPr/>
          <p:nvPr/>
        </p:nvSpPr>
        <p:spPr>
          <a:xfrm>
            <a:off x="9665208" y="2130552"/>
            <a:ext cx="1316736" cy="320040"/>
          </a:xfrm>
          <a:prstGeom prst="rect">
            <a:avLst/>
          </a:prstGeom>
          <a:noFill/>
          <a:ln/>
        </p:spPr>
        <p:txBody>
          <a:bodyPr wrap="square" lIns="0" tIns="0" rIns="0" bIns="0" rtlCol="0" anchor="ctr">
            <a:normAutofit/>
          </a:bodyPr>
          <a:lstStyle/>
          <a:p>
            <a:pPr algn="ctr" indent="0" marL="0">
              <a:buNone/>
            </a:pPr>
            <a:r>
              <a:rPr lang="en-US" sz="1800" b="1" dirty="0">
                <a:solidFill>
                  <a:srgbClr val="D71928"/>
                </a:solidFill>
                <a:latin typeface="Inter Display" pitchFamily="34" charset="0"/>
                <a:ea typeface="Inter Display" pitchFamily="34" charset="-122"/>
                <a:cs typeface="Inter Display" pitchFamily="34" charset="-120"/>
              </a:rPr>
              <a:t>OPEN</a:t>
            </a:r>
            <a:endParaRPr lang="en-US" sz="1800" dirty="0"/>
          </a:p>
        </p:txBody>
      </p:sp>
      <p:sp>
        <p:nvSpPr>
          <p:cNvPr id="152" name="Text 150"/>
          <p:cNvSpPr/>
          <p:nvPr/>
        </p:nvSpPr>
        <p:spPr>
          <a:xfrm>
            <a:off x="9619488" y="2596896"/>
            <a:ext cx="1417320" cy="320040"/>
          </a:xfrm>
          <a:prstGeom prst="rect">
            <a:avLst/>
          </a:prstGeom>
          <a:noFill/>
          <a:ln/>
        </p:spPr>
        <p:txBody>
          <a:bodyPr wrap="square" lIns="0" tIns="0" rIns="0" bIns="0" rtlCol="0" anchor="ctr">
            <a:normAutofit/>
          </a:bodyPr>
          <a:lstStyle/>
          <a:p>
            <a:pPr algn="ctr" indent="0" marL="0">
              <a:buNone/>
            </a:pPr>
            <a:r>
              <a:rPr lang="en-US" sz="1600" b="1" dirty="0">
                <a:solidFill>
                  <a:srgbClr val="101010"/>
                </a:solidFill>
                <a:latin typeface="Inter Display" pitchFamily="34" charset="0"/>
                <a:ea typeface="Inter Display" pitchFamily="34" charset="-122"/>
                <a:cs typeface="Inter Display" pitchFamily="34" charset="-120"/>
              </a:rPr>
              <a:t>GITHUB</a:t>
            </a:r>
            <a:endParaRPr lang="en-US" sz="1600" dirty="0"/>
          </a:p>
        </p:txBody>
      </p:sp>
      <p:sp>
        <p:nvSpPr>
          <p:cNvPr id="153" name="Text 151">
            <a:hlinkClick r:id="rId2" tooltip=""/>
          </p:cNvPr>
          <p:cNvSpPr/>
          <p:nvPr/>
        </p:nvSpPr>
        <p:spPr>
          <a:xfrm>
            <a:off x="9226296" y="5184648"/>
            <a:ext cx="2112264" cy="274320"/>
          </a:xfrm>
          <a:prstGeom prst="rect">
            <a:avLst/>
          </a:prstGeom>
          <a:noFill/>
          <a:ln/>
        </p:spPr>
        <p:txBody>
          <a:bodyPr wrap="square" lIns="0" tIns="0" rIns="0" bIns="0" rtlCol="0" anchor="ctr">
            <a:normAutofit/>
          </a:bodyPr>
          <a:lstStyle/>
          <a:p>
            <a:pPr indent="0" marL="0">
              <a:buNone/>
            </a:pPr>
            <a:r>
              <a:rPr lang="en-US" sz="1000" b="1" u="sng" dirty="0">
                <a:solidFill>
                  <a:srgbClr val="B91622"/>
                </a:solidFill>
                <a:latin typeface="PT Mono" pitchFamily="34" charset="0"/>
                <a:ea typeface="PT Mono" pitchFamily="34" charset="-122"/>
                <a:cs typeface="PT Mono" pitchFamily="34" charset="-120"/>
                <a:hlinkClick r:id="rId2" invalidUrl="" action="" tgtFrame="" tooltip="" history="1" highlightClick="0" endSnd="0">
                  <a:extLst>
                    <a:ext uri="{A12FA001-AC4F-418D-AE19-62706E023703}">
                      <ahyp:hlinkClr xmlns:ahyp="http://schemas.microsoft.com/office/drawing/2018/hyperlinkcolor" val="tx"/>
                    </a:ext>
                  </a:extLst>
                </a:hlinkClick>
              </a:rPr>
              <a:t>Evidence &amp; audit  ↗</a:t>
            </a:r>
            <a:endParaRPr lang="en-US" sz="1000" dirty="0"/>
          </a:p>
        </p:txBody>
      </p:sp>
      <p:sp>
        <p:nvSpPr>
          <p:cNvPr id="154" name="Text 152"/>
          <p:cNvSpPr/>
          <p:nvPr/>
        </p:nvSpPr>
        <p:spPr>
          <a:xfrm>
            <a:off x="740664" y="6272784"/>
            <a:ext cx="3877056" cy="237744"/>
          </a:xfrm>
          <a:prstGeom prst="rect">
            <a:avLst/>
          </a:prstGeom>
          <a:noFill/>
          <a:ln/>
        </p:spPr>
        <p:txBody>
          <a:bodyPr wrap="square" lIns="0" tIns="0" rIns="0" bIns="0" rtlCol="0" anchor="ctr">
            <a:normAutofit/>
          </a:bodyPr>
          <a:lstStyle/>
          <a:p>
            <a:pPr indent="0" marL="0">
              <a:buNone/>
            </a:pPr>
            <a:r>
              <a:rPr lang="en-US" sz="1000" b="1" spc="100" kern="0" dirty="0">
                <a:solidFill>
                  <a:srgbClr val="B1B1B1"/>
                </a:solidFill>
                <a:latin typeface="PT Mono" pitchFamily="34" charset="0"/>
                <a:ea typeface="PT Mono" pitchFamily="34" charset="-122"/>
                <a:cs typeface="PT Mono" pitchFamily="34" charset="-120"/>
              </a:rPr>
              <a:t>22 OCT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DevOps Capstone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Final Project Presentation</dc:title>
  <dc:subject>StockPilot presentation — Nothing-inspired monochrome and dot-matrix design</dc:subject>
  <dc:creator>StockPilot DevOps Capstone</dc:creator>
  <cp:lastModifiedBy>StockPilot DevOps Capstone</cp:lastModifiedBy>
  <cp:revision>1</cp:revision>
  <dcterms:created xsi:type="dcterms:W3CDTF">2026-10-22T00:48:06Z</dcterms:created>
  <dcterms:modified xsi:type="dcterms:W3CDTF">2026-10-22T00:48:06Z</dcterms:modified>
</cp:coreProperties>
</file>